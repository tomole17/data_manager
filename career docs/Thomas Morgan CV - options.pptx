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6" r:id="rId4"/>
    <p:sldMasterId id="2147483950" r:id="rId5"/>
    <p:sldMasterId id="2147483660" r:id="rId6"/>
    <p:sldMasterId id="2147484032" r:id="rId7"/>
  </p:sldMasterIdLst>
  <p:notesMasterIdLst>
    <p:notesMasterId r:id="rId27"/>
  </p:notesMasterIdLst>
  <p:sldIdLst>
    <p:sldId id="2147483606" r:id="rId8"/>
    <p:sldId id="2147483604" r:id="rId9"/>
    <p:sldId id="2147483605" r:id="rId10"/>
    <p:sldId id="2147483599" r:id="rId11"/>
    <p:sldId id="2147483603" r:id="rId12"/>
    <p:sldId id="2147483600" r:id="rId13"/>
    <p:sldId id="256" r:id="rId14"/>
    <p:sldId id="2147483595" r:id="rId15"/>
    <p:sldId id="2147483598" r:id="rId16"/>
    <p:sldId id="2147468354" r:id="rId17"/>
    <p:sldId id="2147483597" r:id="rId18"/>
    <p:sldId id="2147483596" r:id="rId19"/>
    <p:sldId id="2147468358" r:id="rId20"/>
    <p:sldId id="2147468356" r:id="rId21"/>
    <p:sldId id="2147468359" r:id="rId22"/>
    <p:sldId id="2147468357" r:id="rId23"/>
    <p:sldId id="299" r:id="rId24"/>
    <p:sldId id="2146846875" r:id="rId25"/>
    <p:sldId id="25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E90F6D-CE6F-F0FB-F15E-5CC52AD5A0DD}" name="Gulen Turpcular, Sevil" initials="GTS" userId="S::s.gulen.turpcular@accenture.com::b25f8b57-1fb9-4598-8b8e-ac7b755dc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5DC627-1CEE-4A7A-92F9-93FA064E68FE}" v="8" dt="2025-11-27T11:19:49.5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30A103-AD7E-4373-8368-12729A7BED8E}" type="datetimeFigureOut">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D6D37E-1386-4977-BE58-476EA6C6E81D}" type="slidenum">
              <a:t>‹#›</a:t>
            </a:fld>
            <a:endParaRPr lang="en-US"/>
          </a:p>
        </p:txBody>
      </p:sp>
    </p:spTree>
    <p:extLst>
      <p:ext uri="{BB962C8B-B14F-4D97-AF65-F5344CB8AC3E}">
        <p14:creationId xmlns:p14="http://schemas.microsoft.com/office/powerpoint/2010/main" val="1474701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a6806b0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aa6806b00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30" name="Google Shape;130;g3aa6806b00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a6806b0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aa6806b00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30" name="Google Shape;130;g3aa6806b00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23B02770-0221-D0C2-C420-7AF0802E9771}"/>
            </a:ext>
          </a:extLst>
        </p:cNvPr>
        <p:cNvGrpSpPr/>
        <p:nvPr/>
      </p:nvGrpSpPr>
      <p:grpSpPr>
        <a:xfrm>
          <a:off x="0" y="0"/>
          <a:ext cx="0" cy="0"/>
          <a:chOff x="0" y="0"/>
          <a:chExt cx="0" cy="0"/>
        </a:xfrm>
      </p:grpSpPr>
      <p:sp>
        <p:nvSpPr>
          <p:cNvPr id="128" name="Google Shape;128;g3aa6806b005_0_0:notes">
            <a:extLst>
              <a:ext uri="{FF2B5EF4-FFF2-40B4-BE49-F238E27FC236}">
                <a16:creationId xmlns:a16="http://schemas.microsoft.com/office/drawing/2014/main" id="{FD89D6D1-6731-94E2-AF4C-5DFF1C420E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aa6806b005_0_0:notes">
            <a:extLst>
              <a:ext uri="{FF2B5EF4-FFF2-40B4-BE49-F238E27FC236}">
                <a16:creationId xmlns:a16="http://schemas.microsoft.com/office/drawing/2014/main" id="{BDEA0F87-142D-F44B-5170-961F63F881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30" name="Google Shape;130;g3aa6806b005_0_0:notes">
            <a:extLst>
              <a:ext uri="{FF2B5EF4-FFF2-40B4-BE49-F238E27FC236}">
                <a16:creationId xmlns:a16="http://schemas.microsoft.com/office/drawing/2014/main" id="{EF44EA8E-D3EC-18A3-BCD3-063AAE1071C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3</a:t>
            </a:fld>
            <a:endParaRPr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50963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a6806b0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aa6806b00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30" name="Google Shape;130;g3aa6806b00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4</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D760AF2D-7D0E-E2A3-D68D-0E9E9D61AEAE}"/>
            </a:ext>
          </a:extLst>
        </p:cNvPr>
        <p:cNvGrpSpPr/>
        <p:nvPr/>
      </p:nvGrpSpPr>
      <p:grpSpPr>
        <a:xfrm>
          <a:off x="0" y="0"/>
          <a:ext cx="0" cy="0"/>
          <a:chOff x="0" y="0"/>
          <a:chExt cx="0" cy="0"/>
        </a:xfrm>
      </p:grpSpPr>
      <p:sp>
        <p:nvSpPr>
          <p:cNvPr id="128" name="Google Shape;128;g3aa6806b005_0_0:notes">
            <a:extLst>
              <a:ext uri="{FF2B5EF4-FFF2-40B4-BE49-F238E27FC236}">
                <a16:creationId xmlns:a16="http://schemas.microsoft.com/office/drawing/2014/main" id="{C60E41D4-A622-3F6C-1E74-E4FF403F41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aa6806b005_0_0:notes">
            <a:extLst>
              <a:ext uri="{FF2B5EF4-FFF2-40B4-BE49-F238E27FC236}">
                <a16:creationId xmlns:a16="http://schemas.microsoft.com/office/drawing/2014/main" id="{C83730EC-97F6-A4DE-B15A-422382CD58A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30" name="Google Shape;130;g3aa6806b005_0_0:notes">
            <a:extLst>
              <a:ext uri="{FF2B5EF4-FFF2-40B4-BE49-F238E27FC236}">
                <a16:creationId xmlns:a16="http://schemas.microsoft.com/office/drawing/2014/main" id="{2DE90BAF-3459-253A-CD56-ACFC30CAB63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6</a:t>
            </a:fld>
            <a:endParaRPr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97415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a6d3fd8e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g3aa6d3fd8e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9" name="Google Shape;59;g3aa6d3fd8e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7</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v-LV" dirty="0"/>
          </a:p>
          <a:p>
            <a:endParaRPr lang="en-US" dirty="0"/>
          </a:p>
        </p:txBody>
      </p:sp>
      <p:sp>
        <p:nvSpPr>
          <p:cNvPr id="4" name="Slide Number Placeholder 3"/>
          <p:cNvSpPr>
            <a:spLocks noGrp="1"/>
          </p:cNvSpPr>
          <p:nvPr>
            <p:ph type="sldNum" idx="10"/>
          </p:nvPr>
        </p:nvSpPr>
        <p:spPr/>
        <p:txBody>
          <a:bodyPr/>
          <a:lstStyle/>
          <a:p>
            <a:pPr marL="0" marR="0" lvl="0" indent="0" algn="r" defTabSz="449263" rtl="0" eaLnBrk="1" fontAlgn="base" latinLnBrk="0" hangingPunct="0">
              <a:lnSpc>
                <a:spcPct val="93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fld id="{8E7CB09A-9577-4932-BAF6-7DE0EB8D27B8}" type="slidenum">
              <a:rPr kumimoji="0" lang="uk-U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49263" rtl="0" eaLnBrk="1" fontAlgn="base" latinLnBrk="0" hangingPunct="0">
                <a:lnSpc>
                  <a:spcPct val="93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t>8</a:t>
            </a:fld>
            <a:endParaRPr kumimoji="0" lang="uk-UA"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85194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CFE76-2239-FC10-071F-328A12B8D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C8A06-95FB-DAF5-0B73-89996B4BF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2E630-1230-78B7-1D5D-29F2C0D9F8F7}"/>
              </a:ext>
            </a:extLst>
          </p:cNvPr>
          <p:cNvSpPr>
            <a:spLocks noGrp="1"/>
          </p:cNvSpPr>
          <p:nvPr>
            <p:ph type="body" idx="1"/>
          </p:nvPr>
        </p:nvSpPr>
        <p:spPr/>
        <p:txBody>
          <a:bodyPr/>
          <a:lstStyle/>
          <a:p>
            <a:endParaRPr lang="lv-LV"/>
          </a:p>
          <a:p>
            <a:endParaRPr lang="en-US"/>
          </a:p>
        </p:txBody>
      </p:sp>
      <p:sp>
        <p:nvSpPr>
          <p:cNvPr id="4" name="Slide Number Placeholder 3">
            <a:extLst>
              <a:ext uri="{FF2B5EF4-FFF2-40B4-BE49-F238E27FC236}">
                <a16:creationId xmlns:a16="http://schemas.microsoft.com/office/drawing/2014/main" id="{B30F67D9-7237-5AEC-F8BA-0B5674FE8832}"/>
              </a:ext>
            </a:extLst>
          </p:cNvPr>
          <p:cNvSpPr>
            <a:spLocks noGrp="1"/>
          </p:cNvSpPr>
          <p:nvPr>
            <p:ph type="sldNum" idx="10"/>
          </p:nvPr>
        </p:nvSpPr>
        <p:spPr/>
        <p:txBody>
          <a:bodyPr/>
          <a:lstStyle/>
          <a:p>
            <a:pPr marL="0" marR="0" lvl="0" indent="0" algn="r" defTabSz="449263" rtl="0" eaLnBrk="1" fontAlgn="base" latinLnBrk="0" hangingPunct="0">
              <a:lnSpc>
                <a:spcPct val="93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fld id="{8E7CB09A-9577-4932-BAF6-7DE0EB8D27B8}" type="slidenum">
              <a:rPr kumimoji="0" lang="uk-U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49263" rtl="0" eaLnBrk="1" fontAlgn="base" latinLnBrk="0" hangingPunct="0">
                <a:lnSpc>
                  <a:spcPct val="93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t>9</a:t>
            </a:fld>
            <a:endParaRPr kumimoji="0" lang="uk-UA"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47267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33AB2BC-DAD3-4FB5-B0CB-8C5E7D3CC8BB}" type="slidenum">
              <a:rPr lang="en-GB" smtClean="0"/>
              <a:t>10</a:t>
            </a:fld>
            <a:endParaRPr lang="en-GB"/>
          </a:p>
        </p:txBody>
      </p:sp>
    </p:spTree>
    <p:extLst>
      <p:ext uri="{BB962C8B-B14F-4D97-AF65-F5344CB8AC3E}">
        <p14:creationId xmlns:p14="http://schemas.microsoft.com/office/powerpoint/2010/main" val="1745273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00206-E8AD-DAA2-330B-986910863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EB39D-AAFF-AD08-884E-68B39FF45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1FDA1-5019-A4F1-AAC0-8D77F3D206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0E9466B-8EE3-49B9-EE63-FEF985121019}"/>
              </a:ext>
            </a:extLst>
          </p:cNvPr>
          <p:cNvSpPr>
            <a:spLocks noGrp="1"/>
          </p:cNvSpPr>
          <p:nvPr>
            <p:ph type="sldNum" sz="quarter" idx="5"/>
          </p:nvPr>
        </p:nvSpPr>
        <p:spPr/>
        <p:txBody>
          <a:bodyPr/>
          <a:lstStyle/>
          <a:p>
            <a:fld id="{833AB2BC-DAD3-4FB5-B0CB-8C5E7D3CC8BB}" type="slidenum">
              <a:rPr lang="en-GB" smtClean="0"/>
              <a:t>11</a:t>
            </a:fld>
            <a:endParaRPr lang="en-GB"/>
          </a:p>
        </p:txBody>
      </p:sp>
    </p:spTree>
    <p:extLst>
      <p:ext uri="{BB962C8B-B14F-4D97-AF65-F5344CB8AC3E}">
        <p14:creationId xmlns:p14="http://schemas.microsoft.com/office/powerpoint/2010/main" val="1681219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082F-9EDA-3E6A-05F4-B032162A1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9F729-551B-FDB7-7675-7D820DDAC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58F4F-8011-EEC6-9610-0094E54005FB}"/>
              </a:ext>
            </a:extLst>
          </p:cNvPr>
          <p:cNvSpPr>
            <a:spLocks noGrp="1"/>
          </p:cNvSpPr>
          <p:nvPr>
            <p:ph type="body" idx="1"/>
          </p:nvPr>
        </p:nvSpPr>
        <p:spPr/>
        <p:txBody>
          <a:bodyPr/>
          <a:lstStyle/>
          <a:p>
            <a:endParaRPr lang="lv-LV"/>
          </a:p>
          <a:p>
            <a:endParaRPr lang="en-US"/>
          </a:p>
        </p:txBody>
      </p:sp>
      <p:sp>
        <p:nvSpPr>
          <p:cNvPr id="4" name="Slide Number Placeholder 3">
            <a:extLst>
              <a:ext uri="{FF2B5EF4-FFF2-40B4-BE49-F238E27FC236}">
                <a16:creationId xmlns:a16="http://schemas.microsoft.com/office/drawing/2014/main" id="{3A7D2FD2-8FA6-C66F-5CB2-231CFCE5841E}"/>
              </a:ext>
            </a:extLst>
          </p:cNvPr>
          <p:cNvSpPr>
            <a:spLocks noGrp="1"/>
          </p:cNvSpPr>
          <p:nvPr>
            <p:ph type="sldNum" idx="10"/>
          </p:nvPr>
        </p:nvSpPr>
        <p:spPr/>
        <p:txBody>
          <a:bodyPr/>
          <a:lstStyle/>
          <a:p>
            <a:pPr marL="0" marR="0" lvl="0" indent="0" algn="r" defTabSz="449263" rtl="0" eaLnBrk="1" fontAlgn="base" latinLnBrk="0" hangingPunct="0">
              <a:lnSpc>
                <a:spcPct val="93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fld id="{8E7CB09A-9577-4932-BAF6-7DE0EB8D27B8}" type="slidenum">
              <a:rPr kumimoji="0" lang="uk-U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49263" rtl="0" eaLnBrk="1" fontAlgn="base" latinLnBrk="0" hangingPunct="0">
                <a:lnSpc>
                  <a:spcPct val="93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t>12</a:t>
            </a:fld>
            <a:endParaRPr kumimoji="0" lang="uk-UA"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6002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33AB2BC-DAD3-4FB5-B0CB-8C5E7D3CC8BB}" type="slidenum">
              <a:rPr lang="en-GB" smtClean="0"/>
              <a:t>13</a:t>
            </a:fld>
            <a:endParaRPr lang="en-GB"/>
          </a:p>
        </p:txBody>
      </p:sp>
    </p:spTree>
    <p:extLst>
      <p:ext uri="{BB962C8B-B14F-4D97-AF65-F5344CB8AC3E}">
        <p14:creationId xmlns:p14="http://schemas.microsoft.com/office/powerpoint/2010/main" val="1745273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45190-2ECA-F847-B2BD-53FB15217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24129-BCAC-D69C-45E8-AE81E285E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B5DBD-8118-47F6-E25D-73FCA3BF2CB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BAE196B-A4B1-7791-D2ED-CE7B364E4EEA}"/>
              </a:ext>
            </a:extLst>
          </p:cNvPr>
          <p:cNvSpPr>
            <a:spLocks noGrp="1"/>
          </p:cNvSpPr>
          <p:nvPr>
            <p:ph type="sldNum" sz="quarter" idx="5"/>
          </p:nvPr>
        </p:nvSpPr>
        <p:spPr/>
        <p:txBody>
          <a:bodyPr/>
          <a:lstStyle/>
          <a:p>
            <a:fld id="{833AB2BC-DAD3-4FB5-B0CB-8C5E7D3CC8BB}" type="slidenum">
              <a:rPr lang="en-GB" smtClean="0"/>
              <a:t>15</a:t>
            </a:fld>
            <a:endParaRPr lang="en-GB"/>
          </a:p>
        </p:txBody>
      </p:sp>
    </p:spTree>
    <p:extLst>
      <p:ext uri="{BB962C8B-B14F-4D97-AF65-F5344CB8AC3E}">
        <p14:creationId xmlns:p14="http://schemas.microsoft.com/office/powerpoint/2010/main" val="3085518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70109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051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userDrawn="1"/>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490584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userDrawn="1"/>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userDrawn="1"/>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userDrawn="1"/>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273782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5147663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userDrawn="1"/>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702329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userDrawn="1"/>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3" name="TextBox 2">
            <a:extLst>
              <a:ext uri="{FF2B5EF4-FFF2-40B4-BE49-F238E27FC236}">
                <a16:creationId xmlns:a16="http://schemas.microsoft.com/office/drawing/2014/main" id="{201D1C16-1E67-46BA-A7F0-31738E52069F}"/>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5658153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endParaRPr lang="en-US"/>
          </a:p>
        </p:txBody>
      </p:sp>
      <p:sp>
        <p:nvSpPr>
          <p:cNvPr id="4" name="TextBox 3">
            <a:extLst>
              <a:ext uri="{FF2B5EF4-FFF2-40B4-BE49-F238E27FC236}">
                <a16:creationId xmlns:a16="http://schemas.microsoft.com/office/drawing/2014/main" id="{8DDC0C86-80A9-481C-A2D5-6F509B89192B}"/>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userDrawn="1"/>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844174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endParaRPr lang="en-US"/>
          </a:p>
        </p:txBody>
      </p:sp>
      <p:sp>
        <p:nvSpPr>
          <p:cNvPr id="2" name="TextBox 1">
            <a:extLst>
              <a:ext uri="{FF2B5EF4-FFF2-40B4-BE49-F238E27FC236}">
                <a16:creationId xmlns:a16="http://schemas.microsoft.com/office/drawing/2014/main" id="{E0481612-058D-4A52-B93E-53E75F305C81}"/>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userDrawn="1"/>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userDrawn="1"/>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userDrawn="1"/>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839814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userDrawn="1"/>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userDrawn="1"/>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userDrawn="1"/>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565016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D8EFDB83-09AD-4E52-93C8-E24DAC9705FB}"/>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userDrawn="1"/>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724932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3" name="TextBox 2">
            <a:extLst>
              <a:ext uri="{FF2B5EF4-FFF2-40B4-BE49-F238E27FC236}">
                <a16:creationId xmlns:a16="http://schemas.microsoft.com/office/drawing/2014/main" id="{E9464481-354D-44BF-B8B2-E0AFA2830FDC}"/>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userDrawn="1"/>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userDrawn="1"/>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userDrawn="1"/>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229391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D8EFDB83-09AD-4E52-93C8-E24DAC9705FB}"/>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Arial"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userDrawn="1"/>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742686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userDrawn="1"/>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385551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n-lt"/>
                <a:ea typeface="+mn-ea"/>
                <a:cs typeface="+mn-cs"/>
              </a:defRPr>
            </a:lvl1pPr>
          </a:lstStyle>
          <a:p>
            <a:endParaRPr lang="en-US">
              <a:solidFill>
                <a:schemeClr val="bg1"/>
              </a:solidFill>
            </a:endParaRPr>
          </a:p>
        </p:txBody>
      </p:sp>
      <p:sp>
        <p:nvSpPr>
          <p:cNvPr id="5" name="TextBox 4">
            <a:extLst>
              <a:ext uri="{FF2B5EF4-FFF2-40B4-BE49-F238E27FC236}">
                <a16:creationId xmlns:a16="http://schemas.microsoft.com/office/drawing/2014/main" id="{D8EFDB83-09AD-4E52-93C8-E24DAC9705FB}"/>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1642032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19749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userDrawn="1"/>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953103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userDrawn="1"/>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569913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userDrawn="1"/>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670601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userDrawn="1"/>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245220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GT Sectra Fine </a:t>
            </a:r>
            <a:r>
              <a:rPr lang="en-GB" err="1"/>
              <a:t>Rg</a:t>
            </a:r>
            <a:r>
              <a:rPr lang="en-GB"/>
              <a:t> 24pt</a:t>
            </a:r>
            <a:endParaRPr lang="en-US"/>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38926748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lvl="0"/>
            <a:r>
              <a:rPr lang="en-GB"/>
              <a:t>Place subtitle here in GT Sectra Fine </a:t>
            </a:r>
            <a:r>
              <a:rPr lang="en-GB" err="1"/>
              <a:t>Rg</a:t>
            </a:r>
            <a:r>
              <a:rPr lang="en-GB"/>
              <a:t>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pPr algn="r" defTabSz="228600">
              <a:spcAft>
                <a:spcPts val="1200"/>
              </a:spcAft>
              <a:defRPr/>
            </a:pPr>
            <a:r>
              <a:rPr lang="en-GB"/>
              <a:t>Copyright © 2023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8977253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lvl="0"/>
            <a:r>
              <a:rPr lang="en-GB"/>
              <a:t>Place subtitle here in GT Sectra Fine </a:t>
            </a:r>
            <a:r>
              <a:rPr lang="en-GB" err="1"/>
              <a:t>Rg</a:t>
            </a:r>
            <a:r>
              <a:rPr lang="en-GB"/>
              <a:t> 24pt</a:t>
            </a:r>
            <a:endParaRPr lang="en-US"/>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1166635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lvl="0"/>
            <a:r>
              <a:rPr lang="en-GB"/>
              <a:t>Place subtitle here in GT Sectra Fine </a:t>
            </a:r>
            <a:r>
              <a:rPr lang="en-GB" err="1"/>
              <a:t>Rg</a:t>
            </a:r>
            <a:r>
              <a:rPr lang="en-GB"/>
              <a:t> 24pt</a:t>
            </a:r>
            <a:endParaRPr lang="en-US"/>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82719415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GB"/>
              <a:t>Place subtitle here in GT Sectra Fine </a:t>
            </a:r>
            <a:r>
              <a:rPr lang="en-GB" err="1"/>
              <a:t>Rg</a:t>
            </a:r>
            <a:r>
              <a:rPr lang="en-GB"/>
              <a:t> 24pt</a:t>
            </a:r>
            <a:endParaRPr lang="en-US"/>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pPr algn="r" defTabSz="228600">
              <a:spcAft>
                <a:spcPts val="1200"/>
              </a:spcAft>
              <a:defRPr/>
            </a:pPr>
            <a:r>
              <a:rPr lang="en-GB"/>
              <a:t>Copyright © 2023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0137034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Arial"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81949925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5853971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458029539"/>
      </p:ext>
    </p:extLst>
  </p:cSld>
  <p:clrMapOvr>
    <a:masterClrMapping/>
  </p:clrMapOvr>
  <p:extLst>
    <p:ext uri="{DCECCB84-F9BA-43D5-87BE-67443E8EF086}">
      <p15:sldGuideLst xmlns:p15="http://schemas.microsoft.com/office/powerpoint/2012/main">
        <p15:guide id="1" orient="horz" pos="931">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531069108"/>
      </p:ext>
    </p:extLst>
  </p:cSld>
  <p:clrMapOvr>
    <a:masterClrMapping/>
  </p:clrMapOvr>
  <p:extLst>
    <p:ext uri="{DCECCB84-F9BA-43D5-87BE-67443E8EF086}">
      <p15:sldGuideLst xmlns:p15="http://schemas.microsoft.com/office/powerpoint/2012/main">
        <p15:guide id="1" orient="horz" pos="3720">
          <p15:clr>
            <a:srgbClr val="C35E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95180885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832561531"/>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138791779"/>
      </p:ext>
    </p:extLst>
  </p:cSld>
  <p:clrMapOvr>
    <a:masterClrMapping/>
  </p:clrMapOvr>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89216022"/>
      </p:ext>
    </p:extLst>
  </p:cSld>
  <p:clrMapOvr>
    <a:masterClrMapping/>
  </p:clrMapOvr>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344820778"/>
      </p:ext>
    </p:extLst>
  </p:cSld>
  <p:clrMapOvr>
    <a:masterClrMapping/>
  </p:clrMapOvr>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185422014"/>
      </p:ext>
    </p:extLst>
  </p:cSld>
  <p:clrMapOvr>
    <a:masterClrMapping/>
  </p:clrMapOvr>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Arial"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23465380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1F90F471-3972-4120-B8B3-0237DE626C35}" type="slidenum">
              <a:rPr lang="en-US" smtClean="0"/>
              <a:pPr/>
              <a:t>‹#›</a:t>
            </a:fld>
            <a:endParaRPr lang="en-U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621368645"/>
      </p:ext>
    </p:extLst>
  </p:cSld>
  <p:clrMapOvr>
    <a:masterClrMapping/>
  </p:clrMapOvr>
  <p:extLst>
    <p:ext uri="{DCECCB84-F9BA-43D5-87BE-67443E8EF086}">
      <p15:sldGuideLst xmlns:p15="http://schemas.microsoft.com/office/powerpoint/2012/main">
        <p15:guide id="1" orient="horz" pos="3703">
          <p15:clr>
            <a:srgbClr val="C35E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Arial"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1F90F471-3972-4120-B8B3-0237DE626C35}" type="slidenum">
              <a:rPr lang="en-US" smtClean="0"/>
              <a:pPr/>
              <a:t>‹#›</a:t>
            </a:fld>
            <a:endParaRPr lang="en-U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6523844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03">
          <p15:clr>
            <a:srgbClr val="C35E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1F90F471-3972-4120-B8B3-0237DE626C35}" type="slidenum">
              <a:rPr lang="en-US" smtClean="0"/>
              <a:pPr/>
              <a:t>‹#›</a:t>
            </a:fld>
            <a:endParaRPr lang="en-U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2667638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51858923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Arial" panose="020B0604020202020204" pitchFamily="34" charset="0"/>
              <a:buChar char="•"/>
              <a:defRPr sz="1800">
                <a:solidFill>
                  <a:schemeClr val="tx1"/>
                </a:solidFill>
              </a:defRPr>
            </a:lvl2pPr>
            <a:lvl3pPr marL="457200">
              <a:buFont typeface="Arial" panose="020B0503030202060203" pitchFamily="34" charset="0"/>
              <a:buChar char="–"/>
              <a:defRPr sz="1800">
                <a:solidFill>
                  <a:schemeClr val="tx1"/>
                </a:solidFill>
              </a:defRPr>
            </a:lvl3pPr>
            <a:lvl4pPr marL="685800">
              <a:buFont typeface="Arial" panose="020B0604020202020204" pitchFamily="34" charset="0"/>
              <a:buChar char="•"/>
              <a:defRPr sz="1600">
                <a:solidFill>
                  <a:schemeClr val="tx1"/>
                </a:solidFill>
              </a:defRPr>
            </a:lvl4pPr>
            <a:lvl5pPr marL="914400">
              <a:buFont typeface="Arial" panose="020B0503030202060203" pitchFamily="34" charset="0"/>
              <a:buChar char="–"/>
              <a:defRPr sz="1600">
                <a:solidFill>
                  <a:schemeClr val="tx1"/>
                </a:solidFill>
              </a:defRPr>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8161500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74703701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425226728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userDrawn="1"/>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pPr defTabSz="228600">
              <a:spcAft>
                <a:spcPts val="1200"/>
              </a:spcAft>
              <a:defRPr/>
            </a:pPr>
            <a:r>
              <a:rPr lang="en-GB"/>
              <a:t>Copyright © 2023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1F90F471-3972-4120-B8B3-0237DE626C35}" type="slidenum">
              <a:rPr lang="en-US" smtClean="0"/>
              <a:pPr/>
              <a:t>‹#›</a:t>
            </a:fld>
            <a:endParaRPr lang="en-US"/>
          </a:p>
        </p:txBody>
      </p:sp>
    </p:spTree>
    <p:extLst>
      <p:ext uri="{BB962C8B-B14F-4D97-AF65-F5344CB8AC3E}">
        <p14:creationId xmlns:p14="http://schemas.microsoft.com/office/powerpoint/2010/main" val="30163889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stics 2">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p:nvPr>
        </p:nvSpPr>
        <p:spPr>
          <a:xfrm>
            <a:off x="381000" y="380999"/>
            <a:ext cx="5333969" cy="2393952"/>
          </a:xfrm>
        </p:spPr>
        <p:txBody>
          <a:bodyPr anchor="ctr"/>
          <a:lstStyle>
            <a:lvl1pPr>
              <a:defRPr/>
            </a:lvl1pPr>
          </a:lstStyle>
          <a:p>
            <a:r>
              <a:rPr lang="en-US"/>
              <a:t>Click to edit Master title style</a:t>
            </a:r>
          </a:p>
        </p:txBody>
      </p:sp>
      <p:sp>
        <p:nvSpPr>
          <p:cNvPr id="10" name="Rectangle 9">
            <a:extLst>
              <a:ext uri="{FF2B5EF4-FFF2-40B4-BE49-F238E27FC236}">
                <a16:creationId xmlns:a16="http://schemas.microsoft.com/office/drawing/2014/main" id="{7F8DBAF1-DC97-4CAB-B174-0AAA55CCB2E8}"/>
              </a:ext>
            </a:extLst>
          </p:cNvPr>
          <p:cNvSpPr/>
          <p:nvPr userDrawn="1"/>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userDrawn="1"/>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userDrawn="1"/>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n-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pPr defTabSz="228600">
              <a:spcAft>
                <a:spcPts val="1200"/>
              </a:spcAft>
              <a:defRPr/>
            </a:pPr>
            <a:r>
              <a:rPr lang="en-GB"/>
              <a:t>Copyright © 2023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1F90F471-3972-4120-B8B3-0237DE626C35}" type="slidenum">
              <a:rPr lang="en-US" smtClean="0"/>
              <a:pPr/>
              <a:t>‹#›</a:t>
            </a:fld>
            <a:endParaRPr lang="en-US">
              <a:solidFill>
                <a:schemeClr val="bg1"/>
              </a:solidFill>
            </a:endParaRPr>
          </a:p>
        </p:txBody>
      </p:sp>
    </p:spTree>
    <p:extLst>
      <p:ext uri="{BB962C8B-B14F-4D97-AF65-F5344CB8AC3E}">
        <p14:creationId xmlns:p14="http://schemas.microsoft.com/office/powerpoint/2010/main" val="17958991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9711212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9359139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3773339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636252097"/>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endParaRPr lang="en-US"/>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4191844967"/>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125590616"/>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188304"/>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cSld name="Blank with footers">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GB"/>
              <a:t>Copyright © 2023 Accenture. All rights reserved.</a:t>
            </a:r>
            <a:endParaRPr lang="en-US"/>
          </a:p>
        </p:txBody>
      </p:sp>
      <p:sp>
        <p:nvSpPr>
          <p:cNvPr id="7" name="Slide Number Placeholder 6"/>
          <p:cNvSpPr>
            <a:spLocks noGrp="1"/>
          </p:cNvSpPr>
          <p:nvPr>
            <p:ph type="sldNum" sz="quarter" idx="12"/>
          </p:nvPr>
        </p:nvSpPr>
        <p:spPr/>
        <p:txBody>
          <a:bodyPr/>
          <a:lstStyle/>
          <a:p>
            <a:fld id="{4F9AC08D-23A9-440E-BCB9-AA1E9877CC38}" type="slidenum">
              <a:rPr lang="en-US" smtClean="0"/>
              <a:pPr/>
              <a:t>‹#›</a:t>
            </a:fld>
            <a:endParaRPr lang="en-US"/>
          </a:p>
        </p:txBody>
      </p:sp>
    </p:spTree>
    <p:extLst>
      <p:ext uri="{BB962C8B-B14F-4D97-AF65-F5344CB8AC3E}">
        <p14:creationId xmlns:p14="http://schemas.microsoft.com/office/powerpoint/2010/main" val="15387537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and copy">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3174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generic">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BD6F1B2-2F38-2B4F-84C4-4E33DCDBE4FB}"/>
              </a:ext>
            </a:extLst>
          </p:cNvPr>
          <p:cNvSpPr/>
          <p:nvPr userDrawn="1"/>
        </p:nvSpPr>
        <p:spPr>
          <a:xfrm>
            <a:off x="-1" y="0"/>
            <a:ext cx="2935225" cy="6858000"/>
          </a:xfrm>
          <a:prstGeom prst="rect">
            <a:avLst/>
          </a:prstGeom>
          <a:gradFill flip="none" rotWithShape="1">
            <a:gsLst>
              <a:gs pos="36000">
                <a:srgbClr val="8C5EAA"/>
              </a:gs>
              <a:gs pos="0">
                <a:schemeClr val="accent3"/>
              </a:gs>
              <a:gs pos="74000">
                <a:schemeClr val="accent3"/>
              </a:gs>
              <a:gs pos="100000">
                <a:srgbClr val="26003E"/>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6" name="Rectangle 5">
            <a:extLst>
              <a:ext uri="{FF2B5EF4-FFF2-40B4-BE49-F238E27FC236}">
                <a16:creationId xmlns:a16="http://schemas.microsoft.com/office/drawing/2014/main" id="{E3BB5F3A-065A-044F-B16D-831185FB6469}"/>
              </a:ext>
            </a:extLst>
          </p:cNvPr>
          <p:cNvSpPr/>
          <p:nvPr userDrawn="1"/>
        </p:nvSpPr>
        <p:spPr>
          <a:xfrm>
            <a:off x="6070600" y="0"/>
            <a:ext cx="3201416" cy="6858000"/>
          </a:xfrm>
          <a:prstGeom prst="rect">
            <a:avLst/>
          </a:prstGeom>
          <a:gradFill flip="none" rotWithShape="1">
            <a:gsLst>
              <a:gs pos="53000">
                <a:schemeClr val="bg1">
                  <a:lumMod val="95000"/>
                </a:schemeClr>
              </a:gs>
              <a:gs pos="100000">
                <a:srgbClr val="D5DEE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9" name="Rectangle 8">
            <a:extLst>
              <a:ext uri="{FF2B5EF4-FFF2-40B4-BE49-F238E27FC236}">
                <a16:creationId xmlns:a16="http://schemas.microsoft.com/office/drawing/2014/main" id="{14742BF7-7A9D-CE4A-8BB6-71DF438E9511}"/>
              </a:ext>
            </a:extLst>
          </p:cNvPr>
          <p:cNvSpPr/>
          <p:nvPr userDrawn="1"/>
        </p:nvSpPr>
        <p:spPr>
          <a:xfrm>
            <a:off x="9272016" y="0"/>
            <a:ext cx="2930443" cy="685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pic>
        <p:nvPicPr>
          <p:cNvPr id="10" name="Picture 9" descr="A picture containing drawing&#10;&#10;Description automatically generated">
            <a:extLst>
              <a:ext uri="{FF2B5EF4-FFF2-40B4-BE49-F238E27FC236}">
                <a16:creationId xmlns:a16="http://schemas.microsoft.com/office/drawing/2014/main" id="{65DB65B3-C067-BE49-B48C-6EB91AD53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5396" y="6053734"/>
            <a:ext cx="1361581" cy="359612"/>
          </a:xfrm>
          <a:prstGeom prst="rect">
            <a:avLst/>
          </a:prstGeom>
        </p:spPr>
      </p:pic>
      <p:sp>
        <p:nvSpPr>
          <p:cNvPr id="62" name="Picture Placeholder 61">
            <a:extLst>
              <a:ext uri="{FF2B5EF4-FFF2-40B4-BE49-F238E27FC236}">
                <a16:creationId xmlns:a16="http://schemas.microsoft.com/office/drawing/2014/main" id="{37CD31C1-72E2-934E-8E0F-4B67B5E7408E}"/>
              </a:ext>
            </a:extLst>
          </p:cNvPr>
          <p:cNvSpPr>
            <a:spLocks noGrp="1"/>
          </p:cNvSpPr>
          <p:nvPr>
            <p:ph type="pic" sz="quarter" idx="10"/>
          </p:nvPr>
        </p:nvSpPr>
        <p:spPr>
          <a:xfrm>
            <a:off x="-1" y="455805"/>
            <a:ext cx="2935225" cy="2340000"/>
          </a:xfrm>
          <a:prstGeom prst="rect">
            <a:avLst/>
          </a:prstGeom>
        </p:spPr>
        <p:txBody>
          <a:bodyPr/>
          <a:lstStyle/>
          <a:p>
            <a:endParaRPr lang="en-GB"/>
          </a:p>
        </p:txBody>
      </p:sp>
    </p:spTree>
    <p:extLst>
      <p:ext uri="{BB962C8B-B14F-4D97-AF65-F5344CB8AC3E}">
        <p14:creationId xmlns:p14="http://schemas.microsoft.com/office/powerpoint/2010/main" val="3301110467"/>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1B759B-CFBE-4D7D-9839-29352F4D7D4A}" type="datetimeFigureOut">
              <a:rPr lang="en-GB" smtClean="0"/>
              <a:t>03/06/2026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14307E8-CB61-451B-A64E-BA502D37BB8A}" type="slidenum">
              <a:rPr lang="en-GB" smtClean="0"/>
              <a:t>‹#›</a:t>
            </a:fld>
            <a:endParaRPr lang="en-GB"/>
          </a:p>
        </p:txBody>
      </p:sp>
    </p:spTree>
    <p:extLst>
      <p:ext uri="{BB962C8B-B14F-4D97-AF65-F5344CB8AC3E}">
        <p14:creationId xmlns:p14="http://schemas.microsoft.com/office/powerpoint/2010/main" val="33006550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generic">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BD6F1B2-2F38-2B4F-84C4-4E33DCDBE4FB}"/>
              </a:ext>
            </a:extLst>
          </p:cNvPr>
          <p:cNvSpPr/>
          <p:nvPr userDrawn="1"/>
        </p:nvSpPr>
        <p:spPr>
          <a:xfrm>
            <a:off x="-1" y="0"/>
            <a:ext cx="3096000" cy="6858000"/>
          </a:xfrm>
          <a:prstGeom prst="rect">
            <a:avLst/>
          </a:prstGeom>
          <a:gradFill flip="none" rotWithShape="1">
            <a:gsLst>
              <a:gs pos="36000">
                <a:srgbClr val="8C5EAA"/>
              </a:gs>
              <a:gs pos="0">
                <a:schemeClr val="accent3"/>
              </a:gs>
              <a:gs pos="74000">
                <a:schemeClr val="accent3"/>
              </a:gs>
              <a:gs pos="100000">
                <a:srgbClr val="26003E"/>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6" name="Rectangle 5">
            <a:extLst>
              <a:ext uri="{FF2B5EF4-FFF2-40B4-BE49-F238E27FC236}">
                <a16:creationId xmlns:a16="http://schemas.microsoft.com/office/drawing/2014/main" id="{E3BB5F3A-065A-044F-B16D-831185FB6469}"/>
              </a:ext>
            </a:extLst>
          </p:cNvPr>
          <p:cNvSpPr/>
          <p:nvPr userDrawn="1"/>
        </p:nvSpPr>
        <p:spPr>
          <a:xfrm>
            <a:off x="6070600" y="0"/>
            <a:ext cx="3079377" cy="6858000"/>
          </a:xfrm>
          <a:prstGeom prst="rect">
            <a:avLst/>
          </a:prstGeom>
          <a:gradFill flip="none" rotWithShape="1">
            <a:gsLst>
              <a:gs pos="53000">
                <a:schemeClr val="bg1">
                  <a:lumMod val="95000"/>
                </a:schemeClr>
              </a:gs>
              <a:gs pos="100000">
                <a:srgbClr val="D5DEE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9" name="Rectangle 8">
            <a:extLst>
              <a:ext uri="{FF2B5EF4-FFF2-40B4-BE49-F238E27FC236}">
                <a16:creationId xmlns:a16="http://schemas.microsoft.com/office/drawing/2014/main" id="{14742BF7-7A9D-CE4A-8BB6-71DF438E9511}"/>
              </a:ext>
            </a:extLst>
          </p:cNvPr>
          <p:cNvSpPr/>
          <p:nvPr userDrawn="1"/>
        </p:nvSpPr>
        <p:spPr>
          <a:xfrm>
            <a:off x="9123082" y="0"/>
            <a:ext cx="3079377" cy="685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pic>
        <p:nvPicPr>
          <p:cNvPr id="10" name="Picture 9" descr="A picture containing drawing&#10;&#10;Description automatically generated">
            <a:extLst>
              <a:ext uri="{FF2B5EF4-FFF2-40B4-BE49-F238E27FC236}">
                <a16:creationId xmlns:a16="http://schemas.microsoft.com/office/drawing/2014/main" id="{65DB65B3-C067-BE49-B48C-6EB91AD53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5396" y="6053734"/>
            <a:ext cx="1361581" cy="359612"/>
          </a:xfrm>
          <a:prstGeom prst="rect">
            <a:avLst/>
          </a:prstGeom>
        </p:spPr>
      </p:pic>
      <p:sp>
        <p:nvSpPr>
          <p:cNvPr id="62" name="Picture Placeholder 61">
            <a:extLst>
              <a:ext uri="{FF2B5EF4-FFF2-40B4-BE49-F238E27FC236}">
                <a16:creationId xmlns:a16="http://schemas.microsoft.com/office/drawing/2014/main" id="{37CD31C1-72E2-934E-8E0F-4B67B5E7408E}"/>
              </a:ext>
            </a:extLst>
          </p:cNvPr>
          <p:cNvSpPr>
            <a:spLocks noGrp="1"/>
          </p:cNvSpPr>
          <p:nvPr>
            <p:ph type="pic" sz="quarter" idx="10"/>
          </p:nvPr>
        </p:nvSpPr>
        <p:spPr>
          <a:xfrm>
            <a:off x="-1" y="455805"/>
            <a:ext cx="3096000" cy="2340000"/>
          </a:xfrm>
          <a:prstGeom prst="rect">
            <a:avLst/>
          </a:prstGeom>
        </p:spPr>
        <p:txBody>
          <a:bodyPr/>
          <a:lstStyle/>
          <a:p>
            <a:endParaRPr lang="en-GB"/>
          </a:p>
        </p:txBody>
      </p:sp>
    </p:spTree>
    <p:extLst>
      <p:ext uri="{BB962C8B-B14F-4D97-AF65-F5344CB8AC3E}">
        <p14:creationId xmlns:p14="http://schemas.microsoft.com/office/powerpoint/2010/main" val="3301110467"/>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generic">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BD6F1B2-2F38-2B4F-84C4-4E33DCDBE4FB}"/>
              </a:ext>
            </a:extLst>
          </p:cNvPr>
          <p:cNvSpPr/>
          <p:nvPr userDrawn="1"/>
        </p:nvSpPr>
        <p:spPr>
          <a:xfrm>
            <a:off x="-1" y="0"/>
            <a:ext cx="3096000" cy="6858000"/>
          </a:xfrm>
          <a:prstGeom prst="rect">
            <a:avLst/>
          </a:prstGeom>
          <a:gradFill flip="none" rotWithShape="1">
            <a:gsLst>
              <a:gs pos="36000">
                <a:srgbClr val="8C5EAA"/>
              </a:gs>
              <a:gs pos="0">
                <a:schemeClr val="accent3"/>
              </a:gs>
              <a:gs pos="74000">
                <a:schemeClr val="accent3"/>
              </a:gs>
              <a:gs pos="100000">
                <a:srgbClr val="26003E"/>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6" name="Rectangle 5">
            <a:extLst>
              <a:ext uri="{FF2B5EF4-FFF2-40B4-BE49-F238E27FC236}">
                <a16:creationId xmlns:a16="http://schemas.microsoft.com/office/drawing/2014/main" id="{E3BB5F3A-065A-044F-B16D-831185FB6469}"/>
              </a:ext>
            </a:extLst>
          </p:cNvPr>
          <p:cNvSpPr/>
          <p:nvPr userDrawn="1"/>
        </p:nvSpPr>
        <p:spPr>
          <a:xfrm>
            <a:off x="6070600" y="0"/>
            <a:ext cx="3079377" cy="6858000"/>
          </a:xfrm>
          <a:prstGeom prst="rect">
            <a:avLst/>
          </a:prstGeom>
          <a:gradFill flip="none" rotWithShape="1">
            <a:gsLst>
              <a:gs pos="53000">
                <a:schemeClr val="bg1">
                  <a:lumMod val="95000"/>
                </a:schemeClr>
              </a:gs>
              <a:gs pos="100000">
                <a:srgbClr val="D5DEE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9" name="Rectangle 8">
            <a:extLst>
              <a:ext uri="{FF2B5EF4-FFF2-40B4-BE49-F238E27FC236}">
                <a16:creationId xmlns:a16="http://schemas.microsoft.com/office/drawing/2014/main" id="{14742BF7-7A9D-CE4A-8BB6-71DF438E9511}"/>
              </a:ext>
            </a:extLst>
          </p:cNvPr>
          <p:cNvSpPr/>
          <p:nvPr userDrawn="1"/>
        </p:nvSpPr>
        <p:spPr>
          <a:xfrm>
            <a:off x="9123082" y="0"/>
            <a:ext cx="3079377" cy="685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pic>
        <p:nvPicPr>
          <p:cNvPr id="10" name="Picture 9" descr="A picture containing drawing&#10;&#10;Description automatically generated">
            <a:extLst>
              <a:ext uri="{FF2B5EF4-FFF2-40B4-BE49-F238E27FC236}">
                <a16:creationId xmlns:a16="http://schemas.microsoft.com/office/drawing/2014/main" id="{65DB65B3-C067-BE49-B48C-6EB91AD53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5396" y="6053734"/>
            <a:ext cx="1361581" cy="359612"/>
          </a:xfrm>
          <a:prstGeom prst="rect">
            <a:avLst/>
          </a:prstGeom>
        </p:spPr>
      </p:pic>
      <p:sp>
        <p:nvSpPr>
          <p:cNvPr id="12" name="Rectangle 11">
            <a:extLst>
              <a:ext uri="{FF2B5EF4-FFF2-40B4-BE49-F238E27FC236}">
                <a16:creationId xmlns:a16="http://schemas.microsoft.com/office/drawing/2014/main" id="{A16DA0A9-8437-BF49-ACFB-3EEF4B1BFE71}"/>
              </a:ext>
            </a:extLst>
          </p:cNvPr>
          <p:cNvSpPr/>
          <p:nvPr userDrawn="1"/>
        </p:nvSpPr>
        <p:spPr>
          <a:xfrm>
            <a:off x="9457766" y="4725437"/>
            <a:ext cx="2407664" cy="1666371"/>
          </a:xfrm>
          <a:prstGeom prst="rect">
            <a:avLst/>
          </a:prstGeom>
          <a:solidFill>
            <a:schemeClr val="accent3">
              <a:lumMod val="75000"/>
            </a:schemeClr>
          </a:solidFill>
          <a:ln w="76200">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Graphic 26" descr="Open quotation mark with solid fill">
            <a:extLst>
              <a:ext uri="{FF2B5EF4-FFF2-40B4-BE49-F238E27FC236}">
                <a16:creationId xmlns:a16="http://schemas.microsoft.com/office/drawing/2014/main" id="{4325DCA8-0AAA-2549-81BD-4E230C4EC9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11079701" y="5636972"/>
            <a:ext cx="831273" cy="831273"/>
          </a:xfrm>
          <a:prstGeom prst="rect">
            <a:avLst/>
          </a:prstGeom>
        </p:spPr>
      </p:pic>
      <p:sp>
        <p:nvSpPr>
          <p:cNvPr id="28" name="Rectangle 27">
            <a:extLst>
              <a:ext uri="{FF2B5EF4-FFF2-40B4-BE49-F238E27FC236}">
                <a16:creationId xmlns:a16="http://schemas.microsoft.com/office/drawing/2014/main" id="{F8EB4A71-C2E6-F549-AA6E-67879EE9CCB1}"/>
              </a:ext>
            </a:extLst>
          </p:cNvPr>
          <p:cNvSpPr/>
          <p:nvPr userDrawn="1"/>
        </p:nvSpPr>
        <p:spPr>
          <a:xfrm>
            <a:off x="9606792" y="4635807"/>
            <a:ext cx="359988" cy="20437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Graphic 28" descr="Open quotation mark with solid fill">
            <a:extLst>
              <a:ext uri="{FF2B5EF4-FFF2-40B4-BE49-F238E27FC236}">
                <a16:creationId xmlns:a16="http://schemas.microsoft.com/office/drawing/2014/main" id="{ACB3E00C-F0BA-464D-9085-58EC615314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52170" y="4448150"/>
            <a:ext cx="469232" cy="469232"/>
          </a:xfrm>
          <a:prstGeom prst="rect">
            <a:avLst/>
          </a:prstGeom>
        </p:spPr>
      </p:pic>
      <p:sp>
        <p:nvSpPr>
          <p:cNvPr id="62" name="Picture Placeholder 61">
            <a:extLst>
              <a:ext uri="{FF2B5EF4-FFF2-40B4-BE49-F238E27FC236}">
                <a16:creationId xmlns:a16="http://schemas.microsoft.com/office/drawing/2014/main" id="{37CD31C1-72E2-934E-8E0F-4B67B5E7408E}"/>
              </a:ext>
            </a:extLst>
          </p:cNvPr>
          <p:cNvSpPr>
            <a:spLocks noGrp="1"/>
          </p:cNvSpPr>
          <p:nvPr>
            <p:ph type="pic" sz="quarter" idx="10"/>
          </p:nvPr>
        </p:nvSpPr>
        <p:spPr>
          <a:xfrm>
            <a:off x="-1" y="455805"/>
            <a:ext cx="3096000" cy="2340000"/>
          </a:xfrm>
          <a:prstGeom prst="rect">
            <a:avLst/>
          </a:prstGeom>
        </p:spPr>
        <p:txBody>
          <a:bodyPr/>
          <a:lstStyle/>
          <a:p>
            <a:endParaRPr lang="en-GB"/>
          </a:p>
        </p:txBody>
      </p:sp>
    </p:spTree>
    <p:extLst>
      <p:ext uri="{BB962C8B-B14F-4D97-AF65-F5344CB8AC3E}">
        <p14:creationId xmlns:p14="http://schemas.microsoft.com/office/powerpoint/2010/main" val="347023373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_Editable CV Template">
    <p:spTree>
      <p:nvGrpSpPr>
        <p:cNvPr id="1" name=""/>
        <p:cNvGrpSpPr/>
        <p:nvPr/>
      </p:nvGrpSpPr>
      <p:grpSpPr>
        <a:xfrm>
          <a:off x="0" y="0"/>
          <a:ext cx="0" cy="0"/>
          <a:chOff x="0" y="0"/>
          <a:chExt cx="0" cy="0"/>
        </a:xfrm>
      </p:grpSpPr>
      <p:sp>
        <p:nvSpPr>
          <p:cNvPr id="86" name="Picture Placeholder 85">
            <a:extLst>
              <a:ext uri="{FF2B5EF4-FFF2-40B4-BE49-F238E27FC236}">
                <a16:creationId xmlns:a16="http://schemas.microsoft.com/office/drawing/2014/main" id="{FF1B80EF-0657-1242-A108-73DD3ADB68F3}"/>
              </a:ext>
            </a:extLst>
          </p:cNvPr>
          <p:cNvSpPr>
            <a:spLocks noGrp="1"/>
          </p:cNvSpPr>
          <p:nvPr userDrawn="1">
            <p:ph type="pic" sz="quarter" idx="41"/>
          </p:nvPr>
        </p:nvSpPr>
        <p:spPr>
          <a:xfrm>
            <a:off x="1515977" y="971601"/>
            <a:ext cx="1147709" cy="1147709"/>
          </a:xfrm>
          <a:prstGeom prst="ellipse">
            <a:avLst/>
          </a:prstGeom>
          <a:noFill/>
          <a:ln w="38100">
            <a:solidFill>
              <a:schemeClr val="bg1"/>
            </a:solidFill>
          </a:ln>
        </p:spPr>
        <p:txBody>
          <a:bodyPr anchor="ctr" anchorCtr="0"/>
          <a:lstStyle>
            <a:lvl1pPr marL="0" indent="0" algn="ctr">
              <a:buNone/>
              <a:defRPr sz="1400">
                <a:solidFill>
                  <a:schemeClr val="accent6"/>
                </a:solidFill>
                <a:latin typeface="Verdana" panose="020B0604030504040204" pitchFamily="34" charset="0"/>
                <a:ea typeface="Verdana" panose="020B0604030504040204" pitchFamily="34" charset="0"/>
                <a:cs typeface="Verdana" panose="020B0604030504040204" pitchFamily="34" charset="0"/>
              </a:defRPr>
            </a:lvl1pPr>
          </a:lstStyle>
          <a:p>
            <a:endParaRPr lang="en-US" dirty="0"/>
          </a:p>
        </p:txBody>
      </p:sp>
      <p:sp>
        <p:nvSpPr>
          <p:cNvPr id="16" name="Text Placeholder 10">
            <a:extLst>
              <a:ext uri="{FF2B5EF4-FFF2-40B4-BE49-F238E27FC236}">
                <a16:creationId xmlns:a16="http://schemas.microsoft.com/office/drawing/2014/main" id="{CCD5F33C-F359-BA4D-9A05-0EA4026AC0C3}"/>
              </a:ext>
            </a:extLst>
          </p:cNvPr>
          <p:cNvSpPr txBox="1">
            <a:spLocks/>
          </p:cNvSpPr>
          <p:nvPr userDrawn="1"/>
        </p:nvSpPr>
        <p:spPr>
          <a:xfrm>
            <a:off x="4441462" y="317343"/>
            <a:ext cx="2352675" cy="1789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000"/>
              </a:spcBef>
              <a:buFont typeface="Arial" panose="020B0604020202020204" pitchFamily="34" charset="0"/>
              <a:buNone/>
            </a:pPr>
            <a:r>
              <a:rPr lang="en-GB" sz="1050" b="1" i="0" kern="1200" dirty="0">
                <a:solidFill>
                  <a:schemeClr val="bg1"/>
                </a:solidFill>
                <a:latin typeface="Source Sans Pro" panose="020B0503030403020204" pitchFamily="34" charset="0"/>
                <a:ea typeface="Source Sans Pro" panose="020B0503030403020204" pitchFamily="34" charset="0"/>
                <a:cs typeface="Arial" panose="020B0604020202020204" pitchFamily="34" charset="0"/>
              </a:rPr>
              <a:t>HIGHLIGHTS</a:t>
            </a:r>
            <a:endParaRPr lang="en-US" sz="1050" b="1" i="0" kern="1200" dirty="0">
              <a:solidFill>
                <a:schemeClr val="bg1"/>
              </a:solidFill>
              <a:latin typeface="Source Sans Pro" panose="020B0503030403020204" pitchFamily="34" charset="0"/>
              <a:ea typeface="Source Sans Pro" panose="020B0503030403020204" pitchFamily="34" charset="0"/>
              <a:cs typeface="Arial" panose="020B0604020202020204" pitchFamily="34" charset="0"/>
            </a:endParaRPr>
          </a:p>
        </p:txBody>
      </p:sp>
      <p:sp>
        <p:nvSpPr>
          <p:cNvPr id="17" name="Text Placeholder 10">
            <a:extLst>
              <a:ext uri="{FF2B5EF4-FFF2-40B4-BE49-F238E27FC236}">
                <a16:creationId xmlns:a16="http://schemas.microsoft.com/office/drawing/2014/main" id="{DBAD9AA9-7D9A-1648-9AA3-5813E29D003A}"/>
              </a:ext>
            </a:extLst>
          </p:cNvPr>
          <p:cNvSpPr txBox="1">
            <a:spLocks/>
          </p:cNvSpPr>
          <p:nvPr userDrawn="1"/>
        </p:nvSpPr>
        <p:spPr>
          <a:xfrm>
            <a:off x="6932414" y="317343"/>
            <a:ext cx="2352675" cy="1789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b="1" i="0" dirty="0">
                <a:latin typeface="Source Sans Pro" panose="020B0503030403020204" pitchFamily="34" charset="0"/>
                <a:ea typeface="Source Sans Pro" panose="020B0503030403020204" pitchFamily="34" charset="0"/>
              </a:rPr>
              <a:t>CAREER HISTORY</a:t>
            </a:r>
          </a:p>
        </p:txBody>
      </p:sp>
      <p:sp>
        <p:nvSpPr>
          <p:cNvPr id="18" name="Text Placeholder 10">
            <a:extLst>
              <a:ext uri="{FF2B5EF4-FFF2-40B4-BE49-F238E27FC236}">
                <a16:creationId xmlns:a16="http://schemas.microsoft.com/office/drawing/2014/main" id="{31489835-4AAF-5440-B00F-10460A7255EA}"/>
              </a:ext>
            </a:extLst>
          </p:cNvPr>
          <p:cNvSpPr txBox="1">
            <a:spLocks/>
          </p:cNvSpPr>
          <p:nvPr userDrawn="1"/>
        </p:nvSpPr>
        <p:spPr>
          <a:xfrm>
            <a:off x="9412856" y="317343"/>
            <a:ext cx="2352675" cy="1789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b="1" i="0">
                <a:latin typeface="Source Sans Pro" panose="020B0503030403020204" pitchFamily="34" charset="0"/>
                <a:ea typeface="Source Sans Pro" panose="020B0503030403020204" pitchFamily="34" charset="0"/>
              </a:rPr>
              <a:t>SKILLS</a:t>
            </a:r>
            <a:endParaRPr lang="en-US" sz="1050" b="1" i="0" dirty="0">
              <a:latin typeface="Source Sans Pro" panose="020B0503030403020204" pitchFamily="34" charset="0"/>
              <a:ea typeface="Source Sans Pro" panose="020B0503030403020204" pitchFamily="34" charset="0"/>
            </a:endParaRPr>
          </a:p>
        </p:txBody>
      </p:sp>
      <p:sp>
        <p:nvSpPr>
          <p:cNvPr id="56" name="Title 1">
            <a:extLst>
              <a:ext uri="{FF2B5EF4-FFF2-40B4-BE49-F238E27FC236}">
                <a16:creationId xmlns:a16="http://schemas.microsoft.com/office/drawing/2014/main" id="{7E10CADA-5BAC-4949-B1A5-0C5EED964C6C}"/>
              </a:ext>
            </a:extLst>
          </p:cNvPr>
          <p:cNvSpPr>
            <a:spLocks noGrp="1"/>
          </p:cNvSpPr>
          <p:nvPr userDrawn="1">
            <p:ph type="title" hasCustomPrompt="1"/>
          </p:nvPr>
        </p:nvSpPr>
        <p:spPr>
          <a:xfrm>
            <a:off x="353069" y="179126"/>
            <a:ext cx="3462338" cy="489842"/>
          </a:xfrm>
          <a:prstGeom prst="rect">
            <a:avLst/>
          </a:prstGeom>
        </p:spPr>
        <p:txBody>
          <a:bodyPr/>
          <a:lstStyle>
            <a:lvl1pPr algn="ctr">
              <a:defRPr sz="2400">
                <a:solidFill>
                  <a:schemeClr val="bg1"/>
                </a:solidFill>
                <a:latin typeface="Source Sans Pro" panose="020B0503030403020204" pitchFamily="34" charset="0"/>
                <a:ea typeface="Source Sans Pro" panose="020B0503030403020204" pitchFamily="34" charset="0"/>
                <a:cs typeface="Verdana" panose="020B0604030504040204" pitchFamily="34" charset="0"/>
              </a:defRPr>
            </a:lvl1pPr>
          </a:lstStyle>
          <a:p>
            <a:pPr>
              <a:lnSpc>
                <a:spcPct val="100000"/>
              </a:lnSpc>
            </a:pPr>
            <a:r>
              <a:rPr lang="en-GB" sz="2400" dirty="0">
                <a:latin typeface="Source Sans Pro" panose="020B0503030403020204" pitchFamily="34" charset="0"/>
                <a:ea typeface="Source Sans Pro" panose="020B0503030403020204" pitchFamily="34" charset="0"/>
              </a:rPr>
              <a:t>Name Surname</a:t>
            </a:r>
            <a:endParaRPr lang="en-US" sz="2400" dirty="0">
              <a:latin typeface="Source Sans Pro" panose="020B0503030403020204" pitchFamily="34" charset="0"/>
              <a:ea typeface="Source Sans Pro" panose="020B0503030403020204" pitchFamily="34" charset="0"/>
            </a:endParaRPr>
          </a:p>
        </p:txBody>
      </p:sp>
      <p:sp>
        <p:nvSpPr>
          <p:cNvPr id="57" name="Text Placeholder 35">
            <a:extLst>
              <a:ext uri="{FF2B5EF4-FFF2-40B4-BE49-F238E27FC236}">
                <a16:creationId xmlns:a16="http://schemas.microsoft.com/office/drawing/2014/main" id="{622D280E-956B-B549-9DF7-F132834C6439}"/>
              </a:ext>
            </a:extLst>
          </p:cNvPr>
          <p:cNvSpPr>
            <a:spLocks noGrp="1"/>
          </p:cNvSpPr>
          <p:nvPr userDrawn="1">
            <p:ph type="body" sz="quarter" idx="10" hasCustomPrompt="1"/>
          </p:nvPr>
        </p:nvSpPr>
        <p:spPr>
          <a:xfrm>
            <a:off x="353580" y="548331"/>
            <a:ext cx="3462338" cy="279400"/>
          </a:xfrm>
          <a:prstGeom prst="rect">
            <a:avLst/>
          </a:prstGeom>
        </p:spPr>
        <p:txBody>
          <a:bodyPr/>
          <a:lstStyle>
            <a:lvl1pPr marL="0" indent="0" algn="ctr">
              <a:buNone/>
              <a:defRPr sz="1600">
                <a:solidFill>
                  <a:schemeClr val="bg1"/>
                </a:solidFill>
                <a:latin typeface="Source Sans Pro" panose="020B0503030403020204" pitchFamily="34" charset="0"/>
                <a:ea typeface="Source Sans Pro" panose="020B0503030403020204" pitchFamily="34" charset="0"/>
                <a:cs typeface="Verdana" panose="020B0604030504040204" pitchFamily="34" charset="0"/>
              </a:defRPr>
            </a:lvl1pPr>
            <a:lvl2pPr marL="4572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a:lnSpc>
                <a:spcPct val="100000"/>
              </a:lnSpc>
            </a:pPr>
            <a:r>
              <a:rPr lang="en-GB" sz="1600" dirty="0">
                <a:latin typeface="Source Sans Pro" panose="020B0503030403020204" pitchFamily="34" charset="0"/>
                <a:ea typeface="Source Sans Pro" panose="020B0503030403020204" pitchFamily="34" charset="0"/>
              </a:rPr>
              <a:t>Your Role at </a:t>
            </a:r>
            <a:r>
              <a:rPr lang="en-GB" sz="1600" dirty="0" err="1">
                <a:latin typeface="Source Sans Pro" panose="020B0503030403020204" pitchFamily="34" charset="0"/>
                <a:ea typeface="Source Sans Pro" panose="020B0503030403020204" pitchFamily="34" charset="0"/>
              </a:rPr>
              <a:t>Mudano</a:t>
            </a:r>
            <a:endParaRPr lang="en-GB" sz="1600" dirty="0">
              <a:latin typeface="Source Sans Pro" panose="020B0503030403020204" pitchFamily="34" charset="0"/>
              <a:ea typeface="Source Sans Pro" panose="020B0503030403020204" pitchFamily="34" charset="0"/>
            </a:endParaRPr>
          </a:p>
        </p:txBody>
      </p:sp>
      <p:sp>
        <p:nvSpPr>
          <p:cNvPr id="58" name="Text Placeholder 35">
            <a:extLst>
              <a:ext uri="{FF2B5EF4-FFF2-40B4-BE49-F238E27FC236}">
                <a16:creationId xmlns:a16="http://schemas.microsoft.com/office/drawing/2014/main" id="{A45E7916-67CA-4D4B-879C-0019315CDD47}"/>
              </a:ext>
            </a:extLst>
          </p:cNvPr>
          <p:cNvSpPr>
            <a:spLocks noGrp="1"/>
          </p:cNvSpPr>
          <p:nvPr userDrawn="1">
            <p:ph type="body" sz="quarter" idx="11" hasCustomPrompt="1"/>
          </p:nvPr>
        </p:nvSpPr>
        <p:spPr>
          <a:xfrm>
            <a:off x="353580" y="2228514"/>
            <a:ext cx="3462338" cy="279400"/>
          </a:xfrm>
          <a:prstGeom prst="rect">
            <a:avLst/>
          </a:prstGeom>
        </p:spPr>
        <p:txBody>
          <a:bodyPr/>
          <a:lstStyle>
            <a:lvl1pPr marL="0" indent="0" algn="ctr">
              <a:buNone/>
              <a:defRPr sz="1200">
                <a:solidFill>
                  <a:schemeClr val="bg1"/>
                </a:solidFill>
                <a:latin typeface="Source Sans Pro" panose="020B0503030403020204" pitchFamily="34" charset="0"/>
                <a:ea typeface="Source Sans Pro" panose="020B0503030403020204" pitchFamily="34" charset="0"/>
                <a:cs typeface="Verdana" panose="020B0604030504040204" pitchFamily="34" charset="0"/>
              </a:defRPr>
            </a:lvl1pPr>
            <a:lvl2pPr marL="4572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a:lnSpc>
                <a:spcPct val="100000"/>
              </a:lnSpc>
            </a:pPr>
            <a:r>
              <a:rPr lang="en-GB" sz="1200" dirty="0" err="1">
                <a:latin typeface="Source Sans Pro" panose="020B0503030403020204" pitchFamily="34" charset="0"/>
                <a:ea typeface="Source Sans Pro" panose="020B0503030403020204" pitchFamily="34" charset="0"/>
              </a:rPr>
              <a:t>name.surname@mudano.com</a:t>
            </a:r>
            <a:endParaRPr lang="en-GB" sz="1200" dirty="0">
              <a:latin typeface="Source Sans Pro" panose="020B0503030403020204" pitchFamily="34" charset="0"/>
              <a:ea typeface="Source Sans Pro" panose="020B0503030403020204" pitchFamily="34" charset="0"/>
            </a:endParaRPr>
          </a:p>
        </p:txBody>
      </p:sp>
      <p:sp>
        <p:nvSpPr>
          <p:cNvPr id="59" name="Text Placeholder 3">
            <a:extLst>
              <a:ext uri="{FF2B5EF4-FFF2-40B4-BE49-F238E27FC236}">
                <a16:creationId xmlns:a16="http://schemas.microsoft.com/office/drawing/2014/main" id="{7C3606A8-24DF-B74E-8DCB-01F57F5B0ACF}"/>
              </a:ext>
            </a:extLst>
          </p:cNvPr>
          <p:cNvSpPr>
            <a:spLocks noGrp="1"/>
          </p:cNvSpPr>
          <p:nvPr userDrawn="1">
            <p:ph type="body" sz="quarter" idx="42" hasCustomPrompt="1"/>
          </p:nvPr>
        </p:nvSpPr>
        <p:spPr>
          <a:xfrm>
            <a:off x="4438418" y="630848"/>
            <a:ext cx="2361910" cy="1728403"/>
          </a:xfrm>
          <a:prstGeom prst="rect">
            <a:avLst/>
          </a:prstGeom>
        </p:spPr>
        <p:txBody>
          <a:bodyPr/>
          <a:lstStyle>
            <a:lvl1pPr marL="0" indent="0">
              <a:lnSpc>
                <a:spcPct val="90000"/>
              </a:lnSpc>
              <a:buClr>
                <a:schemeClr val="bg1"/>
              </a:buClr>
              <a:buFont typeface="Arial" panose="020B0604020202020204" pitchFamily="34" charset="0"/>
              <a:buNone/>
              <a:defRPr sz="1050">
                <a:solidFill>
                  <a:schemeClr val="bg1"/>
                </a:solidFill>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Single sentences (past tense) describing top projects </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Enhanced and implemented an artificial intelligence product utilised for contract analysis</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Established delivery approach and plan for risk solution that covered 20 countries and 100 portfolios</a:t>
            </a:r>
          </a:p>
          <a:p>
            <a:pPr lvl="0"/>
            <a:endParaRPr lang="en-US" dirty="0"/>
          </a:p>
        </p:txBody>
      </p:sp>
      <p:sp>
        <p:nvSpPr>
          <p:cNvPr id="60" name="Text Placeholder 3">
            <a:extLst>
              <a:ext uri="{FF2B5EF4-FFF2-40B4-BE49-F238E27FC236}">
                <a16:creationId xmlns:a16="http://schemas.microsoft.com/office/drawing/2014/main" id="{B3A7FC20-318E-1A4A-9070-22D653034B86}"/>
              </a:ext>
            </a:extLst>
          </p:cNvPr>
          <p:cNvSpPr>
            <a:spLocks noGrp="1"/>
          </p:cNvSpPr>
          <p:nvPr userDrawn="1">
            <p:ph type="body" sz="quarter" idx="43" hasCustomPrompt="1"/>
          </p:nvPr>
        </p:nvSpPr>
        <p:spPr>
          <a:xfrm>
            <a:off x="6937735" y="630848"/>
            <a:ext cx="2361910" cy="1728403"/>
          </a:xfrm>
          <a:prstGeom prst="rect">
            <a:avLst/>
          </a:prstGeom>
        </p:spPr>
        <p:txBody>
          <a:bodyPr/>
          <a:lstStyle>
            <a:lvl1pPr marL="0" indent="0">
              <a:lnSpc>
                <a:spcPct val="90000"/>
              </a:lnSpc>
              <a:buClr>
                <a:schemeClr val="bg1"/>
              </a:buClr>
              <a:buFont typeface="Arial" panose="020B0604020202020204" pitchFamily="34" charset="0"/>
              <a:buNone/>
              <a:defRPr sz="1050">
                <a:solidFill>
                  <a:schemeClr val="bg1"/>
                </a:solidFill>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Companies/roles you have worked at that you want to include and any qualifications. </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e.g. </a:t>
            </a:r>
            <a:r>
              <a:rPr lang="en-GB" sz="1050" dirty="0" err="1">
                <a:latin typeface="Source Sans Pro" panose="020B0503030403020204" pitchFamily="34" charset="0"/>
                <a:ea typeface="Source Sans Pro" panose="020B0503030403020204" pitchFamily="34" charset="0"/>
              </a:rPr>
              <a:t>Mudano</a:t>
            </a:r>
            <a:r>
              <a:rPr lang="en-GB" sz="1050" dirty="0">
                <a:latin typeface="Source Sans Pro" panose="020B0503030403020204" pitchFamily="34" charset="0"/>
                <a:ea typeface="Source Sans Pro" panose="020B0503030403020204" pitchFamily="34" charset="0"/>
              </a:rPr>
              <a:t>, Delivery Manager</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British Airways, Advanced Analytics and OR Consultant</a:t>
            </a:r>
          </a:p>
          <a:p>
            <a:pPr marL="0" indent="0">
              <a:lnSpc>
                <a:spcPct val="100000"/>
              </a:lnSpc>
              <a:buFont typeface="Arial" panose="020B0604020202020204" pitchFamily="34" charset="0"/>
              <a:buNone/>
              <a:defRPr/>
            </a:pPr>
            <a:r>
              <a:rPr lang="en-US" sz="1050" dirty="0">
                <a:latin typeface="Source Sans Pro" panose="020B0503030403020204" pitchFamily="34" charset="0"/>
                <a:ea typeface="Source Sans Pro" panose="020B0503030403020204" pitchFamily="34" charset="0"/>
              </a:rPr>
              <a:t>EY (Ernst &amp; Young Global Limited), </a:t>
            </a:r>
            <a:br>
              <a:rPr lang="en-US" sz="1050" dirty="0">
                <a:latin typeface="Source Sans Pro" panose="020B0503030403020204" pitchFamily="34" charset="0"/>
                <a:ea typeface="Source Sans Pro" panose="020B0503030403020204" pitchFamily="34" charset="0"/>
              </a:rPr>
            </a:br>
            <a:r>
              <a:rPr lang="en-US" sz="1050" dirty="0">
                <a:latin typeface="Source Sans Pro" panose="020B0503030403020204" pitchFamily="34" charset="0"/>
                <a:ea typeface="Source Sans Pro" panose="020B0503030403020204" pitchFamily="34" charset="0"/>
              </a:rPr>
              <a:t>Senior Manager, Data and Analytics</a:t>
            </a:r>
          </a:p>
          <a:p>
            <a:pPr lvl="0"/>
            <a:endParaRPr lang="en-US" dirty="0"/>
          </a:p>
        </p:txBody>
      </p:sp>
      <p:sp>
        <p:nvSpPr>
          <p:cNvPr id="61" name="Text Placeholder 3">
            <a:extLst>
              <a:ext uri="{FF2B5EF4-FFF2-40B4-BE49-F238E27FC236}">
                <a16:creationId xmlns:a16="http://schemas.microsoft.com/office/drawing/2014/main" id="{68172C5E-7682-8343-B6E9-E551F4DE24C9}"/>
              </a:ext>
            </a:extLst>
          </p:cNvPr>
          <p:cNvSpPr>
            <a:spLocks noGrp="1"/>
          </p:cNvSpPr>
          <p:nvPr userDrawn="1">
            <p:ph type="body" sz="quarter" idx="44" hasCustomPrompt="1"/>
          </p:nvPr>
        </p:nvSpPr>
        <p:spPr>
          <a:xfrm>
            <a:off x="9434174" y="630848"/>
            <a:ext cx="2361910" cy="1728403"/>
          </a:xfrm>
          <a:prstGeom prst="rect">
            <a:avLst/>
          </a:prstGeom>
        </p:spPr>
        <p:txBody>
          <a:bodyPr/>
          <a:lstStyle>
            <a:lvl1pPr marL="171450" indent="-171450">
              <a:lnSpc>
                <a:spcPct val="90000"/>
              </a:lnSpc>
              <a:buClr>
                <a:schemeClr val="bg1"/>
              </a:buClr>
              <a:buFont typeface="Arial" panose="020B0604020202020204" pitchFamily="34" charset="0"/>
              <a:buChar char="•"/>
              <a:defRPr sz="1050">
                <a:solidFill>
                  <a:schemeClr val="bg1"/>
                </a:solidFill>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marL="171450" indent="-171450">
              <a:lnSpc>
                <a:spcPct val="100000"/>
              </a:lnSpc>
              <a:buFont typeface="Arial" panose="020B0604020202020204" pitchFamily="34" charset="0"/>
              <a:buChar char="•"/>
              <a:defRPr/>
            </a:pPr>
            <a:r>
              <a:rPr lang="fr-FR" sz="1050" dirty="0" err="1">
                <a:latin typeface="Source Sans Pro" panose="020B0503030403020204" pitchFamily="34" charset="0"/>
                <a:ea typeface="Source Sans Pro" panose="020B0503030403020204" pitchFamily="34" charset="0"/>
              </a:rPr>
              <a:t>e.g</a:t>
            </a:r>
            <a:r>
              <a:rPr lang="fr-FR" sz="1050" dirty="0">
                <a:latin typeface="Source Sans Pro" panose="020B0503030403020204" pitchFamily="34" charset="0"/>
                <a:ea typeface="Source Sans Pro" panose="020B0503030403020204" pitchFamily="34" charset="0"/>
              </a:rPr>
              <a:t>. Tableau </a:t>
            </a:r>
          </a:p>
          <a:p>
            <a:pPr marL="171450" indent="-171450">
              <a:lnSpc>
                <a:spcPct val="100000"/>
              </a:lnSpc>
              <a:buFont typeface="Arial" panose="020B0604020202020204" pitchFamily="34" charset="0"/>
              <a:buChar char="•"/>
              <a:defRPr/>
            </a:pPr>
            <a:r>
              <a:rPr lang="en-GB" sz="1050" dirty="0">
                <a:latin typeface="Source Sans Pro" panose="020B0503030403020204" pitchFamily="34" charset="0"/>
                <a:ea typeface="Source Sans Pro" panose="020B0503030403020204" pitchFamily="34" charset="0"/>
              </a:rPr>
              <a:t>Data remediation and analysis</a:t>
            </a:r>
          </a:p>
          <a:p>
            <a:pPr marL="171450" indent="-171450">
              <a:lnSpc>
                <a:spcPct val="100000"/>
              </a:lnSpc>
              <a:buFont typeface="Arial" panose="020B0604020202020204" pitchFamily="34" charset="0"/>
              <a:buChar char="•"/>
              <a:defRPr/>
            </a:pPr>
            <a:r>
              <a:rPr lang="en-US" sz="1050" dirty="0">
                <a:latin typeface="Source Sans Pro" panose="020B0503030403020204" pitchFamily="34" charset="0"/>
                <a:ea typeface="Source Sans Pro" panose="020B0503030403020204" pitchFamily="34" charset="0"/>
              </a:rPr>
              <a:t>Solution and </a:t>
            </a:r>
            <a:br>
              <a:rPr lang="en-US" sz="1050" dirty="0">
                <a:latin typeface="Source Sans Pro" panose="020B0503030403020204" pitchFamily="34" charset="0"/>
                <a:ea typeface="Source Sans Pro" panose="020B0503030403020204" pitchFamily="34" charset="0"/>
              </a:rPr>
            </a:br>
            <a:r>
              <a:rPr lang="en-US" sz="1050" dirty="0">
                <a:latin typeface="Source Sans Pro" panose="020B0503030403020204" pitchFamily="34" charset="0"/>
                <a:ea typeface="Source Sans Pro" panose="020B0503030403020204" pitchFamily="34" charset="0"/>
              </a:rPr>
              <a:t>technical architecture</a:t>
            </a:r>
          </a:p>
          <a:p>
            <a:pPr lvl="0"/>
            <a:endParaRPr lang="en-US" dirty="0"/>
          </a:p>
        </p:txBody>
      </p:sp>
      <p:grpSp>
        <p:nvGrpSpPr>
          <p:cNvPr id="2" name="Group 1">
            <a:extLst>
              <a:ext uri="{FF2B5EF4-FFF2-40B4-BE49-F238E27FC236}">
                <a16:creationId xmlns:a16="http://schemas.microsoft.com/office/drawing/2014/main" id="{68CB6F49-159C-2649-97D6-7FD7D3DBB1EE}"/>
              </a:ext>
            </a:extLst>
          </p:cNvPr>
          <p:cNvGrpSpPr/>
          <p:nvPr userDrawn="1"/>
        </p:nvGrpSpPr>
        <p:grpSpPr>
          <a:xfrm>
            <a:off x="392609" y="2882480"/>
            <a:ext cx="11799391" cy="3657804"/>
            <a:chOff x="392609" y="2882480"/>
            <a:chExt cx="11799391" cy="3657804"/>
          </a:xfrm>
        </p:grpSpPr>
        <p:cxnSp>
          <p:nvCxnSpPr>
            <p:cNvPr id="75" name="Straight Connector 74">
              <a:extLst>
                <a:ext uri="{FF2B5EF4-FFF2-40B4-BE49-F238E27FC236}">
                  <a16:creationId xmlns:a16="http://schemas.microsoft.com/office/drawing/2014/main" id="{2F8A0E83-1682-4D4E-8FD8-663EFEB058F9}"/>
                </a:ext>
              </a:extLst>
            </p:cNvPr>
            <p:cNvCxnSpPr>
              <a:cxnSpLocks/>
            </p:cNvCxnSpPr>
            <p:nvPr userDrawn="1"/>
          </p:nvCxnSpPr>
          <p:spPr>
            <a:xfrm flipH="1">
              <a:off x="9024675" y="2884244"/>
              <a:ext cx="1872" cy="2012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D3CCFDE-85A9-444D-886E-8EF73216D536}"/>
                </a:ext>
              </a:extLst>
            </p:cNvPr>
            <p:cNvCxnSpPr>
              <a:cxnSpLocks/>
            </p:cNvCxnSpPr>
            <p:nvPr userDrawn="1"/>
          </p:nvCxnSpPr>
          <p:spPr>
            <a:xfrm>
              <a:off x="559405" y="4819528"/>
              <a:ext cx="1163259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6AA8B9A6-009A-E447-88DC-1260492D1D3D}"/>
                </a:ext>
              </a:extLst>
            </p:cNvPr>
            <p:cNvGrpSpPr/>
            <p:nvPr userDrawn="1"/>
          </p:nvGrpSpPr>
          <p:grpSpPr>
            <a:xfrm>
              <a:off x="392609" y="2882480"/>
              <a:ext cx="152429" cy="2016504"/>
              <a:chOff x="392609" y="2882480"/>
              <a:chExt cx="152429" cy="2016504"/>
            </a:xfrm>
          </p:grpSpPr>
          <p:cxnSp>
            <p:nvCxnSpPr>
              <p:cNvPr id="51" name="Straight Connector 50">
                <a:extLst>
                  <a:ext uri="{FF2B5EF4-FFF2-40B4-BE49-F238E27FC236}">
                    <a16:creationId xmlns:a16="http://schemas.microsoft.com/office/drawing/2014/main" id="{E9174A1C-D908-D641-87A8-EE1B383F5178}"/>
                  </a:ext>
                </a:extLst>
              </p:cNvPr>
              <p:cNvCxnSpPr>
                <a:cxnSpLocks/>
              </p:cNvCxnSpPr>
              <p:nvPr userDrawn="1"/>
            </p:nvCxnSpPr>
            <p:spPr>
              <a:xfrm flipH="1">
                <a:off x="468824" y="2882480"/>
                <a:ext cx="730" cy="2016504"/>
              </a:xfrm>
              <a:prstGeom prst="line">
                <a:avLst/>
              </a:prstGeom>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4FBCA7A9-03D2-5C4C-A44E-44832CC7695F}"/>
                  </a:ext>
                </a:extLst>
              </p:cNvPr>
              <p:cNvSpPr/>
              <p:nvPr userDrawn="1"/>
            </p:nvSpPr>
            <p:spPr>
              <a:xfrm>
                <a:off x="392609" y="474655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2" name="Group 61">
              <a:extLst>
                <a:ext uri="{FF2B5EF4-FFF2-40B4-BE49-F238E27FC236}">
                  <a16:creationId xmlns:a16="http://schemas.microsoft.com/office/drawing/2014/main" id="{E90989A9-DA7E-8A40-BEA8-F26B8A1FF968}"/>
                </a:ext>
              </a:extLst>
            </p:cNvPr>
            <p:cNvGrpSpPr/>
            <p:nvPr userDrawn="1"/>
          </p:nvGrpSpPr>
          <p:grpSpPr>
            <a:xfrm>
              <a:off x="2529869" y="4394435"/>
              <a:ext cx="152429" cy="2145849"/>
              <a:chOff x="2102417" y="4394435"/>
              <a:chExt cx="152429" cy="2145849"/>
            </a:xfrm>
          </p:grpSpPr>
          <p:cxnSp>
            <p:nvCxnSpPr>
              <p:cNvPr id="63" name="Straight Connector 62">
                <a:extLst>
                  <a:ext uri="{FF2B5EF4-FFF2-40B4-BE49-F238E27FC236}">
                    <a16:creationId xmlns:a16="http://schemas.microsoft.com/office/drawing/2014/main" id="{80F200C4-B30E-CB48-97E3-A8740C640959}"/>
                  </a:ext>
                </a:extLst>
              </p:cNvPr>
              <p:cNvCxnSpPr>
                <a:cxnSpLocks/>
              </p:cNvCxnSpPr>
              <p:nvPr userDrawn="1"/>
            </p:nvCxnSpPr>
            <p:spPr>
              <a:xfrm>
                <a:off x="2178631" y="4394435"/>
                <a:ext cx="0" cy="2145849"/>
              </a:xfrm>
              <a:prstGeom prst="line">
                <a:avLst/>
              </a:prstGeom>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C6B522F6-B649-3D48-A1EF-70F986585D84}"/>
                  </a:ext>
                </a:extLst>
              </p:cNvPr>
              <p:cNvSpPr/>
              <p:nvPr userDrawn="1"/>
            </p:nvSpPr>
            <p:spPr>
              <a:xfrm>
                <a:off x="2102417" y="4754293"/>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175A0A67-C9EE-B24D-B34D-B9AFAE16CD3D}"/>
                </a:ext>
              </a:extLst>
            </p:cNvPr>
            <p:cNvGrpSpPr/>
            <p:nvPr userDrawn="1"/>
          </p:nvGrpSpPr>
          <p:grpSpPr>
            <a:xfrm>
              <a:off x="4667129" y="2895358"/>
              <a:ext cx="152429" cy="2011364"/>
              <a:chOff x="3812225" y="2895358"/>
              <a:chExt cx="152429" cy="2011364"/>
            </a:xfrm>
          </p:grpSpPr>
          <p:cxnSp>
            <p:nvCxnSpPr>
              <p:cNvPr id="66" name="Straight Connector 65">
                <a:extLst>
                  <a:ext uri="{FF2B5EF4-FFF2-40B4-BE49-F238E27FC236}">
                    <a16:creationId xmlns:a16="http://schemas.microsoft.com/office/drawing/2014/main" id="{AB3C4F16-B4AB-D643-B0E6-106FDA7D57E4}"/>
                  </a:ext>
                </a:extLst>
              </p:cNvPr>
              <p:cNvCxnSpPr>
                <a:cxnSpLocks/>
              </p:cNvCxnSpPr>
              <p:nvPr userDrawn="1"/>
            </p:nvCxnSpPr>
            <p:spPr>
              <a:xfrm flipH="1">
                <a:off x="3888440" y="2895358"/>
                <a:ext cx="4798" cy="2011364"/>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6DC2A058-3DA8-C34C-B3F3-C61F55D458F7}"/>
                  </a:ext>
                </a:extLst>
              </p:cNvPr>
              <p:cNvSpPr/>
              <p:nvPr userDrawn="1"/>
            </p:nvSpPr>
            <p:spPr>
              <a:xfrm>
                <a:off x="3812225" y="474141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1D328A85-F3D5-B542-B0A7-BE318F604CCE}"/>
                </a:ext>
              </a:extLst>
            </p:cNvPr>
            <p:cNvGrpSpPr/>
            <p:nvPr userDrawn="1"/>
          </p:nvGrpSpPr>
          <p:grpSpPr>
            <a:xfrm>
              <a:off x="6804389" y="4394435"/>
              <a:ext cx="152429" cy="2145849"/>
              <a:chOff x="5522033" y="4394435"/>
              <a:chExt cx="152429" cy="2145849"/>
            </a:xfrm>
          </p:grpSpPr>
          <p:cxnSp>
            <p:nvCxnSpPr>
              <p:cNvPr id="69" name="Straight Connector 68">
                <a:extLst>
                  <a:ext uri="{FF2B5EF4-FFF2-40B4-BE49-F238E27FC236}">
                    <a16:creationId xmlns:a16="http://schemas.microsoft.com/office/drawing/2014/main" id="{29AF1272-E480-9D4F-8358-B1A58832B23E}"/>
                  </a:ext>
                </a:extLst>
              </p:cNvPr>
              <p:cNvCxnSpPr>
                <a:cxnSpLocks/>
              </p:cNvCxnSpPr>
              <p:nvPr userDrawn="1"/>
            </p:nvCxnSpPr>
            <p:spPr>
              <a:xfrm>
                <a:off x="5596008" y="4394435"/>
                <a:ext cx="0" cy="2145849"/>
              </a:xfrm>
              <a:prstGeom prst="line">
                <a:avLst/>
              </a:prstGeom>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7B2F74C5-1763-7C4F-88F9-DA280046C1AE}"/>
                  </a:ext>
                </a:extLst>
              </p:cNvPr>
              <p:cNvSpPr/>
              <p:nvPr userDrawn="1"/>
            </p:nvSpPr>
            <p:spPr>
              <a:xfrm>
                <a:off x="5522033" y="474141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8" name="Oval 77">
            <a:extLst>
              <a:ext uri="{FF2B5EF4-FFF2-40B4-BE49-F238E27FC236}">
                <a16:creationId xmlns:a16="http://schemas.microsoft.com/office/drawing/2014/main" id="{E2542344-DC55-7344-9DC7-589842A632C0}"/>
              </a:ext>
            </a:extLst>
          </p:cNvPr>
          <p:cNvSpPr/>
          <p:nvPr userDrawn="1"/>
        </p:nvSpPr>
        <p:spPr>
          <a:xfrm>
            <a:off x="8941647" y="474141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478525"/>
      </p:ext>
    </p:extLst>
  </p:cSld>
  <p:clrMapOvr>
    <a:masterClrMapping/>
  </p:clrMapOvr>
  <p:extLst>
    <p:ext uri="{DCECCB84-F9BA-43D5-87BE-67443E8EF086}">
      <p15:sldGuideLst xmlns:p15="http://schemas.microsoft.com/office/powerpoint/2012/main">
        <p15:guide id="1" pos="386">
          <p15:clr>
            <a:srgbClr val="FBAE40"/>
          </p15:clr>
        </p15:guide>
        <p15:guide id="2" orient="horz" pos="2962">
          <p15:clr>
            <a:srgbClr val="FBAE40"/>
          </p15:clr>
        </p15:guide>
        <p15:guide id="3" pos="1468">
          <p15:clr>
            <a:srgbClr val="FBAE40"/>
          </p15:clr>
        </p15:guide>
        <p15:guide id="4" pos="2536">
          <p15:clr>
            <a:srgbClr val="FBAE40"/>
          </p15:clr>
        </p15:guide>
        <p15:guide id="5" pos="3604">
          <p15:clr>
            <a:srgbClr val="FBAE40"/>
          </p15:clr>
        </p15:guide>
        <p15:guide id="6" pos="4690">
          <p15:clr>
            <a:srgbClr val="FBAE40"/>
          </p15:clr>
        </p15:guide>
        <p15:guide id="7" orient="horz" pos="3249">
          <p15:clr>
            <a:srgbClr val="FBAE40"/>
          </p15:clr>
        </p15:guide>
        <p15:guide id="8" pos="5768">
          <p15:clr>
            <a:srgbClr val="FBAE40"/>
          </p15:clr>
        </p15:guide>
        <p15:guide id="9" orient="horz" pos="190">
          <p15:clr>
            <a:srgbClr val="FBAE40"/>
          </p15:clr>
        </p15:guide>
        <p15:guide id="10" orient="horz" pos="3339">
          <p15:clr>
            <a:srgbClr val="FBAE40"/>
          </p15:clr>
        </p15:guide>
        <p15:guide id="11" orient="horz" pos="1913">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47D690-48D5-49E7-A0DA-1DAD0469B0BC}"/>
              </a:ext>
            </a:extLst>
          </p:cNvPr>
          <p:cNvSpPr>
            <a:spLocks noGrp="1"/>
          </p:cNvSpPr>
          <p:nvPr>
            <p:ph type="dt" sz="half" idx="10"/>
          </p:nvPr>
        </p:nvSpPr>
        <p:spPr/>
        <p:txBody>
          <a:bodyPr/>
          <a:lstStyle/>
          <a:p>
            <a:fld id="{9D0B1B1F-54CE-4BDE-A47B-34E472382A1A}" type="datetimeFigureOut">
              <a:rPr lang="en-GB" smtClean="0"/>
              <a:t>03/06/2026</a:t>
            </a:fld>
            <a:endParaRPr lang="en-GB"/>
          </a:p>
        </p:txBody>
      </p:sp>
      <p:sp>
        <p:nvSpPr>
          <p:cNvPr id="3" name="Footer Placeholder 2">
            <a:extLst>
              <a:ext uri="{FF2B5EF4-FFF2-40B4-BE49-F238E27FC236}">
                <a16:creationId xmlns:a16="http://schemas.microsoft.com/office/drawing/2014/main" id="{F6AAD51E-9988-45C6-897C-3DFE7DC4A3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B9281B9-26B2-4101-BE70-D94A896C43A2}"/>
              </a:ext>
            </a:extLst>
          </p:cNvPr>
          <p:cNvSpPr>
            <a:spLocks noGrp="1"/>
          </p:cNvSpPr>
          <p:nvPr>
            <p:ph type="sldNum" sz="quarter" idx="12"/>
          </p:nvPr>
        </p:nvSpPr>
        <p:spPr/>
        <p:txBody>
          <a:bodyPr/>
          <a:lstStyle/>
          <a:p>
            <a:fld id="{884085FB-6FB7-44FD-B6BF-3DC533897E41}" type="slidenum">
              <a:rPr lang="en-GB" smtClean="0"/>
              <a:t>‹#›</a:t>
            </a:fld>
            <a:endParaRPr lang="en-GB"/>
          </a:p>
        </p:txBody>
      </p:sp>
    </p:spTree>
    <p:extLst>
      <p:ext uri="{BB962C8B-B14F-4D97-AF65-F5344CB8AC3E}">
        <p14:creationId xmlns:p14="http://schemas.microsoft.com/office/powerpoint/2010/main" val="15737880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Text Placeholder 8"/>
          <p:cNvSpPr>
            <a:spLocks noGrp="1"/>
          </p:cNvSpPr>
          <p:nvPr>
            <p:ph type="body" sz="quarter" idx="12"/>
          </p:nvPr>
        </p:nvSpPr>
        <p:spPr>
          <a:xfrm>
            <a:off x="507141" y="1427164"/>
            <a:ext cx="11186191" cy="4668837"/>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664702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18">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3_3+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65E641D-A6ED-ED46-93AD-99B913B5D17F}"/>
              </a:ext>
            </a:extLst>
          </p:cNvPr>
          <p:cNvSpPr/>
          <p:nvPr/>
        </p:nvSpPr>
        <p:spPr>
          <a:xfrm>
            <a:off x="0" y="0"/>
            <a:ext cx="3096097" cy="6867861"/>
          </a:xfrm>
          <a:prstGeom prst="rect">
            <a:avLst/>
          </a:prstGeom>
          <a:solidFill>
            <a:srgbClr val="6B0B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rgbClr val="FFB600"/>
              </a:solidFill>
              <a:latin typeface="Graphik" panose="020B0503030202060203" pitchFamily="34" charset="77"/>
            </a:endParaRPr>
          </a:p>
        </p:txBody>
      </p:sp>
      <p:sp>
        <p:nvSpPr>
          <p:cNvPr id="10" name="Title 1">
            <a:extLst>
              <a:ext uri="{FF2B5EF4-FFF2-40B4-BE49-F238E27FC236}">
                <a16:creationId xmlns:a16="http://schemas.microsoft.com/office/drawing/2014/main" id="{37D9CB8C-8B87-564C-976B-8ADA7C7F2622}"/>
              </a:ext>
            </a:extLst>
          </p:cNvPr>
          <p:cNvSpPr>
            <a:spLocks noGrp="1"/>
          </p:cNvSpPr>
          <p:nvPr>
            <p:ph type="title" hasCustomPrompt="1"/>
          </p:nvPr>
        </p:nvSpPr>
        <p:spPr>
          <a:xfrm>
            <a:off x="3359149" y="391531"/>
            <a:ext cx="6485891" cy="996280"/>
          </a:xfrm>
        </p:spPr>
        <p:txBody>
          <a:bodyPr>
            <a:normAutofit/>
          </a:bodyPr>
          <a:lstStyle>
            <a:lvl1pPr>
              <a:defRPr sz="3000">
                <a:latin typeface="+mj-lt"/>
              </a:defRPr>
            </a:lvl1pPr>
          </a:lstStyle>
          <a:p>
            <a:r>
              <a:rPr lang="en-US"/>
              <a:t>Click to edit master </a:t>
            </a:r>
            <a:br>
              <a:rPr lang="en-US"/>
            </a:br>
            <a:r>
              <a:rPr lang="en-US"/>
              <a:t>title style</a:t>
            </a:r>
          </a:p>
        </p:txBody>
      </p:sp>
      <p:sp>
        <p:nvSpPr>
          <p:cNvPr id="11" name="Content Placeholder 2">
            <a:extLst>
              <a:ext uri="{FF2B5EF4-FFF2-40B4-BE49-F238E27FC236}">
                <a16:creationId xmlns:a16="http://schemas.microsoft.com/office/drawing/2014/main" id="{91251169-F489-A842-A8BE-DD755047FC48}"/>
              </a:ext>
            </a:extLst>
          </p:cNvPr>
          <p:cNvSpPr>
            <a:spLocks noGrp="1"/>
          </p:cNvSpPr>
          <p:nvPr>
            <p:ph idx="1" hasCustomPrompt="1"/>
          </p:nvPr>
        </p:nvSpPr>
        <p:spPr>
          <a:xfrm>
            <a:off x="400061" y="2819402"/>
            <a:ext cx="2491890" cy="3813174"/>
          </a:xfrm>
        </p:spPr>
        <p:txBody>
          <a:bodyPr lIns="0" tIns="0" rIns="0" bIns="0"/>
          <a:lstStyle>
            <a:lvl1pPr marL="0" indent="0">
              <a:spcBef>
                <a:spcPts val="0"/>
              </a:spcBef>
              <a:buNone/>
              <a:defRPr sz="1050" b="0" baseline="0">
                <a:solidFill>
                  <a:schemeClr val="tx1"/>
                </a:solidFill>
                <a:latin typeface="+mn-lt"/>
              </a:defRPr>
            </a:lvl1pPr>
          </a:lstStyle>
          <a:p>
            <a:pPr lvl="0"/>
            <a:r>
              <a:rPr lang="en-US"/>
              <a:t>Some text</a:t>
            </a:r>
          </a:p>
        </p:txBody>
      </p:sp>
      <p:sp>
        <p:nvSpPr>
          <p:cNvPr id="15" name="Content Placeholder 2">
            <a:extLst>
              <a:ext uri="{FF2B5EF4-FFF2-40B4-BE49-F238E27FC236}">
                <a16:creationId xmlns:a16="http://schemas.microsoft.com/office/drawing/2014/main" id="{A2BA0126-3A9A-ED4F-84BE-AC0145A95E07}"/>
              </a:ext>
            </a:extLst>
          </p:cNvPr>
          <p:cNvSpPr>
            <a:spLocks noGrp="1"/>
          </p:cNvSpPr>
          <p:nvPr>
            <p:ph idx="13" hasCustomPrompt="1"/>
          </p:nvPr>
        </p:nvSpPr>
        <p:spPr>
          <a:xfrm>
            <a:off x="9532566" y="1277095"/>
            <a:ext cx="2286001" cy="4368800"/>
          </a:xfrm>
        </p:spPr>
        <p:txBody>
          <a:bodyPr lIns="0" tIns="0" rIns="0" bIns="0"/>
          <a:lstStyle>
            <a:lvl1pPr marL="0" indent="0">
              <a:spcBef>
                <a:spcPts val="0"/>
              </a:spcBef>
              <a:buNone/>
              <a:defRPr sz="1050" b="0" baseline="0">
                <a:latin typeface="+mj-lt"/>
              </a:defRPr>
            </a:lvl1pPr>
          </a:lstStyle>
          <a:p>
            <a:pPr lvl="0"/>
            <a:r>
              <a:rPr lang="en-US"/>
              <a:t>Some text</a:t>
            </a:r>
          </a:p>
        </p:txBody>
      </p:sp>
      <p:sp>
        <p:nvSpPr>
          <p:cNvPr id="16" name="Content Placeholder 2">
            <a:extLst>
              <a:ext uri="{FF2B5EF4-FFF2-40B4-BE49-F238E27FC236}">
                <a16:creationId xmlns:a16="http://schemas.microsoft.com/office/drawing/2014/main" id="{504981BC-AA9E-1942-A275-CED75D6F9520}"/>
              </a:ext>
            </a:extLst>
          </p:cNvPr>
          <p:cNvSpPr>
            <a:spLocks noGrp="1"/>
          </p:cNvSpPr>
          <p:nvPr>
            <p:ph idx="14" hasCustomPrompt="1"/>
          </p:nvPr>
        </p:nvSpPr>
        <p:spPr>
          <a:xfrm>
            <a:off x="6420402" y="1128299"/>
            <a:ext cx="2743055" cy="4483100"/>
          </a:xfrm>
        </p:spPr>
        <p:txBody>
          <a:bodyPr lIns="0" tIns="0" rIns="0" bIns="0"/>
          <a:lstStyle>
            <a:lvl1pPr marL="0" indent="0">
              <a:spcBef>
                <a:spcPts val="0"/>
              </a:spcBef>
              <a:buNone/>
              <a:defRPr sz="1050" b="0" baseline="0">
                <a:solidFill>
                  <a:schemeClr val="tx1"/>
                </a:solidFill>
                <a:latin typeface="+mn-lt"/>
              </a:defRPr>
            </a:lvl1pPr>
          </a:lstStyle>
          <a:p>
            <a:pPr lvl="0"/>
            <a:r>
              <a:rPr lang="en-US"/>
              <a:t>Some text</a:t>
            </a:r>
          </a:p>
        </p:txBody>
      </p:sp>
      <p:sp>
        <p:nvSpPr>
          <p:cNvPr id="17" name="Content Placeholder 2">
            <a:extLst>
              <a:ext uri="{FF2B5EF4-FFF2-40B4-BE49-F238E27FC236}">
                <a16:creationId xmlns:a16="http://schemas.microsoft.com/office/drawing/2014/main" id="{896E0F1A-15BA-BA4A-A646-41E92E6E5CC2}"/>
              </a:ext>
            </a:extLst>
          </p:cNvPr>
          <p:cNvSpPr>
            <a:spLocks noGrp="1"/>
          </p:cNvSpPr>
          <p:nvPr>
            <p:ph idx="15" hasCustomPrompt="1"/>
          </p:nvPr>
        </p:nvSpPr>
        <p:spPr>
          <a:xfrm>
            <a:off x="3363224" y="1128299"/>
            <a:ext cx="2741078" cy="4483100"/>
          </a:xfrm>
        </p:spPr>
        <p:txBody>
          <a:bodyPr lIns="0" tIns="0" rIns="0" bIns="0"/>
          <a:lstStyle>
            <a:lvl1pPr marL="0" indent="0">
              <a:spcBef>
                <a:spcPts val="0"/>
              </a:spcBef>
              <a:buNone/>
              <a:defRPr sz="1050" b="0" baseline="0">
                <a:solidFill>
                  <a:schemeClr val="tx1"/>
                </a:solidFill>
                <a:latin typeface="+mn-lt"/>
              </a:defRPr>
            </a:lvl1pPr>
          </a:lstStyle>
          <a:p>
            <a:pPr lvl="0"/>
            <a:r>
              <a:rPr lang="en-US"/>
              <a:t>Some text</a:t>
            </a:r>
          </a:p>
        </p:txBody>
      </p:sp>
    </p:spTree>
    <p:extLst>
      <p:ext uri="{BB962C8B-B14F-4D97-AF65-F5344CB8AC3E}">
        <p14:creationId xmlns:p14="http://schemas.microsoft.com/office/powerpoint/2010/main" val="4247319972"/>
      </p:ext>
    </p:extLst>
  </p:cSld>
  <p:clrMapOvr>
    <a:masterClrMapping/>
  </p:clrMapOvr>
  <p:hf hdr="0" ftr="0"/>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9593-D45D-A6A1-970C-20E2FE431E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0F6236A-F894-FD8D-8363-7BD2B7078C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E2491CF-0DBD-3C8E-2CB6-E453E19BCAC6}"/>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5" name="Footer Placeholder 4">
            <a:extLst>
              <a:ext uri="{FF2B5EF4-FFF2-40B4-BE49-F238E27FC236}">
                <a16:creationId xmlns:a16="http://schemas.microsoft.com/office/drawing/2014/main" id="{BA74CABB-7A2F-3D4E-12FF-8A540F1E73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FCE57F-17A7-DD50-7C2A-71771FA4E8E8}"/>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1752096777"/>
      </p:ext>
    </p:extLst>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635B5-C2D4-8723-7C46-7EDC1E1270F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ABD174-D8C0-5CF0-93D0-983BED8DEB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AA8913-52B8-A5ED-DA38-0A242CBB8855}"/>
              </a:ext>
            </a:extLst>
          </p:cNvPr>
          <p:cNvSpPr>
            <a:spLocks noGrp="1"/>
          </p:cNvSpPr>
          <p:nvPr>
            <p:ph type="dt" sz="half" idx="10"/>
          </p:nvPr>
        </p:nvSpPr>
        <p:spPr/>
        <p:txBody>
          <a:bodyPr/>
          <a:lstStyle/>
          <a:p>
            <a:fld id="{B71B759B-CFBE-4D7D-9839-29352F4D7D4A}" type="datetimeFigureOut">
              <a:rPr lang="en-GB" smtClean="0"/>
              <a:t>03/06/2026</a:t>
            </a:fld>
            <a:endParaRPr lang="en-GB"/>
          </a:p>
        </p:txBody>
      </p:sp>
      <p:sp>
        <p:nvSpPr>
          <p:cNvPr id="5" name="Footer Placeholder 4">
            <a:extLst>
              <a:ext uri="{FF2B5EF4-FFF2-40B4-BE49-F238E27FC236}">
                <a16:creationId xmlns:a16="http://schemas.microsoft.com/office/drawing/2014/main" id="{9C76D747-998B-2992-B751-22ED355971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34C1AB-E537-AD8A-4CAC-D1928624D733}"/>
              </a:ext>
            </a:extLst>
          </p:cNvPr>
          <p:cNvSpPr>
            <a:spLocks noGrp="1"/>
          </p:cNvSpPr>
          <p:nvPr>
            <p:ph type="sldNum" sz="quarter" idx="12"/>
          </p:nvPr>
        </p:nvSpPr>
        <p:spPr/>
        <p:txBody>
          <a:bodyPr/>
          <a:lstStyle/>
          <a:p>
            <a:fld id="{714307E8-CB61-451B-A64E-BA502D37BB8A}" type="slidenum">
              <a:rPr lang="en-GB" smtClean="0"/>
              <a:t>‹#›</a:t>
            </a:fld>
            <a:endParaRPr lang="en-GB"/>
          </a:p>
        </p:txBody>
      </p:sp>
    </p:spTree>
    <p:extLst>
      <p:ext uri="{BB962C8B-B14F-4D97-AF65-F5344CB8AC3E}">
        <p14:creationId xmlns:p14="http://schemas.microsoft.com/office/powerpoint/2010/main" val="35237359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D6B4-AEFA-0EB6-9DFA-3A04170C1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C4DF2EC-4963-E4B2-0CA1-480570AF56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132721-4666-84B7-3DC6-34AC15C04B25}"/>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5" name="Footer Placeholder 4">
            <a:extLst>
              <a:ext uri="{FF2B5EF4-FFF2-40B4-BE49-F238E27FC236}">
                <a16:creationId xmlns:a16="http://schemas.microsoft.com/office/drawing/2014/main" id="{0076DD04-4A46-E387-C7F4-ABE1DF90D2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0E7D9C-6004-96C7-4320-126A06AAEA45}"/>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1957087260"/>
      </p:ext>
    </p:extLst>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B74A8-089F-BB23-369F-C3B93BDEF1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AE96141-B815-CBF6-3A98-34260BA833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EA424E8-4164-7995-04F6-BD5E7B311E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4F05FDD-AB66-640C-2910-82D7B68F4AC1}"/>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6" name="Footer Placeholder 5">
            <a:extLst>
              <a:ext uri="{FF2B5EF4-FFF2-40B4-BE49-F238E27FC236}">
                <a16:creationId xmlns:a16="http://schemas.microsoft.com/office/drawing/2014/main" id="{C21D9B95-B1C1-48D0-7EB2-71D5B11EB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C9FD43-CA41-4E5C-05CC-59E14A4A6F54}"/>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915978371"/>
      </p:ext>
    </p:extLst>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3C599-906E-FE46-2A49-B65FBD63D18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ABBB3AE-C641-9EA0-2B08-8A966D8967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76A918-BF4D-DB12-4314-4F486F8096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B5E4D40-87B4-E23F-04F4-4ECECA2F13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CF4CC8-A03C-33D3-307A-DFCDFBD56E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FFA2914-8DC0-E3A4-A99D-8CB3B695D739}"/>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8" name="Footer Placeholder 7">
            <a:extLst>
              <a:ext uri="{FF2B5EF4-FFF2-40B4-BE49-F238E27FC236}">
                <a16:creationId xmlns:a16="http://schemas.microsoft.com/office/drawing/2014/main" id="{4D6A7FA3-26B4-19DC-8E3F-01411F663C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AE39E02-F85E-8FD2-21FB-676ECF94673E}"/>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2636963351"/>
      </p:ext>
    </p:extLst>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E8EB-391E-6805-11BA-E9EB7FBCA0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BDCC307-4C40-4554-DF58-A374798C713F}"/>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4" name="Footer Placeholder 3">
            <a:extLst>
              <a:ext uri="{FF2B5EF4-FFF2-40B4-BE49-F238E27FC236}">
                <a16:creationId xmlns:a16="http://schemas.microsoft.com/office/drawing/2014/main" id="{5CAEA6C8-DCA3-8EC8-F319-A34201E8D89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AA800F-EF9C-E50C-5FA8-AB49D86DB44B}"/>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204156423"/>
      </p:ext>
    </p:extLst>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6441E6-68F6-CABF-98DC-496A519A6F21}"/>
              </a:ext>
            </a:extLst>
          </p:cNvPr>
          <p:cNvSpPr>
            <a:spLocks noGrp="1"/>
          </p:cNvSpPr>
          <p:nvPr>
            <p:ph type="dt" sz="half" idx="10"/>
          </p:nvPr>
        </p:nvSpPr>
        <p:spPr/>
        <p:txBody>
          <a:bodyPr/>
          <a:lstStyle/>
          <a:p>
            <a:fld id="{9D0B1B1F-54CE-4BDE-A47B-34E472382A1A}" type="datetimeFigureOut">
              <a:rPr lang="en-GB" smtClean="0"/>
              <a:t>03/06/2026</a:t>
            </a:fld>
            <a:endParaRPr lang="en-GB"/>
          </a:p>
        </p:txBody>
      </p:sp>
      <p:sp>
        <p:nvSpPr>
          <p:cNvPr id="3" name="Footer Placeholder 2">
            <a:extLst>
              <a:ext uri="{FF2B5EF4-FFF2-40B4-BE49-F238E27FC236}">
                <a16:creationId xmlns:a16="http://schemas.microsoft.com/office/drawing/2014/main" id="{D910F44F-4A4E-36AF-BA3C-D46BFE8137D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6622B06-7D91-440D-0C80-FE7B51257864}"/>
              </a:ext>
            </a:extLst>
          </p:cNvPr>
          <p:cNvSpPr>
            <a:spLocks noGrp="1"/>
          </p:cNvSpPr>
          <p:nvPr>
            <p:ph type="sldNum" sz="quarter" idx="12"/>
          </p:nvPr>
        </p:nvSpPr>
        <p:spPr/>
        <p:txBody>
          <a:bodyPr/>
          <a:lstStyle/>
          <a:p>
            <a:fld id="{884085FB-6FB7-44FD-B6BF-3DC533897E41}" type="slidenum">
              <a:rPr lang="en-GB" smtClean="0"/>
              <a:t>‹#›</a:t>
            </a:fld>
            <a:endParaRPr lang="en-GB"/>
          </a:p>
        </p:txBody>
      </p:sp>
    </p:spTree>
    <p:extLst>
      <p:ext uri="{BB962C8B-B14F-4D97-AF65-F5344CB8AC3E}">
        <p14:creationId xmlns:p14="http://schemas.microsoft.com/office/powerpoint/2010/main" val="25714680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279A0-2BFE-173D-8B16-BE01F2FA26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AC697BE-43ED-5F52-4AD9-7631CAD1ED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B46C81A-694F-29F7-DA39-5178F88542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D73CFE-EBC3-C678-D1BF-BE9BC78FFC33}"/>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6" name="Footer Placeholder 5">
            <a:extLst>
              <a:ext uri="{FF2B5EF4-FFF2-40B4-BE49-F238E27FC236}">
                <a16:creationId xmlns:a16="http://schemas.microsoft.com/office/drawing/2014/main" id="{B136977D-83C4-DEA1-D4A8-8932883C49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77FEBF-7682-7BD3-8E25-6218BCF02EAB}"/>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4111904695"/>
      </p:ext>
    </p:extLst>
  </p:cSld>
  <p:clrMapOvr>
    <a:masterClrMapping/>
  </p:clrMapOvr>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F7CB9-9A68-615F-D52F-E26A236DE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D742828-50B8-D54C-B9E8-08B2D20EA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C632C0E-C89F-646D-0446-1E189AD45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C7D76-AE22-2B97-225C-4320FDA6B4CF}"/>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6" name="Footer Placeholder 5">
            <a:extLst>
              <a:ext uri="{FF2B5EF4-FFF2-40B4-BE49-F238E27FC236}">
                <a16:creationId xmlns:a16="http://schemas.microsoft.com/office/drawing/2014/main" id="{89CF80AD-0D3C-A11E-B9DF-D6CD5B623A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8B5521-1B65-4B54-7DF4-4ED00A222883}"/>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2714904044"/>
      </p:ext>
    </p:extLst>
  </p:cSld>
  <p:clrMapOvr>
    <a:masterClrMapping/>
  </p:clrMapOvr>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93662-7B45-F355-5F70-E817357A7A0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3DFB38-46A6-8C1E-5749-6BB4B2A48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136409-2DBB-1640-C1D2-3227D3E26199}"/>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5" name="Footer Placeholder 4">
            <a:extLst>
              <a:ext uri="{FF2B5EF4-FFF2-40B4-BE49-F238E27FC236}">
                <a16:creationId xmlns:a16="http://schemas.microsoft.com/office/drawing/2014/main" id="{F112E79D-1F31-6B8E-B67D-8CEB09C765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85386D-6C0B-ACEC-B2D6-71D8539365F7}"/>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1440691446"/>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CFB7A0-253A-98A1-2B44-982215DD27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45AD0D1-23B0-0E85-E247-5FEC72993D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FFA814-DC3D-133A-C744-0D7B98B465F8}"/>
              </a:ext>
            </a:extLst>
          </p:cNvPr>
          <p:cNvSpPr>
            <a:spLocks noGrp="1"/>
          </p:cNvSpPr>
          <p:nvPr>
            <p:ph type="dt" sz="half" idx="10"/>
          </p:nvPr>
        </p:nvSpPr>
        <p:spPr/>
        <p:txBody>
          <a:bodyPr/>
          <a:lstStyle/>
          <a:p>
            <a:fld id="{B47FC51B-00AB-48B9-B072-251FC8CAA49E}" type="datetimeFigureOut">
              <a:rPr lang="en-GB" smtClean="0"/>
              <a:t>03/06/2026</a:t>
            </a:fld>
            <a:endParaRPr lang="en-GB"/>
          </a:p>
        </p:txBody>
      </p:sp>
      <p:sp>
        <p:nvSpPr>
          <p:cNvPr id="5" name="Footer Placeholder 4">
            <a:extLst>
              <a:ext uri="{FF2B5EF4-FFF2-40B4-BE49-F238E27FC236}">
                <a16:creationId xmlns:a16="http://schemas.microsoft.com/office/drawing/2014/main" id="{5A45430A-6BF5-3C1E-E623-3446B6C047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8BAB5C-0988-C4D7-8A03-A502C397F508}"/>
              </a:ext>
            </a:extLst>
          </p:cNvPr>
          <p:cNvSpPr>
            <a:spLocks noGrp="1"/>
          </p:cNvSpPr>
          <p:nvPr>
            <p:ph type="sldNum" sz="quarter" idx="12"/>
          </p:nvPr>
        </p:nvSpPr>
        <p:spPr/>
        <p:txBody>
          <a:bodyPr/>
          <a:lstStyle/>
          <a:p>
            <a:fld id="{B9DA101A-7791-4CD0-9477-5E57370EA74E}" type="slidenum">
              <a:rPr lang="en-GB" smtClean="0"/>
              <a:t>‹#›</a:t>
            </a:fld>
            <a:endParaRPr lang="en-GB"/>
          </a:p>
        </p:txBody>
      </p:sp>
    </p:spTree>
    <p:extLst>
      <p:ext uri="{BB962C8B-B14F-4D97-AF65-F5344CB8AC3E}">
        <p14:creationId xmlns:p14="http://schemas.microsoft.com/office/powerpoint/2010/main" val="1837143345"/>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3_3+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D9CB8C-8B87-564C-976B-8ADA7C7F2622}"/>
              </a:ext>
            </a:extLst>
          </p:cNvPr>
          <p:cNvSpPr>
            <a:spLocks noGrp="1"/>
          </p:cNvSpPr>
          <p:nvPr>
            <p:ph type="title" hasCustomPrompt="1"/>
          </p:nvPr>
        </p:nvSpPr>
        <p:spPr>
          <a:xfrm>
            <a:off x="3359149" y="391531"/>
            <a:ext cx="6485891" cy="996280"/>
          </a:xfrm>
        </p:spPr>
        <p:txBody>
          <a:bodyPr>
            <a:normAutofit/>
          </a:bodyPr>
          <a:lstStyle>
            <a:lvl1pPr>
              <a:defRPr sz="3000">
                <a:latin typeface="+mj-lt"/>
              </a:defRPr>
            </a:lvl1pPr>
          </a:lstStyle>
          <a:p>
            <a:r>
              <a:rPr lang="en-US"/>
              <a:t>Click to edit master </a:t>
            </a:r>
            <a:br>
              <a:rPr lang="en-US"/>
            </a:br>
            <a:r>
              <a:rPr lang="en-US"/>
              <a:t>title style</a:t>
            </a:r>
          </a:p>
        </p:txBody>
      </p:sp>
      <p:sp>
        <p:nvSpPr>
          <p:cNvPr id="11" name="Content Placeholder 2">
            <a:extLst>
              <a:ext uri="{FF2B5EF4-FFF2-40B4-BE49-F238E27FC236}">
                <a16:creationId xmlns:a16="http://schemas.microsoft.com/office/drawing/2014/main" id="{91251169-F489-A842-A8BE-DD755047FC48}"/>
              </a:ext>
            </a:extLst>
          </p:cNvPr>
          <p:cNvSpPr>
            <a:spLocks noGrp="1"/>
          </p:cNvSpPr>
          <p:nvPr>
            <p:ph idx="1" hasCustomPrompt="1"/>
          </p:nvPr>
        </p:nvSpPr>
        <p:spPr>
          <a:xfrm>
            <a:off x="400061" y="2819402"/>
            <a:ext cx="2491890" cy="3813174"/>
          </a:xfrm>
        </p:spPr>
        <p:txBody>
          <a:bodyPr lIns="0" tIns="0" rIns="0" bIns="0"/>
          <a:lstStyle>
            <a:lvl1pPr marL="0" indent="0">
              <a:spcBef>
                <a:spcPts val="0"/>
              </a:spcBef>
              <a:buNone/>
              <a:defRPr sz="1050" b="0" baseline="0">
                <a:solidFill>
                  <a:schemeClr val="tx1"/>
                </a:solidFill>
                <a:latin typeface="+mn-lt"/>
              </a:defRPr>
            </a:lvl1pPr>
          </a:lstStyle>
          <a:p>
            <a:pPr lvl="0"/>
            <a:r>
              <a:rPr lang="en-US"/>
              <a:t>Some text</a:t>
            </a:r>
          </a:p>
        </p:txBody>
      </p:sp>
      <p:sp>
        <p:nvSpPr>
          <p:cNvPr id="15" name="Content Placeholder 2">
            <a:extLst>
              <a:ext uri="{FF2B5EF4-FFF2-40B4-BE49-F238E27FC236}">
                <a16:creationId xmlns:a16="http://schemas.microsoft.com/office/drawing/2014/main" id="{A2BA0126-3A9A-ED4F-84BE-AC0145A95E07}"/>
              </a:ext>
            </a:extLst>
          </p:cNvPr>
          <p:cNvSpPr>
            <a:spLocks noGrp="1"/>
          </p:cNvSpPr>
          <p:nvPr>
            <p:ph idx="13" hasCustomPrompt="1"/>
          </p:nvPr>
        </p:nvSpPr>
        <p:spPr>
          <a:xfrm>
            <a:off x="9532566" y="1277095"/>
            <a:ext cx="2286001" cy="4368800"/>
          </a:xfrm>
        </p:spPr>
        <p:txBody>
          <a:bodyPr lIns="0" tIns="0" rIns="0" bIns="0"/>
          <a:lstStyle>
            <a:lvl1pPr marL="0" indent="0">
              <a:spcBef>
                <a:spcPts val="0"/>
              </a:spcBef>
              <a:buNone/>
              <a:defRPr sz="1050" b="0" baseline="0">
                <a:latin typeface="+mj-lt"/>
              </a:defRPr>
            </a:lvl1pPr>
          </a:lstStyle>
          <a:p>
            <a:pPr lvl="0"/>
            <a:r>
              <a:rPr lang="en-US"/>
              <a:t>Some text</a:t>
            </a:r>
          </a:p>
        </p:txBody>
      </p:sp>
      <p:sp>
        <p:nvSpPr>
          <p:cNvPr id="16" name="Content Placeholder 2">
            <a:extLst>
              <a:ext uri="{FF2B5EF4-FFF2-40B4-BE49-F238E27FC236}">
                <a16:creationId xmlns:a16="http://schemas.microsoft.com/office/drawing/2014/main" id="{504981BC-AA9E-1942-A275-CED75D6F9520}"/>
              </a:ext>
            </a:extLst>
          </p:cNvPr>
          <p:cNvSpPr>
            <a:spLocks noGrp="1"/>
          </p:cNvSpPr>
          <p:nvPr>
            <p:ph idx="14" hasCustomPrompt="1"/>
          </p:nvPr>
        </p:nvSpPr>
        <p:spPr>
          <a:xfrm>
            <a:off x="6420402" y="1128299"/>
            <a:ext cx="2743055" cy="4483100"/>
          </a:xfrm>
        </p:spPr>
        <p:txBody>
          <a:bodyPr lIns="0" tIns="0" rIns="0" bIns="0"/>
          <a:lstStyle>
            <a:lvl1pPr marL="0" indent="0">
              <a:spcBef>
                <a:spcPts val="0"/>
              </a:spcBef>
              <a:buNone/>
              <a:defRPr sz="1050" b="0" baseline="0">
                <a:solidFill>
                  <a:schemeClr val="tx1"/>
                </a:solidFill>
                <a:latin typeface="+mn-lt"/>
              </a:defRPr>
            </a:lvl1pPr>
          </a:lstStyle>
          <a:p>
            <a:pPr lvl="0"/>
            <a:r>
              <a:rPr lang="en-US"/>
              <a:t>Some text</a:t>
            </a:r>
          </a:p>
        </p:txBody>
      </p:sp>
      <p:sp>
        <p:nvSpPr>
          <p:cNvPr id="17" name="Content Placeholder 2">
            <a:extLst>
              <a:ext uri="{FF2B5EF4-FFF2-40B4-BE49-F238E27FC236}">
                <a16:creationId xmlns:a16="http://schemas.microsoft.com/office/drawing/2014/main" id="{896E0F1A-15BA-BA4A-A646-41E92E6E5CC2}"/>
              </a:ext>
            </a:extLst>
          </p:cNvPr>
          <p:cNvSpPr>
            <a:spLocks noGrp="1"/>
          </p:cNvSpPr>
          <p:nvPr>
            <p:ph idx="15" hasCustomPrompt="1"/>
          </p:nvPr>
        </p:nvSpPr>
        <p:spPr>
          <a:xfrm>
            <a:off x="3363224" y="1128299"/>
            <a:ext cx="2741078" cy="4483100"/>
          </a:xfrm>
        </p:spPr>
        <p:txBody>
          <a:bodyPr lIns="0" tIns="0" rIns="0" bIns="0"/>
          <a:lstStyle>
            <a:lvl1pPr marL="0" indent="0">
              <a:spcBef>
                <a:spcPts val="0"/>
              </a:spcBef>
              <a:buNone/>
              <a:defRPr sz="1050" b="0" baseline="0">
                <a:solidFill>
                  <a:schemeClr val="tx1"/>
                </a:solidFill>
                <a:latin typeface="+mn-lt"/>
              </a:defRPr>
            </a:lvl1pPr>
          </a:lstStyle>
          <a:p>
            <a:pPr lvl="0"/>
            <a:r>
              <a:rPr lang="en-US"/>
              <a:t>Some text</a:t>
            </a:r>
          </a:p>
        </p:txBody>
      </p:sp>
    </p:spTree>
    <p:extLst>
      <p:ext uri="{BB962C8B-B14F-4D97-AF65-F5344CB8AC3E}">
        <p14:creationId xmlns:p14="http://schemas.microsoft.com/office/powerpoint/2010/main" val="3317286743"/>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generic">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BD6F1B2-2F38-2B4F-84C4-4E33DCDBE4FB}"/>
              </a:ext>
            </a:extLst>
          </p:cNvPr>
          <p:cNvSpPr/>
          <p:nvPr userDrawn="1"/>
        </p:nvSpPr>
        <p:spPr>
          <a:xfrm>
            <a:off x="-1" y="0"/>
            <a:ext cx="3096000" cy="6858000"/>
          </a:xfrm>
          <a:prstGeom prst="rect">
            <a:avLst/>
          </a:prstGeom>
          <a:gradFill flip="none" rotWithShape="1">
            <a:gsLst>
              <a:gs pos="36000">
                <a:srgbClr val="8C5EAA"/>
              </a:gs>
              <a:gs pos="0">
                <a:schemeClr val="accent3"/>
              </a:gs>
              <a:gs pos="74000">
                <a:schemeClr val="accent3"/>
              </a:gs>
              <a:gs pos="100000">
                <a:srgbClr val="26003E"/>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6" name="Rectangle 5">
            <a:extLst>
              <a:ext uri="{FF2B5EF4-FFF2-40B4-BE49-F238E27FC236}">
                <a16:creationId xmlns:a16="http://schemas.microsoft.com/office/drawing/2014/main" id="{E3BB5F3A-065A-044F-B16D-831185FB6469}"/>
              </a:ext>
            </a:extLst>
          </p:cNvPr>
          <p:cNvSpPr/>
          <p:nvPr userDrawn="1"/>
        </p:nvSpPr>
        <p:spPr>
          <a:xfrm>
            <a:off x="6070600" y="0"/>
            <a:ext cx="3079377" cy="6858000"/>
          </a:xfrm>
          <a:prstGeom prst="rect">
            <a:avLst/>
          </a:prstGeom>
          <a:gradFill flip="none" rotWithShape="1">
            <a:gsLst>
              <a:gs pos="53000">
                <a:schemeClr val="bg1">
                  <a:lumMod val="95000"/>
                </a:schemeClr>
              </a:gs>
              <a:gs pos="100000">
                <a:srgbClr val="D5DEE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sp>
        <p:nvSpPr>
          <p:cNvPr id="9" name="Rectangle 8">
            <a:extLst>
              <a:ext uri="{FF2B5EF4-FFF2-40B4-BE49-F238E27FC236}">
                <a16:creationId xmlns:a16="http://schemas.microsoft.com/office/drawing/2014/main" id="{14742BF7-7A9D-CE4A-8BB6-71DF438E9511}"/>
              </a:ext>
            </a:extLst>
          </p:cNvPr>
          <p:cNvSpPr/>
          <p:nvPr userDrawn="1"/>
        </p:nvSpPr>
        <p:spPr>
          <a:xfrm>
            <a:off x="9123082" y="0"/>
            <a:ext cx="3079377" cy="685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p>
        </p:txBody>
      </p:sp>
      <p:pic>
        <p:nvPicPr>
          <p:cNvPr id="10" name="Picture 9" descr="A picture containing drawing&#10;&#10;Description automatically generated">
            <a:extLst>
              <a:ext uri="{FF2B5EF4-FFF2-40B4-BE49-F238E27FC236}">
                <a16:creationId xmlns:a16="http://schemas.microsoft.com/office/drawing/2014/main" id="{65DB65B3-C067-BE49-B48C-6EB91AD53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5396" y="6053734"/>
            <a:ext cx="1361581" cy="359612"/>
          </a:xfrm>
          <a:prstGeom prst="rect">
            <a:avLst/>
          </a:prstGeom>
        </p:spPr>
      </p:pic>
      <p:sp>
        <p:nvSpPr>
          <p:cNvPr id="62" name="Picture Placeholder 61">
            <a:extLst>
              <a:ext uri="{FF2B5EF4-FFF2-40B4-BE49-F238E27FC236}">
                <a16:creationId xmlns:a16="http://schemas.microsoft.com/office/drawing/2014/main" id="{37CD31C1-72E2-934E-8E0F-4B67B5E7408E}"/>
              </a:ext>
            </a:extLst>
          </p:cNvPr>
          <p:cNvSpPr>
            <a:spLocks noGrp="1"/>
          </p:cNvSpPr>
          <p:nvPr>
            <p:ph type="pic" sz="quarter" idx="10"/>
          </p:nvPr>
        </p:nvSpPr>
        <p:spPr>
          <a:xfrm>
            <a:off x="-1" y="455805"/>
            <a:ext cx="3096000" cy="2340000"/>
          </a:xfrm>
          <a:prstGeom prst="rect">
            <a:avLst/>
          </a:prstGeom>
        </p:spPr>
        <p:txBody>
          <a:bodyPr/>
          <a:lstStyle/>
          <a:p>
            <a:endParaRPr lang="en-GB"/>
          </a:p>
        </p:txBody>
      </p:sp>
    </p:spTree>
    <p:extLst>
      <p:ext uri="{BB962C8B-B14F-4D97-AF65-F5344CB8AC3E}">
        <p14:creationId xmlns:p14="http://schemas.microsoft.com/office/powerpoint/2010/main" val="742287517"/>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able and copy">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59552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Text Placeholder 8"/>
          <p:cNvSpPr>
            <a:spLocks noGrp="1"/>
          </p:cNvSpPr>
          <p:nvPr>
            <p:ph type="body" sz="quarter" idx="12"/>
          </p:nvPr>
        </p:nvSpPr>
        <p:spPr>
          <a:xfrm>
            <a:off x="507141" y="1427164"/>
            <a:ext cx="11186191" cy="4668837"/>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754579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18">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3_Editable CV Template">
    <p:spTree>
      <p:nvGrpSpPr>
        <p:cNvPr id="1" name=""/>
        <p:cNvGrpSpPr/>
        <p:nvPr/>
      </p:nvGrpSpPr>
      <p:grpSpPr>
        <a:xfrm>
          <a:off x="0" y="0"/>
          <a:ext cx="0" cy="0"/>
          <a:chOff x="0" y="0"/>
          <a:chExt cx="0" cy="0"/>
        </a:xfrm>
      </p:grpSpPr>
      <p:sp>
        <p:nvSpPr>
          <p:cNvPr id="86" name="Picture Placeholder 85">
            <a:extLst>
              <a:ext uri="{FF2B5EF4-FFF2-40B4-BE49-F238E27FC236}">
                <a16:creationId xmlns:a16="http://schemas.microsoft.com/office/drawing/2014/main" id="{FF1B80EF-0657-1242-A108-73DD3ADB68F3}"/>
              </a:ext>
            </a:extLst>
          </p:cNvPr>
          <p:cNvSpPr>
            <a:spLocks noGrp="1"/>
          </p:cNvSpPr>
          <p:nvPr userDrawn="1">
            <p:ph type="pic" sz="quarter" idx="41"/>
          </p:nvPr>
        </p:nvSpPr>
        <p:spPr>
          <a:xfrm>
            <a:off x="1515977" y="971601"/>
            <a:ext cx="1147709" cy="1147709"/>
          </a:xfrm>
          <a:prstGeom prst="ellipse">
            <a:avLst/>
          </a:prstGeom>
          <a:noFill/>
          <a:ln w="38100">
            <a:solidFill>
              <a:schemeClr val="bg1"/>
            </a:solidFill>
          </a:ln>
        </p:spPr>
        <p:txBody>
          <a:bodyPr anchor="ctr" anchorCtr="0"/>
          <a:lstStyle>
            <a:lvl1pPr marL="0" indent="0" algn="ctr">
              <a:buNone/>
              <a:defRPr sz="1400">
                <a:solidFill>
                  <a:schemeClr val="accent6"/>
                </a:solidFill>
                <a:latin typeface="Verdana" panose="020B0604030504040204" pitchFamily="34" charset="0"/>
                <a:ea typeface="Verdana" panose="020B0604030504040204" pitchFamily="34" charset="0"/>
                <a:cs typeface="Verdana" panose="020B0604030504040204" pitchFamily="34" charset="0"/>
              </a:defRPr>
            </a:lvl1pPr>
          </a:lstStyle>
          <a:p>
            <a:endParaRPr lang="en-US" dirty="0"/>
          </a:p>
        </p:txBody>
      </p:sp>
      <p:sp>
        <p:nvSpPr>
          <p:cNvPr id="16" name="Text Placeholder 10">
            <a:extLst>
              <a:ext uri="{FF2B5EF4-FFF2-40B4-BE49-F238E27FC236}">
                <a16:creationId xmlns:a16="http://schemas.microsoft.com/office/drawing/2014/main" id="{CCD5F33C-F359-BA4D-9A05-0EA4026AC0C3}"/>
              </a:ext>
            </a:extLst>
          </p:cNvPr>
          <p:cNvSpPr txBox="1">
            <a:spLocks/>
          </p:cNvSpPr>
          <p:nvPr userDrawn="1"/>
        </p:nvSpPr>
        <p:spPr>
          <a:xfrm>
            <a:off x="4441462" y="317343"/>
            <a:ext cx="2352675" cy="1789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000"/>
              </a:spcBef>
              <a:buFont typeface="Arial" panose="020B0604020202020204" pitchFamily="34" charset="0"/>
              <a:buNone/>
            </a:pPr>
            <a:r>
              <a:rPr lang="en-GB" sz="1050" b="1" i="0" kern="1200" dirty="0">
                <a:solidFill>
                  <a:schemeClr val="bg1"/>
                </a:solidFill>
                <a:latin typeface="Source Sans Pro" panose="020B0503030403020204" pitchFamily="34" charset="0"/>
                <a:ea typeface="Source Sans Pro" panose="020B0503030403020204" pitchFamily="34" charset="0"/>
                <a:cs typeface="Arial" panose="020B0604020202020204" pitchFamily="34" charset="0"/>
              </a:rPr>
              <a:t>HIGHLIGHTS</a:t>
            </a:r>
            <a:endParaRPr lang="en-US" sz="1050" b="1" i="0" kern="1200" dirty="0">
              <a:solidFill>
                <a:schemeClr val="bg1"/>
              </a:solidFill>
              <a:latin typeface="Source Sans Pro" panose="020B0503030403020204" pitchFamily="34" charset="0"/>
              <a:ea typeface="Source Sans Pro" panose="020B0503030403020204" pitchFamily="34" charset="0"/>
              <a:cs typeface="Arial" panose="020B0604020202020204" pitchFamily="34" charset="0"/>
            </a:endParaRPr>
          </a:p>
        </p:txBody>
      </p:sp>
      <p:sp>
        <p:nvSpPr>
          <p:cNvPr id="17" name="Text Placeholder 10">
            <a:extLst>
              <a:ext uri="{FF2B5EF4-FFF2-40B4-BE49-F238E27FC236}">
                <a16:creationId xmlns:a16="http://schemas.microsoft.com/office/drawing/2014/main" id="{DBAD9AA9-7D9A-1648-9AA3-5813E29D003A}"/>
              </a:ext>
            </a:extLst>
          </p:cNvPr>
          <p:cNvSpPr txBox="1">
            <a:spLocks/>
          </p:cNvSpPr>
          <p:nvPr userDrawn="1"/>
        </p:nvSpPr>
        <p:spPr>
          <a:xfrm>
            <a:off x="6932414" y="317343"/>
            <a:ext cx="2352675" cy="1789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b="1" i="0" dirty="0">
                <a:latin typeface="Source Sans Pro" panose="020B0503030403020204" pitchFamily="34" charset="0"/>
                <a:ea typeface="Source Sans Pro" panose="020B0503030403020204" pitchFamily="34" charset="0"/>
              </a:rPr>
              <a:t>CAREER HISTORY</a:t>
            </a:r>
          </a:p>
        </p:txBody>
      </p:sp>
      <p:sp>
        <p:nvSpPr>
          <p:cNvPr id="18" name="Text Placeholder 10">
            <a:extLst>
              <a:ext uri="{FF2B5EF4-FFF2-40B4-BE49-F238E27FC236}">
                <a16:creationId xmlns:a16="http://schemas.microsoft.com/office/drawing/2014/main" id="{31489835-4AAF-5440-B00F-10460A7255EA}"/>
              </a:ext>
            </a:extLst>
          </p:cNvPr>
          <p:cNvSpPr txBox="1">
            <a:spLocks/>
          </p:cNvSpPr>
          <p:nvPr userDrawn="1"/>
        </p:nvSpPr>
        <p:spPr>
          <a:xfrm>
            <a:off x="9412856" y="317343"/>
            <a:ext cx="2352675" cy="1789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b="1" i="0">
                <a:latin typeface="Source Sans Pro" panose="020B0503030403020204" pitchFamily="34" charset="0"/>
                <a:ea typeface="Source Sans Pro" panose="020B0503030403020204" pitchFamily="34" charset="0"/>
              </a:rPr>
              <a:t>SKILLS</a:t>
            </a:r>
            <a:endParaRPr lang="en-US" sz="1050" b="1" i="0" dirty="0">
              <a:latin typeface="Source Sans Pro" panose="020B0503030403020204" pitchFamily="34" charset="0"/>
              <a:ea typeface="Source Sans Pro" panose="020B0503030403020204" pitchFamily="34" charset="0"/>
            </a:endParaRPr>
          </a:p>
        </p:txBody>
      </p:sp>
      <p:sp>
        <p:nvSpPr>
          <p:cNvPr id="56" name="Title 1">
            <a:extLst>
              <a:ext uri="{FF2B5EF4-FFF2-40B4-BE49-F238E27FC236}">
                <a16:creationId xmlns:a16="http://schemas.microsoft.com/office/drawing/2014/main" id="{7E10CADA-5BAC-4949-B1A5-0C5EED964C6C}"/>
              </a:ext>
            </a:extLst>
          </p:cNvPr>
          <p:cNvSpPr>
            <a:spLocks noGrp="1"/>
          </p:cNvSpPr>
          <p:nvPr userDrawn="1">
            <p:ph type="title" hasCustomPrompt="1"/>
          </p:nvPr>
        </p:nvSpPr>
        <p:spPr>
          <a:xfrm>
            <a:off x="353069" y="179126"/>
            <a:ext cx="3462338" cy="489842"/>
          </a:xfrm>
          <a:prstGeom prst="rect">
            <a:avLst/>
          </a:prstGeom>
        </p:spPr>
        <p:txBody>
          <a:bodyPr/>
          <a:lstStyle>
            <a:lvl1pPr algn="ctr">
              <a:defRPr sz="2400">
                <a:solidFill>
                  <a:schemeClr val="bg1"/>
                </a:solidFill>
                <a:latin typeface="Source Sans Pro" panose="020B0503030403020204" pitchFamily="34" charset="0"/>
                <a:ea typeface="Source Sans Pro" panose="020B0503030403020204" pitchFamily="34" charset="0"/>
                <a:cs typeface="Verdana" panose="020B0604030504040204" pitchFamily="34" charset="0"/>
              </a:defRPr>
            </a:lvl1pPr>
          </a:lstStyle>
          <a:p>
            <a:pPr>
              <a:lnSpc>
                <a:spcPct val="100000"/>
              </a:lnSpc>
            </a:pPr>
            <a:r>
              <a:rPr lang="en-GB" sz="2400" dirty="0">
                <a:latin typeface="Source Sans Pro" panose="020B0503030403020204" pitchFamily="34" charset="0"/>
                <a:ea typeface="Source Sans Pro" panose="020B0503030403020204" pitchFamily="34" charset="0"/>
              </a:rPr>
              <a:t>Name Surname</a:t>
            </a:r>
            <a:endParaRPr lang="en-US" sz="2400" dirty="0">
              <a:latin typeface="Source Sans Pro" panose="020B0503030403020204" pitchFamily="34" charset="0"/>
              <a:ea typeface="Source Sans Pro" panose="020B0503030403020204" pitchFamily="34" charset="0"/>
            </a:endParaRPr>
          </a:p>
        </p:txBody>
      </p:sp>
      <p:sp>
        <p:nvSpPr>
          <p:cNvPr id="57" name="Text Placeholder 35">
            <a:extLst>
              <a:ext uri="{FF2B5EF4-FFF2-40B4-BE49-F238E27FC236}">
                <a16:creationId xmlns:a16="http://schemas.microsoft.com/office/drawing/2014/main" id="{622D280E-956B-B549-9DF7-F132834C6439}"/>
              </a:ext>
            </a:extLst>
          </p:cNvPr>
          <p:cNvSpPr>
            <a:spLocks noGrp="1"/>
          </p:cNvSpPr>
          <p:nvPr userDrawn="1">
            <p:ph type="body" sz="quarter" idx="10" hasCustomPrompt="1"/>
          </p:nvPr>
        </p:nvSpPr>
        <p:spPr>
          <a:xfrm>
            <a:off x="353580" y="548331"/>
            <a:ext cx="3462338" cy="279400"/>
          </a:xfrm>
          <a:prstGeom prst="rect">
            <a:avLst/>
          </a:prstGeom>
        </p:spPr>
        <p:txBody>
          <a:bodyPr/>
          <a:lstStyle>
            <a:lvl1pPr marL="0" indent="0" algn="ctr">
              <a:buNone/>
              <a:defRPr sz="1600">
                <a:solidFill>
                  <a:schemeClr val="bg1"/>
                </a:solidFill>
                <a:latin typeface="Source Sans Pro" panose="020B0503030403020204" pitchFamily="34" charset="0"/>
                <a:ea typeface="Source Sans Pro" panose="020B0503030403020204" pitchFamily="34" charset="0"/>
                <a:cs typeface="Verdana" panose="020B0604030504040204" pitchFamily="34" charset="0"/>
              </a:defRPr>
            </a:lvl1pPr>
            <a:lvl2pPr marL="4572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a:lnSpc>
                <a:spcPct val="100000"/>
              </a:lnSpc>
            </a:pPr>
            <a:r>
              <a:rPr lang="en-GB" sz="1600" dirty="0">
                <a:latin typeface="Source Sans Pro" panose="020B0503030403020204" pitchFamily="34" charset="0"/>
                <a:ea typeface="Source Sans Pro" panose="020B0503030403020204" pitchFamily="34" charset="0"/>
              </a:rPr>
              <a:t>Your Role at </a:t>
            </a:r>
            <a:r>
              <a:rPr lang="en-GB" sz="1600" dirty="0" err="1">
                <a:latin typeface="Source Sans Pro" panose="020B0503030403020204" pitchFamily="34" charset="0"/>
                <a:ea typeface="Source Sans Pro" panose="020B0503030403020204" pitchFamily="34" charset="0"/>
              </a:rPr>
              <a:t>Mudano</a:t>
            </a:r>
            <a:endParaRPr lang="en-GB" sz="1600" dirty="0">
              <a:latin typeface="Source Sans Pro" panose="020B0503030403020204" pitchFamily="34" charset="0"/>
              <a:ea typeface="Source Sans Pro" panose="020B0503030403020204" pitchFamily="34" charset="0"/>
            </a:endParaRPr>
          </a:p>
        </p:txBody>
      </p:sp>
      <p:sp>
        <p:nvSpPr>
          <p:cNvPr id="58" name="Text Placeholder 35">
            <a:extLst>
              <a:ext uri="{FF2B5EF4-FFF2-40B4-BE49-F238E27FC236}">
                <a16:creationId xmlns:a16="http://schemas.microsoft.com/office/drawing/2014/main" id="{A45E7916-67CA-4D4B-879C-0019315CDD47}"/>
              </a:ext>
            </a:extLst>
          </p:cNvPr>
          <p:cNvSpPr>
            <a:spLocks noGrp="1"/>
          </p:cNvSpPr>
          <p:nvPr userDrawn="1">
            <p:ph type="body" sz="quarter" idx="11" hasCustomPrompt="1"/>
          </p:nvPr>
        </p:nvSpPr>
        <p:spPr>
          <a:xfrm>
            <a:off x="353580" y="2228514"/>
            <a:ext cx="3462338" cy="279400"/>
          </a:xfrm>
          <a:prstGeom prst="rect">
            <a:avLst/>
          </a:prstGeom>
        </p:spPr>
        <p:txBody>
          <a:bodyPr/>
          <a:lstStyle>
            <a:lvl1pPr marL="0" indent="0" algn="ctr">
              <a:buNone/>
              <a:defRPr sz="1200">
                <a:solidFill>
                  <a:schemeClr val="bg1"/>
                </a:solidFill>
                <a:latin typeface="Source Sans Pro" panose="020B0503030403020204" pitchFamily="34" charset="0"/>
                <a:ea typeface="Source Sans Pro" panose="020B0503030403020204" pitchFamily="34" charset="0"/>
                <a:cs typeface="Verdana" panose="020B0604030504040204" pitchFamily="34" charset="0"/>
              </a:defRPr>
            </a:lvl1pPr>
            <a:lvl2pPr marL="4572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a:lnSpc>
                <a:spcPct val="100000"/>
              </a:lnSpc>
            </a:pPr>
            <a:r>
              <a:rPr lang="en-GB" sz="1200" dirty="0" err="1">
                <a:latin typeface="Source Sans Pro" panose="020B0503030403020204" pitchFamily="34" charset="0"/>
                <a:ea typeface="Source Sans Pro" panose="020B0503030403020204" pitchFamily="34" charset="0"/>
              </a:rPr>
              <a:t>name.surname@mudano.com</a:t>
            </a:r>
            <a:endParaRPr lang="en-GB" sz="1200" dirty="0">
              <a:latin typeface="Source Sans Pro" panose="020B0503030403020204" pitchFamily="34" charset="0"/>
              <a:ea typeface="Source Sans Pro" panose="020B0503030403020204" pitchFamily="34" charset="0"/>
            </a:endParaRPr>
          </a:p>
        </p:txBody>
      </p:sp>
      <p:sp>
        <p:nvSpPr>
          <p:cNvPr id="59" name="Text Placeholder 3">
            <a:extLst>
              <a:ext uri="{FF2B5EF4-FFF2-40B4-BE49-F238E27FC236}">
                <a16:creationId xmlns:a16="http://schemas.microsoft.com/office/drawing/2014/main" id="{7C3606A8-24DF-B74E-8DCB-01F57F5B0ACF}"/>
              </a:ext>
            </a:extLst>
          </p:cNvPr>
          <p:cNvSpPr>
            <a:spLocks noGrp="1"/>
          </p:cNvSpPr>
          <p:nvPr userDrawn="1">
            <p:ph type="body" sz="quarter" idx="42" hasCustomPrompt="1"/>
          </p:nvPr>
        </p:nvSpPr>
        <p:spPr>
          <a:xfrm>
            <a:off x="4438418" y="630848"/>
            <a:ext cx="2361910" cy="1728403"/>
          </a:xfrm>
          <a:prstGeom prst="rect">
            <a:avLst/>
          </a:prstGeom>
        </p:spPr>
        <p:txBody>
          <a:bodyPr/>
          <a:lstStyle>
            <a:lvl1pPr marL="0" indent="0">
              <a:lnSpc>
                <a:spcPct val="90000"/>
              </a:lnSpc>
              <a:buClr>
                <a:schemeClr val="bg1"/>
              </a:buClr>
              <a:buFont typeface="Arial" panose="020B0604020202020204" pitchFamily="34" charset="0"/>
              <a:buNone/>
              <a:defRPr sz="1050">
                <a:solidFill>
                  <a:schemeClr val="bg1"/>
                </a:solidFill>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Single sentences (past tense) describing top projects </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Enhanced and implemented an artificial intelligence product utilised for contract analysis</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Established delivery approach and plan for risk solution that covered 20 countries and 100 portfolios</a:t>
            </a:r>
          </a:p>
          <a:p>
            <a:pPr lvl="0"/>
            <a:endParaRPr lang="en-US" dirty="0"/>
          </a:p>
        </p:txBody>
      </p:sp>
      <p:sp>
        <p:nvSpPr>
          <p:cNvPr id="60" name="Text Placeholder 3">
            <a:extLst>
              <a:ext uri="{FF2B5EF4-FFF2-40B4-BE49-F238E27FC236}">
                <a16:creationId xmlns:a16="http://schemas.microsoft.com/office/drawing/2014/main" id="{B3A7FC20-318E-1A4A-9070-22D653034B86}"/>
              </a:ext>
            </a:extLst>
          </p:cNvPr>
          <p:cNvSpPr>
            <a:spLocks noGrp="1"/>
          </p:cNvSpPr>
          <p:nvPr userDrawn="1">
            <p:ph type="body" sz="quarter" idx="43" hasCustomPrompt="1"/>
          </p:nvPr>
        </p:nvSpPr>
        <p:spPr>
          <a:xfrm>
            <a:off x="6937735" y="630848"/>
            <a:ext cx="2361910" cy="1728403"/>
          </a:xfrm>
          <a:prstGeom prst="rect">
            <a:avLst/>
          </a:prstGeom>
        </p:spPr>
        <p:txBody>
          <a:bodyPr/>
          <a:lstStyle>
            <a:lvl1pPr marL="0" indent="0">
              <a:lnSpc>
                <a:spcPct val="90000"/>
              </a:lnSpc>
              <a:buClr>
                <a:schemeClr val="bg1"/>
              </a:buClr>
              <a:buFont typeface="Arial" panose="020B0604020202020204" pitchFamily="34" charset="0"/>
              <a:buNone/>
              <a:defRPr sz="1050">
                <a:solidFill>
                  <a:schemeClr val="bg1"/>
                </a:solidFill>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Companies/roles you have worked at that you want to include and any qualifications. </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e.g. </a:t>
            </a:r>
            <a:r>
              <a:rPr lang="en-GB" sz="1050" dirty="0" err="1">
                <a:latin typeface="Source Sans Pro" panose="020B0503030403020204" pitchFamily="34" charset="0"/>
                <a:ea typeface="Source Sans Pro" panose="020B0503030403020204" pitchFamily="34" charset="0"/>
              </a:rPr>
              <a:t>Mudano</a:t>
            </a:r>
            <a:r>
              <a:rPr lang="en-GB" sz="1050" dirty="0">
                <a:latin typeface="Source Sans Pro" panose="020B0503030403020204" pitchFamily="34" charset="0"/>
                <a:ea typeface="Source Sans Pro" panose="020B0503030403020204" pitchFamily="34" charset="0"/>
              </a:rPr>
              <a:t>, Delivery Manager</a:t>
            </a:r>
          </a:p>
          <a:p>
            <a:pPr marL="0" indent="0">
              <a:lnSpc>
                <a:spcPct val="100000"/>
              </a:lnSpc>
              <a:buFont typeface="Arial" panose="020B0604020202020204" pitchFamily="34" charset="0"/>
              <a:buNone/>
              <a:defRPr/>
            </a:pPr>
            <a:r>
              <a:rPr lang="en-GB" sz="1050" dirty="0">
                <a:latin typeface="Source Sans Pro" panose="020B0503030403020204" pitchFamily="34" charset="0"/>
                <a:ea typeface="Source Sans Pro" panose="020B0503030403020204" pitchFamily="34" charset="0"/>
              </a:rPr>
              <a:t>British Airways, Advanced Analytics and OR Consultant</a:t>
            </a:r>
          </a:p>
          <a:p>
            <a:pPr marL="0" indent="0">
              <a:lnSpc>
                <a:spcPct val="100000"/>
              </a:lnSpc>
              <a:buFont typeface="Arial" panose="020B0604020202020204" pitchFamily="34" charset="0"/>
              <a:buNone/>
              <a:defRPr/>
            </a:pPr>
            <a:r>
              <a:rPr lang="en-US" sz="1050" dirty="0">
                <a:latin typeface="Source Sans Pro" panose="020B0503030403020204" pitchFamily="34" charset="0"/>
                <a:ea typeface="Source Sans Pro" panose="020B0503030403020204" pitchFamily="34" charset="0"/>
              </a:rPr>
              <a:t>EY (Ernst &amp; Young Global Limited), </a:t>
            </a:r>
            <a:br>
              <a:rPr lang="en-US" sz="1050" dirty="0">
                <a:latin typeface="Source Sans Pro" panose="020B0503030403020204" pitchFamily="34" charset="0"/>
                <a:ea typeface="Source Sans Pro" panose="020B0503030403020204" pitchFamily="34" charset="0"/>
              </a:rPr>
            </a:br>
            <a:r>
              <a:rPr lang="en-US" sz="1050" dirty="0">
                <a:latin typeface="Source Sans Pro" panose="020B0503030403020204" pitchFamily="34" charset="0"/>
                <a:ea typeface="Source Sans Pro" panose="020B0503030403020204" pitchFamily="34" charset="0"/>
              </a:rPr>
              <a:t>Senior Manager, Data and Analytics</a:t>
            </a:r>
          </a:p>
          <a:p>
            <a:pPr lvl="0"/>
            <a:endParaRPr lang="en-US" dirty="0"/>
          </a:p>
        </p:txBody>
      </p:sp>
      <p:sp>
        <p:nvSpPr>
          <p:cNvPr id="61" name="Text Placeholder 3">
            <a:extLst>
              <a:ext uri="{FF2B5EF4-FFF2-40B4-BE49-F238E27FC236}">
                <a16:creationId xmlns:a16="http://schemas.microsoft.com/office/drawing/2014/main" id="{68172C5E-7682-8343-B6E9-E551F4DE24C9}"/>
              </a:ext>
            </a:extLst>
          </p:cNvPr>
          <p:cNvSpPr>
            <a:spLocks noGrp="1"/>
          </p:cNvSpPr>
          <p:nvPr userDrawn="1">
            <p:ph type="body" sz="quarter" idx="44" hasCustomPrompt="1"/>
          </p:nvPr>
        </p:nvSpPr>
        <p:spPr>
          <a:xfrm>
            <a:off x="9434174" y="630848"/>
            <a:ext cx="2361910" cy="1728403"/>
          </a:xfrm>
          <a:prstGeom prst="rect">
            <a:avLst/>
          </a:prstGeom>
        </p:spPr>
        <p:txBody>
          <a:bodyPr/>
          <a:lstStyle>
            <a:lvl1pPr marL="171450" indent="-171450">
              <a:lnSpc>
                <a:spcPct val="90000"/>
              </a:lnSpc>
              <a:buClr>
                <a:schemeClr val="bg1"/>
              </a:buClr>
              <a:buFont typeface="Arial" panose="020B0604020202020204" pitchFamily="34" charset="0"/>
              <a:buChar char="•"/>
              <a:defRPr sz="1050">
                <a:solidFill>
                  <a:schemeClr val="bg1"/>
                </a:solidFill>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marL="171450" indent="-171450">
              <a:lnSpc>
                <a:spcPct val="100000"/>
              </a:lnSpc>
              <a:buFont typeface="Arial" panose="020B0604020202020204" pitchFamily="34" charset="0"/>
              <a:buChar char="•"/>
              <a:defRPr/>
            </a:pPr>
            <a:r>
              <a:rPr lang="fr-FR" sz="1050" dirty="0" err="1">
                <a:latin typeface="Source Sans Pro" panose="020B0503030403020204" pitchFamily="34" charset="0"/>
                <a:ea typeface="Source Sans Pro" panose="020B0503030403020204" pitchFamily="34" charset="0"/>
              </a:rPr>
              <a:t>e.g</a:t>
            </a:r>
            <a:r>
              <a:rPr lang="fr-FR" sz="1050" dirty="0">
                <a:latin typeface="Source Sans Pro" panose="020B0503030403020204" pitchFamily="34" charset="0"/>
                <a:ea typeface="Source Sans Pro" panose="020B0503030403020204" pitchFamily="34" charset="0"/>
              </a:rPr>
              <a:t>. Tableau </a:t>
            </a:r>
          </a:p>
          <a:p>
            <a:pPr marL="171450" indent="-171450">
              <a:lnSpc>
                <a:spcPct val="100000"/>
              </a:lnSpc>
              <a:buFont typeface="Arial" panose="020B0604020202020204" pitchFamily="34" charset="0"/>
              <a:buChar char="•"/>
              <a:defRPr/>
            </a:pPr>
            <a:r>
              <a:rPr lang="en-GB" sz="1050" dirty="0">
                <a:latin typeface="Source Sans Pro" panose="020B0503030403020204" pitchFamily="34" charset="0"/>
                <a:ea typeface="Source Sans Pro" panose="020B0503030403020204" pitchFamily="34" charset="0"/>
              </a:rPr>
              <a:t>Data remediation and analysis</a:t>
            </a:r>
          </a:p>
          <a:p>
            <a:pPr marL="171450" indent="-171450">
              <a:lnSpc>
                <a:spcPct val="100000"/>
              </a:lnSpc>
              <a:buFont typeface="Arial" panose="020B0604020202020204" pitchFamily="34" charset="0"/>
              <a:buChar char="•"/>
              <a:defRPr/>
            </a:pPr>
            <a:r>
              <a:rPr lang="en-US" sz="1050" dirty="0">
                <a:latin typeface="Source Sans Pro" panose="020B0503030403020204" pitchFamily="34" charset="0"/>
                <a:ea typeface="Source Sans Pro" panose="020B0503030403020204" pitchFamily="34" charset="0"/>
              </a:rPr>
              <a:t>Solution and </a:t>
            </a:r>
            <a:br>
              <a:rPr lang="en-US" sz="1050" dirty="0">
                <a:latin typeface="Source Sans Pro" panose="020B0503030403020204" pitchFamily="34" charset="0"/>
                <a:ea typeface="Source Sans Pro" panose="020B0503030403020204" pitchFamily="34" charset="0"/>
              </a:rPr>
            </a:br>
            <a:r>
              <a:rPr lang="en-US" sz="1050" dirty="0">
                <a:latin typeface="Source Sans Pro" panose="020B0503030403020204" pitchFamily="34" charset="0"/>
                <a:ea typeface="Source Sans Pro" panose="020B0503030403020204" pitchFamily="34" charset="0"/>
              </a:rPr>
              <a:t>technical architecture</a:t>
            </a:r>
          </a:p>
          <a:p>
            <a:pPr lvl="0"/>
            <a:endParaRPr lang="en-US" dirty="0"/>
          </a:p>
        </p:txBody>
      </p:sp>
      <p:grpSp>
        <p:nvGrpSpPr>
          <p:cNvPr id="2" name="Group 1">
            <a:extLst>
              <a:ext uri="{FF2B5EF4-FFF2-40B4-BE49-F238E27FC236}">
                <a16:creationId xmlns:a16="http://schemas.microsoft.com/office/drawing/2014/main" id="{68CB6F49-159C-2649-97D6-7FD7D3DBB1EE}"/>
              </a:ext>
            </a:extLst>
          </p:cNvPr>
          <p:cNvGrpSpPr/>
          <p:nvPr userDrawn="1"/>
        </p:nvGrpSpPr>
        <p:grpSpPr>
          <a:xfrm>
            <a:off x="392609" y="2882480"/>
            <a:ext cx="11799391" cy="3657804"/>
            <a:chOff x="392609" y="2882480"/>
            <a:chExt cx="11799391" cy="3657804"/>
          </a:xfrm>
        </p:grpSpPr>
        <p:cxnSp>
          <p:nvCxnSpPr>
            <p:cNvPr id="75" name="Straight Connector 74">
              <a:extLst>
                <a:ext uri="{FF2B5EF4-FFF2-40B4-BE49-F238E27FC236}">
                  <a16:creationId xmlns:a16="http://schemas.microsoft.com/office/drawing/2014/main" id="{2F8A0E83-1682-4D4E-8FD8-663EFEB058F9}"/>
                </a:ext>
              </a:extLst>
            </p:cNvPr>
            <p:cNvCxnSpPr>
              <a:cxnSpLocks/>
            </p:cNvCxnSpPr>
            <p:nvPr userDrawn="1"/>
          </p:nvCxnSpPr>
          <p:spPr>
            <a:xfrm flipH="1">
              <a:off x="9024675" y="2884244"/>
              <a:ext cx="1872" cy="2012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D3CCFDE-85A9-444D-886E-8EF73216D536}"/>
                </a:ext>
              </a:extLst>
            </p:cNvPr>
            <p:cNvCxnSpPr>
              <a:cxnSpLocks/>
            </p:cNvCxnSpPr>
            <p:nvPr userDrawn="1"/>
          </p:nvCxnSpPr>
          <p:spPr>
            <a:xfrm>
              <a:off x="559405" y="4819528"/>
              <a:ext cx="1163259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6AA8B9A6-009A-E447-88DC-1260492D1D3D}"/>
                </a:ext>
              </a:extLst>
            </p:cNvPr>
            <p:cNvGrpSpPr/>
            <p:nvPr userDrawn="1"/>
          </p:nvGrpSpPr>
          <p:grpSpPr>
            <a:xfrm>
              <a:off x="392609" y="2882480"/>
              <a:ext cx="152429" cy="2016504"/>
              <a:chOff x="392609" y="2882480"/>
              <a:chExt cx="152429" cy="2016504"/>
            </a:xfrm>
          </p:grpSpPr>
          <p:cxnSp>
            <p:nvCxnSpPr>
              <p:cNvPr id="51" name="Straight Connector 50">
                <a:extLst>
                  <a:ext uri="{FF2B5EF4-FFF2-40B4-BE49-F238E27FC236}">
                    <a16:creationId xmlns:a16="http://schemas.microsoft.com/office/drawing/2014/main" id="{E9174A1C-D908-D641-87A8-EE1B383F5178}"/>
                  </a:ext>
                </a:extLst>
              </p:cNvPr>
              <p:cNvCxnSpPr>
                <a:cxnSpLocks/>
              </p:cNvCxnSpPr>
              <p:nvPr userDrawn="1"/>
            </p:nvCxnSpPr>
            <p:spPr>
              <a:xfrm flipH="1">
                <a:off x="468824" y="2882480"/>
                <a:ext cx="730" cy="2016504"/>
              </a:xfrm>
              <a:prstGeom prst="line">
                <a:avLst/>
              </a:prstGeom>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4FBCA7A9-03D2-5C4C-A44E-44832CC7695F}"/>
                  </a:ext>
                </a:extLst>
              </p:cNvPr>
              <p:cNvSpPr/>
              <p:nvPr userDrawn="1"/>
            </p:nvSpPr>
            <p:spPr>
              <a:xfrm>
                <a:off x="392609" y="474655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2" name="Group 61">
              <a:extLst>
                <a:ext uri="{FF2B5EF4-FFF2-40B4-BE49-F238E27FC236}">
                  <a16:creationId xmlns:a16="http://schemas.microsoft.com/office/drawing/2014/main" id="{E90989A9-DA7E-8A40-BEA8-F26B8A1FF968}"/>
                </a:ext>
              </a:extLst>
            </p:cNvPr>
            <p:cNvGrpSpPr/>
            <p:nvPr userDrawn="1"/>
          </p:nvGrpSpPr>
          <p:grpSpPr>
            <a:xfrm>
              <a:off x="2529869" y="4394435"/>
              <a:ext cx="152429" cy="2145849"/>
              <a:chOff x="2102417" y="4394435"/>
              <a:chExt cx="152429" cy="2145849"/>
            </a:xfrm>
          </p:grpSpPr>
          <p:cxnSp>
            <p:nvCxnSpPr>
              <p:cNvPr id="63" name="Straight Connector 62">
                <a:extLst>
                  <a:ext uri="{FF2B5EF4-FFF2-40B4-BE49-F238E27FC236}">
                    <a16:creationId xmlns:a16="http://schemas.microsoft.com/office/drawing/2014/main" id="{80F200C4-B30E-CB48-97E3-A8740C640959}"/>
                  </a:ext>
                </a:extLst>
              </p:cNvPr>
              <p:cNvCxnSpPr>
                <a:cxnSpLocks/>
              </p:cNvCxnSpPr>
              <p:nvPr userDrawn="1"/>
            </p:nvCxnSpPr>
            <p:spPr>
              <a:xfrm>
                <a:off x="2178631" y="4394435"/>
                <a:ext cx="0" cy="2145849"/>
              </a:xfrm>
              <a:prstGeom prst="line">
                <a:avLst/>
              </a:prstGeom>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C6B522F6-B649-3D48-A1EF-70F986585D84}"/>
                  </a:ext>
                </a:extLst>
              </p:cNvPr>
              <p:cNvSpPr/>
              <p:nvPr userDrawn="1"/>
            </p:nvSpPr>
            <p:spPr>
              <a:xfrm>
                <a:off x="2102417" y="4754293"/>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175A0A67-C9EE-B24D-B34D-B9AFAE16CD3D}"/>
                </a:ext>
              </a:extLst>
            </p:cNvPr>
            <p:cNvGrpSpPr/>
            <p:nvPr userDrawn="1"/>
          </p:nvGrpSpPr>
          <p:grpSpPr>
            <a:xfrm>
              <a:off x="4667129" y="2895358"/>
              <a:ext cx="152429" cy="2011364"/>
              <a:chOff x="3812225" y="2895358"/>
              <a:chExt cx="152429" cy="2011364"/>
            </a:xfrm>
          </p:grpSpPr>
          <p:cxnSp>
            <p:nvCxnSpPr>
              <p:cNvPr id="66" name="Straight Connector 65">
                <a:extLst>
                  <a:ext uri="{FF2B5EF4-FFF2-40B4-BE49-F238E27FC236}">
                    <a16:creationId xmlns:a16="http://schemas.microsoft.com/office/drawing/2014/main" id="{AB3C4F16-B4AB-D643-B0E6-106FDA7D57E4}"/>
                  </a:ext>
                </a:extLst>
              </p:cNvPr>
              <p:cNvCxnSpPr>
                <a:cxnSpLocks/>
              </p:cNvCxnSpPr>
              <p:nvPr userDrawn="1"/>
            </p:nvCxnSpPr>
            <p:spPr>
              <a:xfrm flipH="1">
                <a:off x="3888440" y="2895358"/>
                <a:ext cx="4798" cy="2011364"/>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6DC2A058-3DA8-C34C-B3F3-C61F55D458F7}"/>
                  </a:ext>
                </a:extLst>
              </p:cNvPr>
              <p:cNvSpPr/>
              <p:nvPr userDrawn="1"/>
            </p:nvSpPr>
            <p:spPr>
              <a:xfrm>
                <a:off x="3812225" y="474141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1D328A85-F3D5-B542-B0A7-BE318F604CCE}"/>
                </a:ext>
              </a:extLst>
            </p:cNvPr>
            <p:cNvGrpSpPr/>
            <p:nvPr userDrawn="1"/>
          </p:nvGrpSpPr>
          <p:grpSpPr>
            <a:xfrm>
              <a:off x="6804389" y="4394435"/>
              <a:ext cx="152429" cy="2145849"/>
              <a:chOff x="5522033" y="4394435"/>
              <a:chExt cx="152429" cy="2145849"/>
            </a:xfrm>
          </p:grpSpPr>
          <p:cxnSp>
            <p:nvCxnSpPr>
              <p:cNvPr id="69" name="Straight Connector 68">
                <a:extLst>
                  <a:ext uri="{FF2B5EF4-FFF2-40B4-BE49-F238E27FC236}">
                    <a16:creationId xmlns:a16="http://schemas.microsoft.com/office/drawing/2014/main" id="{29AF1272-E480-9D4F-8358-B1A58832B23E}"/>
                  </a:ext>
                </a:extLst>
              </p:cNvPr>
              <p:cNvCxnSpPr>
                <a:cxnSpLocks/>
              </p:cNvCxnSpPr>
              <p:nvPr userDrawn="1"/>
            </p:nvCxnSpPr>
            <p:spPr>
              <a:xfrm>
                <a:off x="5596008" y="4394435"/>
                <a:ext cx="0" cy="2145849"/>
              </a:xfrm>
              <a:prstGeom prst="line">
                <a:avLst/>
              </a:prstGeom>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7B2F74C5-1763-7C4F-88F9-DA280046C1AE}"/>
                  </a:ext>
                </a:extLst>
              </p:cNvPr>
              <p:cNvSpPr/>
              <p:nvPr userDrawn="1"/>
            </p:nvSpPr>
            <p:spPr>
              <a:xfrm>
                <a:off x="5522033" y="474141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8" name="Oval 77">
            <a:extLst>
              <a:ext uri="{FF2B5EF4-FFF2-40B4-BE49-F238E27FC236}">
                <a16:creationId xmlns:a16="http://schemas.microsoft.com/office/drawing/2014/main" id="{E2542344-DC55-7344-9DC7-589842A632C0}"/>
              </a:ext>
            </a:extLst>
          </p:cNvPr>
          <p:cNvSpPr/>
          <p:nvPr userDrawn="1"/>
        </p:nvSpPr>
        <p:spPr>
          <a:xfrm>
            <a:off x="8941647" y="4741415"/>
            <a:ext cx="152429" cy="152429"/>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880538"/>
      </p:ext>
    </p:extLst>
  </p:cSld>
  <p:clrMapOvr>
    <a:masterClrMapping/>
  </p:clrMapOvr>
  <p:extLst>
    <p:ext uri="{DCECCB84-F9BA-43D5-87BE-67443E8EF086}">
      <p15:sldGuideLst xmlns:p15="http://schemas.microsoft.com/office/powerpoint/2012/main">
        <p15:guide id="1" pos="386">
          <p15:clr>
            <a:srgbClr val="FBAE40"/>
          </p15:clr>
        </p15:guide>
        <p15:guide id="2" orient="horz" pos="2962">
          <p15:clr>
            <a:srgbClr val="FBAE40"/>
          </p15:clr>
        </p15:guide>
        <p15:guide id="3" pos="1468">
          <p15:clr>
            <a:srgbClr val="FBAE40"/>
          </p15:clr>
        </p15:guide>
        <p15:guide id="4" pos="2536">
          <p15:clr>
            <a:srgbClr val="FBAE40"/>
          </p15:clr>
        </p15:guide>
        <p15:guide id="5" pos="3604">
          <p15:clr>
            <a:srgbClr val="FBAE40"/>
          </p15:clr>
        </p15:guide>
        <p15:guide id="6" pos="4690">
          <p15:clr>
            <a:srgbClr val="FBAE40"/>
          </p15:clr>
        </p15:guide>
        <p15:guide id="7" orient="horz" pos="3249">
          <p15:clr>
            <a:srgbClr val="FBAE40"/>
          </p15:clr>
        </p15:guide>
        <p15:guide id="8" pos="5768">
          <p15:clr>
            <a:srgbClr val="FBAE40"/>
          </p15:clr>
        </p15:guide>
        <p15:guide id="9" orient="horz" pos="190">
          <p15:clr>
            <a:srgbClr val="FBAE40"/>
          </p15:clr>
        </p15:guide>
        <p15:guide id="10" orient="horz" pos="3339">
          <p15:clr>
            <a:srgbClr val="FBAE40"/>
          </p15:clr>
        </p15:guide>
        <p15:guide id="11" orient="horz" pos="1913">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3_3+1">
  <p:cSld name="4_3+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359149" y="391531"/>
            <a:ext cx="6486000" cy="9964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2300"/>
              <a:buFont typeface="Play"/>
              <a:buNone/>
              <a:defRPr sz="3067">
                <a:latin typeface="Play"/>
                <a:ea typeface="Play"/>
                <a:cs typeface="Play"/>
                <a:sym typeface="Play"/>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00061" y="2819403"/>
            <a:ext cx="2492000" cy="3813200"/>
          </a:xfrm>
          <a:prstGeom prst="rect">
            <a:avLst/>
          </a:prstGeom>
          <a:noFill/>
          <a:ln>
            <a:noFill/>
          </a:ln>
        </p:spPr>
        <p:txBody>
          <a:bodyPr spcFirstLastPara="1" wrap="square" lIns="0" tIns="0" rIns="0" bIns="0" anchor="t" anchorCtr="0">
            <a:normAutofit/>
          </a:bodyPr>
          <a:lstStyle>
            <a:lvl1pPr marL="609585" lvl="0" indent="-304792" algn="l">
              <a:lnSpc>
                <a:spcPct val="90000"/>
              </a:lnSpc>
              <a:spcBef>
                <a:spcPts val="0"/>
              </a:spcBef>
              <a:spcAft>
                <a:spcPts val="0"/>
              </a:spcAft>
              <a:buClr>
                <a:schemeClr val="dk1"/>
              </a:buClr>
              <a:buSzPts val="800"/>
              <a:buNone/>
              <a:defRPr sz="1067" b="0">
                <a:solidFill>
                  <a:schemeClr val="dk1"/>
                </a:solidFill>
                <a:latin typeface="Arial"/>
                <a:ea typeface="Arial"/>
                <a:cs typeface="Arial"/>
                <a:sym typeface="Arial"/>
              </a:defRPr>
            </a:lvl1pPr>
            <a:lvl2pPr marL="1219170" lvl="1" indent="-423323" algn="l">
              <a:lnSpc>
                <a:spcPct val="90000"/>
              </a:lnSpc>
              <a:spcBef>
                <a:spcPts val="1600"/>
              </a:spcBef>
              <a:spcAft>
                <a:spcPts val="0"/>
              </a:spcAft>
              <a:buClr>
                <a:schemeClr val="dk1"/>
              </a:buClr>
              <a:buSzPts val="1400"/>
              <a:buChar char="○"/>
              <a:defRPr/>
            </a:lvl2pPr>
            <a:lvl3pPr marL="1828754" lvl="2" indent="-423323" algn="l">
              <a:lnSpc>
                <a:spcPct val="90000"/>
              </a:lnSpc>
              <a:spcBef>
                <a:spcPts val="1600"/>
              </a:spcBef>
              <a:spcAft>
                <a:spcPts val="0"/>
              </a:spcAft>
              <a:buClr>
                <a:schemeClr val="dk1"/>
              </a:buClr>
              <a:buSzPts val="1400"/>
              <a:buChar char="■"/>
              <a:defRPr/>
            </a:lvl3pPr>
            <a:lvl4pPr marL="2438339" lvl="3" indent="-423323" algn="l">
              <a:lnSpc>
                <a:spcPct val="90000"/>
              </a:lnSpc>
              <a:spcBef>
                <a:spcPts val="1600"/>
              </a:spcBef>
              <a:spcAft>
                <a:spcPts val="0"/>
              </a:spcAft>
              <a:buClr>
                <a:schemeClr val="dk1"/>
              </a:buClr>
              <a:buSzPts val="1400"/>
              <a:buChar char="●"/>
              <a:defRPr/>
            </a:lvl4pPr>
            <a:lvl5pPr marL="3047924" lvl="4" indent="-423323" algn="l">
              <a:lnSpc>
                <a:spcPct val="90000"/>
              </a:lnSpc>
              <a:spcBef>
                <a:spcPts val="1600"/>
              </a:spcBef>
              <a:spcAft>
                <a:spcPts val="0"/>
              </a:spcAft>
              <a:buClr>
                <a:schemeClr val="dk1"/>
              </a:buClr>
              <a:buSzPts val="1400"/>
              <a:buChar char="○"/>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1600"/>
              </a:spcBef>
              <a:spcAft>
                <a:spcPts val="0"/>
              </a:spcAft>
              <a:buClr>
                <a:schemeClr val="dk1"/>
              </a:buClr>
              <a:buSzPts val="1400"/>
              <a:buChar char="●"/>
              <a:defRPr/>
            </a:lvl7pPr>
            <a:lvl8pPr marL="4876678" lvl="7" indent="-423323" algn="l">
              <a:lnSpc>
                <a:spcPct val="90000"/>
              </a:lnSpc>
              <a:spcBef>
                <a:spcPts val="1600"/>
              </a:spcBef>
              <a:spcAft>
                <a:spcPts val="0"/>
              </a:spcAft>
              <a:buClr>
                <a:schemeClr val="dk1"/>
              </a:buClr>
              <a:buSzPts val="1400"/>
              <a:buChar char="○"/>
              <a:defRPr/>
            </a:lvl8pPr>
            <a:lvl9pPr marL="5486263" lvl="8" indent="-423323" algn="l">
              <a:lnSpc>
                <a:spcPct val="90000"/>
              </a:lnSpc>
              <a:spcBef>
                <a:spcPts val="1600"/>
              </a:spcBef>
              <a:spcAft>
                <a:spcPts val="1600"/>
              </a:spcAft>
              <a:buClr>
                <a:schemeClr val="dk1"/>
              </a:buClr>
              <a:buSzPts val="1400"/>
              <a:buChar char="■"/>
              <a:defRPr/>
            </a:lvl9pPr>
          </a:lstStyle>
          <a:p>
            <a:endParaRPr/>
          </a:p>
        </p:txBody>
      </p:sp>
      <p:sp>
        <p:nvSpPr>
          <p:cNvPr id="53" name="Google Shape;53;p13"/>
          <p:cNvSpPr txBox="1">
            <a:spLocks noGrp="1"/>
          </p:cNvSpPr>
          <p:nvPr>
            <p:ph type="body" idx="2"/>
          </p:nvPr>
        </p:nvSpPr>
        <p:spPr>
          <a:xfrm>
            <a:off x="9532565" y="1277095"/>
            <a:ext cx="2286000" cy="4368800"/>
          </a:xfrm>
          <a:prstGeom prst="rect">
            <a:avLst/>
          </a:prstGeom>
          <a:noFill/>
          <a:ln>
            <a:noFill/>
          </a:ln>
        </p:spPr>
        <p:txBody>
          <a:bodyPr spcFirstLastPara="1" wrap="square" lIns="0" tIns="0" rIns="0" bIns="0" anchor="t" anchorCtr="0">
            <a:normAutofit/>
          </a:bodyPr>
          <a:lstStyle>
            <a:lvl1pPr marL="609585" lvl="0" indent="-304792" algn="l">
              <a:lnSpc>
                <a:spcPct val="90000"/>
              </a:lnSpc>
              <a:spcBef>
                <a:spcPts val="0"/>
              </a:spcBef>
              <a:spcAft>
                <a:spcPts val="0"/>
              </a:spcAft>
              <a:buClr>
                <a:schemeClr val="dk1"/>
              </a:buClr>
              <a:buSzPts val="800"/>
              <a:buNone/>
              <a:defRPr sz="1067" b="0">
                <a:latin typeface="Play"/>
                <a:ea typeface="Play"/>
                <a:cs typeface="Play"/>
                <a:sym typeface="Play"/>
              </a:defRPr>
            </a:lvl1pPr>
            <a:lvl2pPr marL="1219170" lvl="1" indent="-423323" algn="l">
              <a:lnSpc>
                <a:spcPct val="90000"/>
              </a:lnSpc>
              <a:spcBef>
                <a:spcPts val="1600"/>
              </a:spcBef>
              <a:spcAft>
                <a:spcPts val="0"/>
              </a:spcAft>
              <a:buClr>
                <a:schemeClr val="dk1"/>
              </a:buClr>
              <a:buSzPts val="1400"/>
              <a:buChar char="○"/>
              <a:defRPr/>
            </a:lvl2pPr>
            <a:lvl3pPr marL="1828754" lvl="2" indent="-423323" algn="l">
              <a:lnSpc>
                <a:spcPct val="90000"/>
              </a:lnSpc>
              <a:spcBef>
                <a:spcPts val="1600"/>
              </a:spcBef>
              <a:spcAft>
                <a:spcPts val="0"/>
              </a:spcAft>
              <a:buClr>
                <a:schemeClr val="dk1"/>
              </a:buClr>
              <a:buSzPts val="1400"/>
              <a:buChar char="■"/>
              <a:defRPr/>
            </a:lvl3pPr>
            <a:lvl4pPr marL="2438339" lvl="3" indent="-423323" algn="l">
              <a:lnSpc>
                <a:spcPct val="90000"/>
              </a:lnSpc>
              <a:spcBef>
                <a:spcPts val="1600"/>
              </a:spcBef>
              <a:spcAft>
                <a:spcPts val="0"/>
              </a:spcAft>
              <a:buClr>
                <a:schemeClr val="dk1"/>
              </a:buClr>
              <a:buSzPts val="1400"/>
              <a:buChar char="●"/>
              <a:defRPr/>
            </a:lvl4pPr>
            <a:lvl5pPr marL="3047924" lvl="4" indent="-423323" algn="l">
              <a:lnSpc>
                <a:spcPct val="90000"/>
              </a:lnSpc>
              <a:spcBef>
                <a:spcPts val="1600"/>
              </a:spcBef>
              <a:spcAft>
                <a:spcPts val="0"/>
              </a:spcAft>
              <a:buClr>
                <a:schemeClr val="dk1"/>
              </a:buClr>
              <a:buSzPts val="1400"/>
              <a:buChar char="○"/>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1600"/>
              </a:spcBef>
              <a:spcAft>
                <a:spcPts val="0"/>
              </a:spcAft>
              <a:buClr>
                <a:schemeClr val="dk1"/>
              </a:buClr>
              <a:buSzPts val="1400"/>
              <a:buChar char="●"/>
              <a:defRPr/>
            </a:lvl7pPr>
            <a:lvl8pPr marL="4876678" lvl="7" indent="-423323" algn="l">
              <a:lnSpc>
                <a:spcPct val="90000"/>
              </a:lnSpc>
              <a:spcBef>
                <a:spcPts val="1600"/>
              </a:spcBef>
              <a:spcAft>
                <a:spcPts val="0"/>
              </a:spcAft>
              <a:buClr>
                <a:schemeClr val="dk1"/>
              </a:buClr>
              <a:buSzPts val="1400"/>
              <a:buChar char="○"/>
              <a:defRPr/>
            </a:lvl8pPr>
            <a:lvl9pPr marL="5486263" lvl="8" indent="-423323" algn="l">
              <a:lnSpc>
                <a:spcPct val="90000"/>
              </a:lnSpc>
              <a:spcBef>
                <a:spcPts val="1600"/>
              </a:spcBef>
              <a:spcAft>
                <a:spcPts val="1600"/>
              </a:spcAft>
              <a:buClr>
                <a:schemeClr val="dk1"/>
              </a:buClr>
              <a:buSzPts val="1400"/>
              <a:buChar char="■"/>
              <a:defRPr/>
            </a:lvl9pPr>
          </a:lstStyle>
          <a:p>
            <a:endParaRPr/>
          </a:p>
        </p:txBody>
      </p:sp>
      <p:sp>
        <p:nvSpPr>
          <p:cNvPr id="54" name="Google Shape;54;p13"/>
          <p:cNvSpPr txBox="1">
            <a:spLocks noGrp="1"/>
          </p:cNvSpPr>
          <p:nvPr>
            <p:ph type="body" idx="3"/>
          </p:nvPr>
        </p:nvSpPr>
        <p:spPr>
          <a:xfrm>
            <a:off x="6420403" y="1128299"/>
            <a:ext cx="2743200" cy="4483200"/>
          </a:xfrm>
          <a:prstGeom prst="rect">
            <a:avLst/>
          </a:prstGeom>
          <a:noFill/>
          <a:ln>
            <a:noFill/>
          </a:ln>
        </p:spPr>
        <p:txBody>
          <a:bodyPr spcFirstLastPara="1" wrap="square" lIns="0" tIns="0" rIns="0" bIns="0" anchor="t" anchorCtr="0">
            <a:normAutofit/>
          </a:bodyPr>
          <a:lstStyle>
            <a:lvl1pPr marL="609585" lvl="0" indent="-304792" algn="l">
              <a:lnSpc>
                <a:spcPct val="90000"/>
              </a:lnSpc>
              <a:spcBef>
                <a:spcPts val="0"/>
              </a:spcBef>
              <a:spcAft>
                <a:spcPts val="0"/>
              </a:spcAft>
              <a:buClr>
                <a:schemeClr val="dk1"/>
              </a:buClr>
              <a:buSzPts val="800"/>
              <a:buNone/>
              <a:defRPr sz="1067" b="0">
                <a:solidFill>
                  <a:schemeClr val="dk1"/>
                </a:solidFill>
                <a:latin typeface="Arial"/>
                <a:ea typeface="Arial"/>
                <a:cs typeface="Arial"/>
                <a:sym typeface="Arial"/>
              </a:defRPr>
            </a:lvl1pPr>
            <a:lvl2pPr marL="1219170" lvl="1" indent="-423323" algn="l">
              <a:lnSpc>
                <a:spcPct val="90000"/>
              </a:lnSpc>
              <a:spcBef>
                <a:spcPts val="1600"/>
              </a:spcBef>
              <a:spcAft>
                <a:spcPts val="0"/>
              </a:spcAft>
              <a:buClr>
                <a:schemeClr val="dk1"/>
              </a:buClr>
              <a:buSzPts val="1400"/>
              <a:buChar char="○"/>
              <a:defRPr/>
            </a:lvl2pPr>
            <a:lvl3pPr marL="1828754" lvl="2" indent="-423323" algn="l">
              <a:lnSpc>
                <a:spcPct val="90000"/>
              </a:lnSpc>
              <a:spcBef>
                <a:spcPts val="1600"/>
              </a:spcBef>
              <a:spcAft>
                <a:spcPts val="0"/>
              </a:spcAft>
              <a:buClr>
                <a:schemeClr val="dk1"/>
              </a:buClr>
              <a:buSzPts val="1400"/>
              <a:buChar char="■"/>
              <a:defRPr/>
            </a:lvl3pPr>
            <a:lvl4pPr marL="2438339" lvl="3" indent="-423323" algn="l">
              <a:lnSpc>
                <a:spcPct val="90000"/>
              </a:lnSpc>
              <a:spcBef>
                <a:spcPts val="1600"/>
              </a:spcBef>
              <a:spcAft>
                <a:spcPts val="0"/>
              </a:spcAft>
              <a:buClr>
                <a:schemeClr val="dk1"/>
              </a:buClr>
              <a:buSzPts val="1400"/>
              <a:buChar char="●"/>
              <a:defRPr/>
            </a:lvl4pPr>
            <a:lvl5pPr marL="3047924" lvl="4" indent="-423323" algn="l">
              <a:lnSpc>
                <a:spcPct val="90000"/>
              </a:lnSpc>
              <a:spcBef>
                <a:spcPts val="1600"/>
              </a:spcBef>
              <a:spcAft>
                <a:spcPts val="0"/>
              </a:spcAft>
              <a:buClr>
                <a:schemeClr val="dk1"/>
              </a:buClr>
              <a:buSzPts val="1400"/>
              <a:buChar char="○"/>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1600"/>
              </a:spcBef>
              <a:spcAft>
                <a:spcPts val="0"/>
              </a:spcAft>
              <a:buClr>
                <a:schemeClr val="dk1"/>
              </a:buClr>
              <a:buSzPts val="1400"/>
              <a:buChar char="●"/>
              <a:defRPr/>
            </a:lvl7pPr>
            <a:lvl8pPr marL="4876678" lvl="7" indent="-423323" algn="l">
              <a:lnSpc>
                <a:spcPct val="90000"/>
              </a:lnSpc>
              <a:spcBef>
                <a:spcPts val="1600"/>
              </a:spcBef>
              <a:spcAft>
                <a:spcPts val="0"/>
              </a:spcAft>
              <a:buClr>
                <a:schemeClr val="dk1"/>
              </a:buClr>
              <a:buSzPts val="1400"/>
              <a:buChar char="○"/>
              <a:defRPr/>
            </a:lvl8pPr>
            <a:lvl9pPr marL="5486263" lvl="8" indent="-423323" algn="l">
              <a:lnSpc>
                <a:spcPct val="90000"/>
              </a:lnSpc>
              <a:spcBef>
                <a:spcPts val="1600"/>
              </a:spcBef>
              <a:spcAft>
                <a:spcPts val="1600"/>
              </a:spcAft>
              <a:buClr>
                <a:schemeClr val="dk1"/>
              </a:buClr>
              <a:buSzPts val="1400"/>
              <a:buChar char="■"/>
              <a:defRPr/>
            </a:lvl9pPr>
          </a:lstStyle>
          <a:p>
            <a:endParaRPr/>
          </a:p>
        </p:txBody>
      </p:sp>
      <p:sp>
        <p:nvSpPr>
          <p:cNvPr id="55" name="Google Shape;55;p13"/>
          <p:cNvSpPr txBox="1">
            <a:spLocks noGrp="1"/>
          </p:cNvSpPr>
          <p:nvPr>
            <p:ph type="body" idx="4"/>
          </p:nvPr>
        </p:nvSpPr>
        <p:spPr>
          <a:xfrm>
            <a:off x="3363224" y="1128299"/>
            <a:ext cx="2741200" cy="4483200"/>
          </a:xfrm>
          <a:prstGeom prst="rect">
            <a:avLst/>
          </a:prstGeom>
          <a:noFill/>
          <a:ln>
            <a:noFill/>
          </a:ln>
        </p:spPr>
        <p:txBody>
          <a:bodyPr spcFirstLastPara="1" wrap="square" lIns="0" tIns="0" rIns="0" bIns="0" anchor="t" anchorCtr="0">
            <a:normAutofit/>
          </a:bodyPr>
          <a:lstStyle>
            <a:lvl1pPr marL="609585" lvl="0" indent="-304792" algn="l">
              <a:lnSpc>
                <a:spcPct val="90000"/>
              </a:lnSpc>
              <a:spcBef>
                <a:spcPts val="0"/>
              </a:spcBef>
              <a:spcAft>
                <a:spcPts val="0"/>
              </a:spcAft>
              <a:buClr>
                <a:schemeClr val="dk1"/>
              </a:buClr>
              <a:buSzPts val="800"/>
              <a:buNone/>
              <a:defRPr sz="1067" b="0">
                <a:solidFill>
                  <a:schemeClr val="dk1"/>
                </a:solidFill>
                <a:latin typeface="Arial"/>
                <a:ea typeface="Arial"/>
                <a:cs typeface="Arial"/>
                <a:sym typeface="Arial"/>
              </a:defRPr>
            </a:lvl1pPr>
            <a:lvl2pPr marL="1219170" lvl="1" indent="-423323" algn="l">
              <a:lnSpc>
                <a:spcPct val="90000"/>
              </a:lnSpc>
              <a:spcBef>
                <a:spcPts val="1600"/>
              </a:spcBef>
              <a:spcAft>
                <a:spcPts val="0"/>
              </a:spcAft>
              <a:buClr>
                <a:schemeClr val="dk1"/>
              </a:buClr>
              <a:buSzPts val="1400"/>
              <a:buChar char="○"/>
              <a:defRPr/>
            </a:lvl2pPr>
            <a:lvl3pPr marL="1828754" lvl="2" indent="-423323" algn="l">
              <a:lnSpc>
                <a:spcPct val="90000"/>
              </a:lnSpc>
              <a:spcBef>
                <a:spcPts val="1600"/>
              </a:spcBef>
              <a:spcAft>
                <a:spcPts val="0"/>
              </a:spcAft>
              <a:buClr>
                <a:schemeClr val="dk1"/>
              </a:buClr>
              <a:buSzPts val="1400"/>
              <a:buChar char="■"/>
              <a:defRPr/>
            </a:lvl3pPr>
            <a:lvl4pPr marL="2438339" lvl="3" indent="-423323" algn="l">
              <a:lnSpc>
                <a:spcPct val="90000"/>
              </a:lnSpc>
              <a:spcBef>
                <a:spcPts val="1600"/>
              </a:spcBef>
              <a:spcAft>
                <a:spcPts val="0"/>
              </a:spcAft>
              <a:buClr>
                <a:schemeClr val="dk1"/>
              </a:buClr>
              <a:buSzPts val="1400"/>
              <a:buChar char="●"/>
              <a:defRPr/>
            </a:lvl4pPr>
            <a:lvl5pPr marL="3047924" lvl="4" indent="-423323" algn="l">
              <a:lnSpc>
                <a:spcPct val="90000"/>
              </a:lnSpc>
              <a:spcBef>
                <a:spcPts val="1600"/>
              </a:spcBef>
              <a:spcAft>
                <a:spcPts val="0"/>
              </a:spcAft>
              <a:buClr>
                <a:schemeClr val="dk1"/>
              </a:buClr>
              <a:buSzPts val="1400"/>
              <a:buChar char="○"/>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1600"/>
              </a:spcBef>
              <a:spcAft>
                <a:spcPts val="0"/>
              </a:spcAft>
              <a:buClr>
                <a:schemeClr val="dk1"/>
              </a:buClr>
              <a:buSzPts val="1400"/>
              <a:buChar char="●"/>
              <a:defRPr/>
            </a:lvl7pPr>
            <a:lvl8pPr marL="4876678" lvl="7" indent="-423323" algn="l">
              <a:lnSpc>
                <a:spcPct val="90000"/>
              </a:lnSpc>
              <a:spcBef>
                <a:spcPts val="1600"/>
              </a:spcBef>
              <a:spcAft>
                <a:spcPts val="0"/>
              </a:spcAft>
              <a:buClr>
                <a:schemeClr val="dk1"/>
              </a:buClr>
              <a:buSzPts val="1400"/>
              <a:buChar char="○"/>
              <a:defRPr/>
            </a:lvl8pPr>
            <a:lvl9pPr marL="5486263" lvl="8" indent="-423323" algn="l">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33292497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5" Type="http://schemas.openxmlformats.org/officeDocument/2006/relationships/slideLayout" Target="../slideLayouts/slideLayout55.xml"/><Relationship Id="rId10" Type="http://schemas.openxmlformats.org/officeDocument/2006/relationships/theme" Target="../theme/theme2.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theme" Target="../theme/theme3.xml"/><Relationship Id="rId4" Type="http://schemas.openxmlformats.org/officeDocument/2006/relationships/image" Target="../media/image13.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theme" Target="../theme/theme4.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userDrawn="1"/>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a:p>
        </p:txBody>
      </p:sp>
    </p:spTree>
    <p:extLst>
      <p:ext uri="{BB962C8B-B14F-4D97-AF65-F5344CB8AC3E}">
        <p14:creationId xmlns:p14="http://schemas.microsoft.com/office/powerpoint/2010/main" val="3163698454"/>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 id="2147483968" r:id="rId12"/>
    <p:sldLayoutId id="2147483969" r:id="rId13"/>
    <p:sldLayoutId id="2147483970" r:id="rId14"/>
    <p:sldLayoutId id="2147483971" r:id="rId15"/>
    <p:sldLayoutId id="2147483972" r:id="rId16"/>
    <p:sldLayoutId id="2147483973" r:id="rId17"/>
    <p:sldLayoutId id="2147483974" r:id="rId18"/>
    <p:sldLayoutId id="2147483975" r:id="rId19"/>
    <p:sldLayoutId id="2147483976" r:id="rId20"/>
    <p:sldLayoutId id="2147483977" r:id="rId21"/>
    <p:sldLayoutId id="2147483978" r:id="rId22"/>
    <p:sldLayoutId id="2147483979" r:id="rId23"/>
    <p:sldLayoutId id="2147483980" r:id="rId24"/>
    <p:sldLayoutId id="2147483981" r:id="rId25"/>
    <p:sldLayoutId id="2147483982" r:id="rId26"/>
    <p:sldLayoutId id="2147483983" r:id="rId27"/>
    <p:sldLayoutId id="2147483984" r:id="rId28"/>
    <p:sldLayoutId id="2147483985" r:id="rId29"/>
    <p:sldLayoutId id="2147483986" r:id="rId30"/>
    <p:sldLayoutId id="2147483987" r:id="rId31"/>
    <p:sldLayoutId id="2147483988" r:id="rId32"/>
    <p:sldLayoutId id="2147483989" r:id="rId33"/>
    <p:sldLayoutId id="2147483990" r:id="rId34"/>
    <p:sldLayoutId id="2147483991" r:id="rId35"/>
    <p:sldLayoutId id="2147483992" r:id="rId36"/>
    <p:sldLayoutId id="2147483993" r:id="rId37"/>
    <p:sldLayoutId id="2147483994" r:id="rId38"/>
    <p:sldLayoutId id="2147483995" r:id="rId39"/>
    <p:sldLayoutId id="2147483996" r:id="rId40"/>
    <p:sldLayoutId id="2147483997" r:id="rId41"/>
    <p:sldLayoutId id="2147483998" r:id="rId42"/>
    <p:sldLayoutId id="2147483999" r:id="rId43"/>
    <p:sldLayoutId id="2147484000" r:id="rId44"/>
    <p:sldLayoutId id="2147484001" r:id="rId45"/>
    <p:sldLayoutId id="2147484002" r:id="rId46"/>
    <p:sldLayoutId id="2147484003" r:id="rId47"/>
    <p:sldLayoutId id="2147484004" r:id="rId48"/>
    <p:sldLayoutId id="2147484005" r:id="rId49"/>
    <p:sldLayoutId id="2147484006" r:id="rId50"/>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8521322"/>
      </p:ext>
    </p:extLst>
  </p:cSld>
  <p:clrMap bg1="lt1" tx1="dk1" bg2="lt2" tx2="dk2" accent1="accent1" accent2="accent2" accent3="accent3" accent4="accent4" accent5="accent5" accent6="accent6" hlink="hlink" folHlink="folHlink"/>
  <p:sldLayoutIdLst>
    <p:sldLayoutId id="2147483951" r:id="rId1"/>
    <p:sldLayoutId id="2147484027" r:id="rId2"/>
    <p:sldLayoutId id="2147484026" r:id="rId3"/>
    <p:sldLayoutId id="2147484025" r:id="rId4"/>
    <p:sldLayoutId id="2147483663" r:id="rId5"/>
    <p:sldLayoutId id="2147484028" r:id="rId6"/>
    <p:sldLayoutId id="2147484029" r:id="rId7"/>
    <p:sldLayoutId id="2147484030" r:id="rId8"/>
    <p:sldLayoutId id="2147484031" r:id="rId9"/>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EA37851-C374-4731-A640-F436EB49B1AD}"/>
              </a:ext>
            </a:extLst>
          </p:cNvPr>
          <p:cNvGraphicFramePr>
            <a:graphicFrameLocks noChangeAspect="1"/>
          </p:cNvGraphicFramePr>
          <p:nvPr userDrawn="1">
            <p:custDataLst>
              <p:tags r:id="rId2"/>
            </p:custDataLst>
            <p:extLst>
              <p:ext uri="{D42A27DB-BD31-4B8C-83A1-F6EECF244321}">
                <p14:modId xmlns:p14="http://schemas.microsoft.com/office/powerpoint/2010/main" val="355460134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4" name="Object 3" hidden="1">
                        <a:extLst>
                          <a:ext uri="{FF2B5EF4-FFF2-40B4-BE49-F238E27FC236}">
                            <a16:creationId xmlns:a16="http://schemas.microsoft.com/office/drawing/2014/main" id="{7EA37851-C374-4731-A640-F436EB49B1A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791417" y="477660"/>
            <a:ext cx="10596251" cy="390718"/>
          </a:xfrm>
          <a:prstGeom prst="rect">
            <a:avLst/>
          </a:prstGeom>
        </p:spPr>
        <p:txBody>
          <a:bodyPr vert="horz" lIns="0" tIns="0" rIns="0" bIns="0" rtlCol="0" anchor="t" anchorCtr="0">
            <a:noAutofit/>
          </a:bodyPr>
          <a:lstStyle/>
          <a:p>
            <a:r>
              <a:rPr lang="en-US"/>
              <a:t>Click to edit Master title style</a:t>
            </a:r>
          </a:p>
        </p:txBody>
      </p:sp>
      <p:sp>
        <p:nvSpPr>
          <p:cNvPr id="6" name="Text Placeholder 5"/>
          <p:cNvSpPr>
            <a:spLocks noGrp="1"/>
          </p:cNvSpPr>
          <p:nvPr>
            <p:ph type="body" idx="1"/>
          </p:nvPr>
        </p:nvSpPr>
        <p:spPr>
          <a:xfrm>
            <a:off x="791417" y="1159828"/>
            <a:ext cx="10596251" cy="489172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3" name="Slide Number Placeholder 2">
            <a:extLst>
              <a:ext uri="{FF2B5EF4-FFF2-40B4-BE49-F238E27FC236}">
                <a16:creationId xmlns:a16="http://schemas.microsoft.com/office/drawing/2014/main" id="{A5227891-722D-4109-B036-D5086F7774C1}"/>
              </a:ext>
            </a:extLst>
          </p:cNvPr>
          <p:cNvSpPr>
            <a:spLocks noGrp="1"/>
          </p:cNvSpPr>
          <p:nvPr>
            <p:ph type="sldNum" sz="quarter" idx="4"/>
          </p:nvPr>
        </p:nvSpPr>
        <p:spPr>
          <a:xfrm>
            <a:off x="92710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CA4B13-81A8-4962-9177-7FF0443E44A3}" type="slidenum">
              <a:rPr lang="en-US" smtClean="0"/>
              <a:t>‹#›</a:t>
            </a:fld>
            <a:endParaRPr lang="en-US"/>
          </a:p>
        </p:txBody>
      </p:sp>
    </p:spTree>
    <p:extLst>
      <p:ext uri="{BB962C8B-B14F-4D97-AF65-F5344CB8AC3E}">
        <p14:creationId xmlns:p14="http://schemas.microsoft.com/office/powerpoint/2010/main" val="4150932515"/>
      </p:ext>
    </p:extLst>
  </p:cSld>
  <p:clrMap bg1="lt1" tx1="dk1" bg2="lt2" tx2="dk2" accent1="accent1" accent2="accent2" accent3="accent3" accent4="accent4" accent5="accent5" accent6="accent6" hlink="hlink" folHlink="folHlink"/>
  <p:transition>
    <p:fade/>
  </p:transition>
  <p:hf hdr="0" ftr="0" dt="0"/>
  <p:txStyles>
    <p:titleStyle>
      <a:lvl1pPr algn="l" defTabSz="609084" rtl="0" eaLnBrk="1" latinLnBrk="0" hangingPunct="1">
        <a:spcBef>
          <a:spcPct val="0"/>
        </a:spcBef>
        <a:buNone/>
        <a:defRPr sz="1866" b="0" i="0" kern="1700" spc="0">
          <a:solidFill>
            <a:schemeClr val="accent1"/>
          </a:solidFill>
          <a:latin typeface="Gotham Light"/>
          <a:ea typeface="+mj-ea"/>
          <a:cs typeface="Gotham Light"/>
        </a:defRPr>
      </a:lvl1pPr>
    </p:titleStyle>
    <p:bodyStyle>
      <a:lvl1pPr marL="0" indent="0" algn="l" defTabSz="609084" rtl="0" eaLnBrk="1" latinLnBrk="0" hangingPunct="1">
        <a:spcBef>
          <a:spcPts val="0"/>
        </a:spcBef>
        <a:spcAft>
          <a:spcPts val="400"/>
        </a:spcAft>
        <a:buFontTx/>
        <a:buNone/>
        <a:defRPr sz="1866" b="0" i="0" kern="1200">
          <a:solidFill>
            <a:schemeClr val="tx1">
              <a:lumMod val="75000"/>
              <a:lumOff val="25000"/>
            </a:schemeClr>
          </a:solidFill>
          <a:latin typeface="Gotham Light"/>
          <a:ea typeface="+mn-ea"/>
          <a:cs typeface="Gotham Light"/>
        </a:defRPr>
      </a:lvl1pPr>
      <a:lvl2pPr marL="609158" indent="-268029" algn="l" defTabSz="609084" rtl="0" eaLnBrk="1" latinLnBrk="0" hangingPunct="1">
        <a:spcBef>
          <a:spcPts val="0"/>
        </a:spcBef>
        <a:spcAft>
          <a:spcPts val="400"/>
        </a:spcAft>
        <a:buFont typeface="Arial"/>
        <a:buChar char="–"/>
        <a:defRPr sz="1599" b="0" i="0" kern="1200">
          <a:solidFill>
            <a:schemeClr val="tx1">
              <a:lumMod val="75000"/>
              <a:lumOff val="25000"/>
            </a:schemeClr>
          </a:solidFill>
          <a:latin typeface="Gotham Light"/>
          <a:ea typeface="+mn-ea"/>
          <a:cs typeface="Gotham Light"/>
        </a:defRPr>
      </a:lvl2pPr>
      <a:lvl3pPr marL="1096485" indent="-268029" algn="l" defTabSz="609084" rtl="0" eaLnBrk="1" latinLnBrk="0" hangingPunct="1">
        <a:spcBef>
          <a:spcPts val="0"/>
        </a:spcBef>
        <a:spcAft>
          <a:spcPts val="400"/>
        </a:spcAft>
        <a:buFont typeface="Arial"/>
        <a:buChar char="•"/>
        <a:defRPr sz="1333" b="0" i="0" kern="1200">
          <a:solidFill>
            <a:schemeClr val="tx1">
              <a:lumMod val="75000"/>
              <a:lumOff val="25000"/>
            </a:schemeClr>
          </a:solidFill>
          <a:latin typeface="Gotham Light"/>
          <a:ea typeface="+mn-ea"/>
          <a:cs typeface="Gotham Light"/>
        </a:defRPr>
      </a:lvl3pPr>
      <a:lvl4pPr marL="2131792" indent="-304542" algn="l" defTabSz="609084" rtl="0" eaLnBrk="1" latinLnBrk="0" hangingPunct="1">
        <a:spcBef>
          <a:spcPts val="0"/>
        </a:spcBef>
        <a:buFont typeface="Arial"/>
        <a:buChar char="–"/>
        <a:defRPr sz="2132" b="0" i="0" kern="1200">
          <a:solidFill>
            <a:srgbClr val="787878"/>
          </a:solidFill>
          <a:latin typeface="Gotham Light"/>
          <a:ea typeface="+mn-ea"/>
          <a:cs typeface="Gotham Light"/>
        </a:defRPr>
      </a:lvl4pPr>
      <a:lvl5pPr marL="2740876" indent="-304542" algn="l" defTabSz="609084" rtl="0" eaLnBrk="1" latinLnBrk="0" hangingPunct="1">
        <a:spcBef>
          <a:spcPts val="0"/>
        </a:spcBef>
        <a:buFont typeface="Arial"/>
        <a:buChar char="»"/>
        <a:defRPr sz="2132" b="0" i="0" kern="1200">
          <a:solidFill>
            <a:srgbClr val="787878"/>
          </a:solidFill>
          <a:latin typeface="Gotham Light"/>
          <a:ea typeface="+mn-ea"/>
          <a:cs typeface="Gotham Light"/>
        </a:defRPr>
      </a:lvl5pPr>
      <a:lvl6pPr marL="3349958" indent="-304542" algn="l" defTabSz="609084" rtl="0" eaLnBrk="1" latinLnBrk="0" hangingPunct="1">
        <a:spcBef>
          <a:spcPct val="20000"/>
        </a:spcBef>
        <a:buFont typeface="Arial"/>
        <a:buChar char="•"/>
        <a:defRPr sz="2665" kern="1200">
          <a:solidFill>
            <a:schemeClr val="tx1"/>
          </a:solidFill>
          <a:latin typeface="+mn-lt"/>
          <a:ea typeface="+mn-ea"/>
          <a:cs typeface="+mn-cs"/>
        </a:defRPr>
      </a:lvl6pPr>
      <a:lvl7pPr marL="3959041" indent="-304542" algn="l" defTabSz="609084" rtl="0" eaLnBrk="1" latinLnBrk="0" hangingPunct="1">
        <a:spcBef>
          <a:spcPct val="20000"/>
        </a:spcBef>
        <a:buFont typeface="Arial"/>
        <a:buChar char="•"/>
        <a:defRPr sz="2665" kern="1200">
          <a:solidFill>
            <a:schemeClr val="tx1"/>
          </a:solidFill>
          <a:latin typeface="+mn-lt"/>
          <a:ea typeface="+mn-ea"/>
          <a:cs typeface="+mn-cs"/>
        </a:defRPr>
      </a:lvl7pPr>
      <a:lvl8pPr marL="4568123" indent="-304542" algn="l" defTabSz="609084" rtl="0" eaLnBrk="1" latinLnBrk="0" hangingPunct="1">
        <a:spcBef>
          <a:spcPct val="20000"/>
        </a:spcBef>
        <a:buFont typeface="Arial"/>
        <a:buChar char="•"/>
        <a:defRPr sz="2665" kern="1200">
          <a:solidFill>
            <a:schemeClr val="tx1"/>
          </a:solidFill>
          <a:latin typeface="+mn-lt"/>
          <a:ea typeface="+mn-ea"/>
          <a:cs typeface="+mn-cs"/>
        </a:defRPr>
      </a:lvl8pPr>
      <a:lvl9pPr marL="5177206" indent="-304542" algn="l" defTabSz="609084" rtl="0" eaLnBrk="1" latinLnBrk="0" hangingPunct="1">
        <a:spcBef>
          <a:spcPct val="20000"/>
        </a:spcBef>
        <a:buFont typeface="Arial"/>
        <a:buChar char="•"/>
        <a:defRPr sz="2665" kern="1200">
          <a:solidFill>
            <a:schemeClr val="tx1"/>
          </a:solidFill>
          <a:latin typeface="+mn-lt"/>
          <a:ea typeface="+mn-ea"/>
          <a:cs typeface="+mn-cs"/>
        </a:defRPr>
      </a:lvl9pPr>
    </p:bodyStyle>
    <p:otherStyle>
      <a:defPPr>
        <a:defRPr lang="en-US"/>
      </a:defPPr>
      <a:lvl1pPr marL="0" algn="l" defTabSz="609084" rtl="0" eaLnBrk="1" latinLnBrk="0" hangingPunct="1">
        <a:defRPr sz="2399" kern="1200">
          <a:solidFill>
            <a:schemeClr val="tx1"/>
          </a:solidFill>
          <a:latin typeface="+mn-lt"/>
          <a:ea typeface="+mn-ea"/>
          <a:cs typeface="+mn-cs"/>
        </a:defRPr>
      </a:lvl1pPr>
      <a:lvl2pPr marL="609084" algn="l" defTabSz="609084" rtl="0" eaLnBrk="1" latinLnBrk="0" hangingPunct="1">
        <a:defRPr sz="2399" kern="1200">
          <a:solidFill>
            <a:schemeClr val="tx1"/>
          </a:solidFill>
          <a:latin typeface="+mn-lt"/>
          <a:ea typeface="+mn-ea"/>
          <a:cs typeface="+mn-cs"/>
        </a:defRPr>
      </a:lvl2pPr>
      <a:lvl3pPr marL="1218165" algn="l" defTabSz="609084" rtl="0" eaLnBrk="1" latinLnBrk="0" hangingPunct="1">
        <a:defRPr sz="2399" kern="1200">
          <a:solidFill>
            <a:schemeClr val="tx1"/>
          </a:solidFill>
          <a:latin typeface="+mn-lt"/>
          <a:ea typeface="+mn-ea"/>
          <a:cs typeface="+mn-cs"/>
        </a:defRPr>
      </a:lvl3pPr>
      <a:lvl4pPr marL="1827249" algn="l" defTabSz="609084" rtl="0" eaLnBrk="1" latinLnBrk="0" hangingPunct="1">
        <a:defRPr sz="2399" kern="1200">
          <a:solidFill>
            <a:schemeClr val="tx1"/>
          </a:solidFill>
          <a:latin typeface="+mn-lt"/>
          <a:ea typeface="+mn-ea"/>
          <a:cs typeface="+mn-cs"/>
        </a:defRPr>
      </a:lvl4pPr>
      <a:lvl5pPr marL="2436332" algn="l" defTabSz="609084" rtl="0" eaLnBrk="1" latinLnBrk="0" hangingPunct="1">
        <a:defRPr sz="2399" kern="1200">
          <a:solidFill>
            <a:schemeClr val="tx1"/>
          </a:solidFill>
          <a:latin typeface="+mn-lt"/>
          <a:ea typeface="+mn-ea"/>
          <a:cs typeface="+mn-cs"/>
        </a:defRPr>
      </a:lvl5pPr>
      <a:lvl6pPr marL="3045416" algn="l" defTabSz="609084" rtl="0" eaLnBrk="1" latinLnBrk="0" hangingPunct="1">
        <a:defRPr sz="2399" kern="1200">
          <a:solidFill>
            <a:schemeClr val="tx1"/>
          </a:solidFill>
          <a:latin typeface="+mn-lt"/>
          <a:ea typeface="+mn-ea"/>
          <a:cs typeface="+mn-cs"/>
        </a:defRPr>
      </a:lvl6pPr>
      <a:lvl7pPr marL="3654500" algn="l" defTabSz="609084" rtl="0" eaLnBrk="1" latinLnBrk="0" hangingPunct="1">
        <a:defRPr sz="2399" kern="1200">
          <a:solidFill>
            <a:schemeClr val="tx1"/>
          </a:solidFill>
          <a:latin typeface="+mn-lt"/>
          <a:ea typeface="+mn-ea"/>
          <a:cs typeface="+mn-cs"/>
        </a:defRPr>
      </a:lvl7pPr>
      <a:lvl8pPr marL="4263582" algn="l" defTabSz="609084" rtl="0" eaLnBrk="1" latinLnBrk="0" hangingPunct="1">
        <a:defRPr sz="2399" kern="1200">
          <a:solidFill>
            <a:schemeClr val="tx1"/>
          </a:solidFill>
          <a:latin typeface="+mn-lt"/>
          <a:ea typeface="+mn-ea"/>
          <a:cs typeface="+mn-cs"/>
        </a:defRPr>
      </a:lvl8pPr>
      <a:lvl9pPr marL="4872665" algn="l" defTabSz="609084" rtl="0" eaLnBrk="1" latinLnBrk="0" hangingPunct="1">
        <a:defRPr sz="23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815C3E-D6A3-69F1-3F5A-149D6AEB47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F729A7B-9927-DE72-E89A-932C056084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68BC11-6F0D-6294-BC36-354EEC97E6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D9D4FDE4-A6DD-E21C-7164-1029338AFE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r" defTabSz="228600">
              <a:spcAft>
                <a:spcPts val="1200"/>
              </a:spcAft>
              <a:defRPr/>
            </a:pPr>
            <a:r>
              <a:rPr lang="en-GB"/>
              <a:t>Copyright © 2023 Accenture. All rights reserved.</a:t>
            </a:r>
          </a:p>
        </p:txBody>
      </p:sp>
      <p:sp>
        <p:nvSpPr>
          <p:cNvPr id="6" name="Slide Number Placeholder 5">
            <a:extLst>
              <a:ext uri="{FF2B5EF4-FFF2-40B4-BE49-F238E27FC236}">
                <a16:creationId xmlns:a16="http://schemas.microsoft.com/office/drawing/2014/main" id="{F0C7D7FA-3AA9-AEED-0AB8-4415C51A62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90F471-3972-4120-B8B3-0237DE626C35}" type="slidenum">
              <a:rPr lang="en-US" smtClean="0"/>
              <a:pPr/>
              <a:t>‹#›</a:t>
            </a:fld>
            <a:endParaRPr lang="en-US"/>
          </a:p>
        </p:txBody>
      </p:sp>
    </p:spTree>
    <p:extLst>
      <p:ext uri="{BB962C8B-B14F-4D97-AF65-F5344CB8AC3E}">
        <p14:creationId xmlns:p14="http://schemas.microsoft.com/office/powerpoint/2010/main" val="2751915175"/>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 id="2147484045" r:id="rId13"/>
    <p:sldLayoutId id="2147484046" r:id="rId14"/>
    <p:sldLayoutId id="2147484047" r:id="rId15"/>
    <p:sldLayoutId id="2147484048" r:id="rId16"/>
    <p:sldLayoutId id="2147484049"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1.xml"/><Relationship Id="rId1" Type="http://schemas.openxmlformats.org/officeDocument/2006/relationships/slideLayout" Target="../slideLayouts/slideLayout76.xml"/><Relationship Id="rId4" Type="http://schemas.openxmlformats.org/officeDocument/2006/relationships/hyperlink" Target="http://mybigclub.com/"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2.xml"/><Relationship Id="rId1" Type="http://schemas.openxmlformats.org/officeDocument/2006/relationships/slideLayout" Target="../slideLayouts/slideLayout76.xml"/><Relationship Id="rId5" Type="http://schemas.openxmlformats.org/officeDocument/2006/relationships/hyperlink" Target="http://mybigclub.com/" TargetMode="External"/><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3.xml"/><Relationship Id="rId1" Type="http://schemas.openxmlformats.org/officeDocument/2006/relationships/slideLayout" Target="../slideLayouts/slideLayout76.xml"/><Relationship Id="rId5" Type="http://schemas.openxmlformats.org/officeDocument/2006/relationships/hyperlink" Target="http://mybigclub.com/" TargetMode="External"/><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4.xml"/><Relationship Id="rId1" Type="http://schemas.openxmlformats.org/officeDocument/2006/relationships/slideLayout" Target="../slideLayouts/slideLayout76.xml"/><Relationship Id="rId6" Type="http://schemas.openxmlformats.org/officeDocument/2006/relationships/image" Target="../media/image15.png"/><Relationship Id="rId5" Type="http://schemas.openxmlformats.org/officeDocument/2006/relationships/hyperlink" Target="http://mybigclub.com/" TargetMode="External"/><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5.xml"/><Relationship Id="rId1" Type="http://schemas.openxmlformats.org/officeDocument/2006/relationships/slideLayout" Target="../slideLayouts/slideLayout76.xml"/><Relationship Id="rId6" Type="http://schemas.openxmlformats.org/officeDocument/2006/relationships/image" Target="../media/image15.png"/><Relationship Id="rId5" Type="http://schemas.openxmlformats.org/officeDocument/2006/relationships/hyperlink" Target="http://mybigclub.com" TargetMode="Externa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6.xml"/><Relationship Id="rId1" Type="http://schemas.openxmlformats.org/officeDocument/2006/relationships/slideLayout" Target="../slideLayouts/slideLayout76.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7.xml"/><Relationship Id="rId1" Type="http://schemas.openxmlformats.org/officeDocument/2006/relationships/slideLayout" Target="../slideLayouts/slideLayout71.xml"/><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hyperlink" Target="mailto:t.morgan17@hotmail.co.uk" TargetMode="External"/><Relationship Id="rId2" Type="http://schemas.openxmlformats.org/officeDocument/2006/relationships/notesSlide" Target="../notesSlides/notesSlide8.xml"/><Relationship Id="rId1" Type="http://schemas.openxmlformats.org/officeDocument/2006/relationships/slideLayout" Target="../slideLayouts/slideLayout71.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71.xml"/><Relationship Id="rId4" Type="http://schemas.openxmlformats.org/officeDocument/2006/relationships/hyperlink" Target="mailto:Henrietta.ridley@accenture.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3" Type="http://schemas.openxmlformats.org/officeDocument/2006/relationships/hyperlink" Target="mailto:tom.d.morgan@accenture.com" TargetMode="External"/><Relationship Id="rId2" Type="http://schemas.openxmlformats.org/officeDocument/2006/relationships/notesSlide" Target="../notesSlides/notesSlide14.xml"/><Relationship Id="rId1" Type="http://schemas.openxmlformats.org/officeDocument/2006/relationships/slideLayout" Target="../slideLayouts/slideLayout74.xml"/><Relationship Id="rId5" Type="http://schemas.microsoft.com/office/2007/relationships/hdphoto" Target="../media/hdphoto1.wdp"/><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0.svg"/><Relationship Id="rId7" Type="http://schemas.openxmlformats.org/officeDocument/2006/relationships/image" Target="../media/image23.svg"/><Relationship Id="rId2" Type="http://schemas.openxmlformats.org/officeDocument/2006/relationships/notesSlide" Target="../notesSlides/notesSlide15.xml"/><Relationship Id="rId1" Type="http://schemas.openxmlformats.org/officeDocument/2006/relationships/slideLayout" Target="../slideLayouts/slideLayout66.xml"/><Relationship Id="rId6" Type="http://schemas.openxmlformats.org/officeDocument/2006/relationships/image" Target="../media/image22.png"/><Relationship Id="rId5" Type="http://schemas.openxmlformats.org/officeDocument/2006/relationships/hyperlink" Target="https://urldefense.proofpoint.com/v2/url?u=https-3A__uk.linkedin.com_in_thomas-2Dmorgan-2D12685a46&amp;d=DwMFaQ&amp;c=eIGjsITfXP_y-DLLX0uEHXJvU8nOHrUK8IrwNKOtkVU&amp;r=2Ggr8NasrNqWF-QbLFALe_jRIvBYkKd-V6XimKM0bko&amp;m=nOZLBHrVpin7sBBpMGX1AAbh0EB-tk_i_N03zXhfDTs&amp;s=BCGaoOgea7wtgWffla91V249tLFAwXUkaqvegw8fDRg&amp;e=" TargetMode="External"/><Relationship Id="rId10" Type="http://schemas.openxmlformats.org/officeDocument/2006/relationships/image" Target="../media/image26.jpeg"/><Relationship Id="rId4" Type="http://schemas.openxmlformats.org/officeDocument/2006/relationships/image" Target="../media/image21.svg"/><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7.png"/><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aa6806b005_0_0"/>
          <p:cNvSpPr/>
          <p:nvPr/>
        </p:nvSpPr>
        <p:spPr>
          <a:xfrm>
            <a:off x="-5690" y="0"/>
            <a:ext cx="12192000" cy="6858000"/>
          </a:xfrm>
          <a:prstGeom prst="rect">
            <a:avLst/>
          </a:prstGeom>
          <a:gradFill>
            <a:gsLst>
              <a:gs pos="0">
                <a:srgbClr val="EFF7FC">
                  <a:alpha val="0"/>
                </a:srgbClr>
              </a:gs>
              <a:gs pos="8000">
                <a:srgbClr val="EFF7FC"/>
              </a:gs>
              <a:gs pos="89000">
                <a:srgbClr val="002060">
                  <a:alpha val="0"/>
                </a:srgbClr>
              </a:gs>
              <a:gs pos="100000">
                <a:srgbClr val="002060">
                  <a:alpha val="0"/>
                </a:srgbClr>
              </a:gs>
            </a:gsLst>
            <a:path path="circle">
              <a:fillToRect l="50000" t="50000" r="50000" b="50000"/>
            </a:path>
            <a:tileRect/>
          </a:gradFill>
          <a:ln w="19050" cap="flat" cmpd="sng">
            <a:solidFill>
              <a:schemeClr val="accent3">
                <a:alpha val="588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g3aa6806b005_0_0"/>
          <p:cNvSpPr/>
          <p:nvPr/>
        </p:nvSpPr>
        <p:spPr>
          <a:xfrm>
            <a:off x="-9225" y="0"/>
            <a:ext cx="2335148" cy="6858000"/>
          </a:xfrm>
          <a:prstGeom prst="rect">
            <a:avLst/>
          </a:prstGeom>
          <a:solidFill>
            <a:srgbClr val="002060"/>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g3aa6806b005_0_0"/>
          <p:cNvSpPr txBox="1"/>
          <p:nvPr/>
        </p:nvSpPr>
        <p:spPr>
          <a:xfrm>
            <a:off x="95910" y="106268"/>
            <a:ext cx="2230013" cy="137506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2060"/>
              </a:buClr>
              <a:buSzPts val="3200"/>
              <a:buFont typeface="Arial Black"/>
              <a:buNone/>
            </a:pPr>
            <a:r>
              <a:rPr lang="en-GB" sz="2000" b="1" i="0" u="none" strike="noStrike" cap="none" dirty="0">
                <a:solidFill>
                  <a:schemeClr val="bg1"/>
                </a:solidFill>
                <a:latin typeface="Arial Black"/>
                <a:ea typeface="Arial Black"/>
                <a:cs typeface="Arial Black"/>
                <a:sym typeface="Arial Black"/>
              </a:rPr>
              <a:t>Tom Morgan </a:t>
            </a:r>
            <a:r>
              <a:rPr lang="en-GB" sz="1200" u="sng" dirty="0">
                <a:solidFill>
                  <a:schemeClr val="bg1"/>
                </a:solidFill>
                <a:hlinkClick r:id="rId3">
                  <a:extLst>
                    <a:ext uri="{A12FA001-AC4F-418D-AE19-62706E023703}">
                      <ahyp:hlinkClr xmlns:ahyp="http://schemas.microsoft.com/office/drawing/2018/hyperlinkcolor" val="tx"/>
                    </a:ext>
                  </a:extLst>
                </a:hlinkClick>
              </a:rPr>
              <a:t>t.morgan17@hotmail.co.uk</a:t>
            </a:r>
            <a:endParaRPr sz="1200" dirty="0">
              <a:solidFill>
                <a:schemeClr val="bg1"/>
              </a:solidFill>
            </a:endParaRPr>
          </a:p>
          <a:p>
            <a:pPr marL="0" marR="0" lvl="0" indent="0" algn="l" rtl="0">
              <a:lnSpc>
                <a:spcPct val="80000"/>
              </a:lnSpc>
              <a:spcBef>
                <a:spcPts val="0"/>
              </a:spcBef>
              <a:spcAft>
                <a:spcPts val="0"/>
              </a:spcAft>
              <a:buClr>
                <a:srgbClr val="002060"/>
              </a:buClr>
              <a:buSzPts val="1400"/>
              <a:buFont typeface="Arial"/>
              <a:buNone/>
            </a:pPr>
            <a:endParaRPr sz="1400" b="0" i="0" u="none" strike="noStrike" cap="none" dirty="0">
              <a:solidFill>
                <a:srgbClr val="002060"/>
              </a:solidFill>
              <a:latin typeface="Arial"/>
              <a:ea typeface="Arial"/>
              <a:cs typeface="Arial"/>
              <a:sym typeface="Arial"/>
            </a:endParaRPr>
          </a:p>
          <a:p>
            <a:pPr marL="0" marR="0" lvl="0" indent="0" algn="l" rtl="0">
              <a:lnSpc>
                <a:spcPct val="80000"/>
              </a:lnSpc>
              <a:spcBef>
                <a:spcPts val="0"/>
              </a:spcBef>
              <a:spcAft>
                <a:spcPts val="0"/>
              </a:spcAft>
              <a:buClr>
                <a:schemeClr val="accent1"/>
              </a:buClr>
              <a:buSzPts val="3200"/>
              <a:buFont typeface="Play"/>
              <a:buNone/>
            </a:pPr>
            <a:endParaRPr sz="3200" b="1" i="0" u="none" strike="noStrike" cap="none" dirty="0">
              <a:solidFill>
                <a:srgbClr val="002060"/>
              </a:solidFill>
              <a:latin typeface="Arial Black"/>
              <a:ea typeface="Arial Black"/>
              <a:cs typeface="Arial Black"/>
              <a:sym typeface="Arial Black"/>
            </a:endParaRPr>
          </a:p>
        </p:txBody>
      </p:sp>
      <p:sp>
        <p:nvSpPr>
          <p:cNvPr id="135" name="Google Shape;135;g3aa6806b005_0_0"/>
          <p:cNvSpPr txBox="1">
            <a:spLocks noGrp="1"/>
          </p:cNvSpPr>
          <p:nvPr>
            <p:ph type="body" idx="1"/>
          </p:nvPr>
        </p:nvSpPr>
        <p:spPr>
          <a:xfrm>
            <a:off x="27708" y="1034008"/>
            <a:ext cx="2274535" cy="5215380"/>
          </a:xfrm>
          <a:prstGeom prst="rect">
            <a:avLst/>
          </a:prstGeom>
          <a:noFill/>
          <a:ln>
            <a:noFill/>
          </a:ln>
        </p:spPr>
        <p:txBody>
          <a:bodyPr spcFirstLastPara="1" wrap="square" lIns="0" tIns="0" rIns="0" bIns="0" anchor="t" anchorCtr="0">
            <a:noAutofit/>
          </a:bodyPr>
          <a:lstStyle/>
          <a:p>
            <a:pPr marL="0" lvl="0" indent="0" algn="ctr" rtl="0">
              <a:lnSpc>
                <a:spcPct val="80000"/>
              </a:lnSpc>
              <a:spcBef>
                <a:spcPts val="0"/>
              </a:spcBef>
              <a:spcAft>
                <a:spcPts val="0"/>
              </a:spcAft>
              <a:buClr>
                <a:schemeClr val="lt1"/>
              </a:buClr>
              <a:buSzPts val="900"/>
              <a:buNone/>
            </a:pPr>
            <a:r>
              <a:rPr lang="en-GB" sz="900" b="1" dirty="0">
                <a:solidFill>
                  <a:schemeClr val="lt1"/>
                </a:solidFill>
                <a:latin typeface="Open Sans"/>
                <a:ea typeface="Open Sans"/>
                <a:cs typeface="Open Sans"/>
                <a:sym typeface="Open Sans"/>
              </a:rPr>
              <a:t>Professional Background</a:t>
            </a:r>
            <a:endParaRPr sz="1050" dirty="0"/>
          </a:p>
          <a:p>
            <a:pPr marL="0" lvl="0" indent="0" algn="ctr" rtl="0">
              <a:lnSpc>
                <a:spcPct val="90000"/>
              </a:lnSpc>
              <a:spcBef>
                <a:spcPts val="1050"/>
              </a:spcBef>
              <a:spcAft>
                <a:spcPts val="0"/>
              </a:spcAft>
              <a:buClr>
                <a:schemeClr val="lt1"/>
              </a:buClr>
              <a:buSzPts val="900"/>
              <a:buNone/>
            </a:pPr>
            <a:r>
              <a:rPr lang="en-GB" sz="900" b="1" dirty="0">
                <a:solidFill>
                  <a:schemeClr val="lt1"/>
                </a:solidFill>
                <a:latin typeface="Open Sans"/>
                <a:ea typeface="Open Sans"/>
                <a:cs typeface="Open Sans"/>
                <a:sym typeface="Open Sans"/>
              </a:rPr>
              <a:t>A data solutions and development professional with 11+ years’ experience, passionate about visualisation and AI to facilitate and accelerate data driven decision making.</a:t>
            </a:r>
            <a:endParaRPr sz="1050" dirty="0"/>
          </a:p>
          <a:p>
            <a:pPr marL="0" lvl="0" indent="0" algn="ctr" rtl="0">
              <a:lnSpc>
                <a:spcPct val="90000"/>
              </a:lnSpc>
              <a:spcBef>
                <a:spcPts val="1200"/>
              </a:spcBef>
              <a:spcAft>
                <a:spcPts val="0"/>
              </a:spcAft>
              <a:buClr>
                <a:schemeClr val="lt1"/>
              </a:buClr>
              <a:buSzPts val="900"/>
              <a:buFont typeface="Arial"/>
              <a:buNone/>
            </a:pPr>
            <a:r>
              <a:rPr lang="en-GB" sz="900" dirty="0">
                <a:solidFill>
                  <a:schemeClr val="lt1"/>
                </a:solidFill>
                <a:latin typeface="Open Sans"/>
                <a:ea typeface="Open Sans"/>
                <a:cs typeface="Open Sans"/>
                <a:sym typeface="Open Sans"/>
              </a:rPr>
              <a:t>I have extensive experience in scoping, designing, directing, developing and demonstrating dashboard creation across various tools, primarily for Accenture. I have directed development of Gen AI solutions, as well as founding and leading development of a football website.</a:t>
            </a:r>
            <a:endParaRPr sz="1050" dirty="0"/>
          </a:p>
          <a:p>
            <a:pPr marL="0" lvl="0" indent="0" algn="ctr" rtl="0">
              <a:spcBef>
                <a:spcPts val="1200"/>
              </a:spcBef>
              <a:spcAft>
                <a:spcPts val="0"/>
              </a:spcAft>
              <a:buClr>
                <a:schemeClr val="lt1"/>
              </a:buClr>
              <a:buSzPts val="900"/>
              <a:buNone/>
            </a:pPr>
            <a:r>
              <a:rPr lang="en-GB" sz="900" dirty="0">
                <a:solidFill>
                  <a:schemeClr val="lt1"/>
                </a:solidFill>
                <a:latin typeface="Open Sans"/>
                <a:ea typeface="Open Sans"/>
                <a:cs typeface="Open Sans"/>
                <a:sym typeface="Open Sans"/>
              </a:rPr>
              <a:t>In addition to my technical knowledge, I can both engage with key stakeholders to understand the desired outcome and manage other developers to achieve this. Examples of this include creating data quality tools, advanced prototypes and Gen AI data extraction capabilities.</a:t>
            </a:r>
          </a:p>
          <a:p>
            <a:pPr marL="0" indent="0" algn="ctr">
              <a:spcBef>
                <a:spcPts val="1200"/>
              </a:spcBef>
              <a:buClr>
                <a:schemeClr val="lt1"/>
              </a:buClr>
              <a:buSzPts val="900"/>
            </a:pPr>
            <a:r>
              <a:rPr lang="en-GB" sz="900" dirty="0">
                <a:solidFill>
                  <a:schemeClr val="lt1"/>
                </a:solidFill>
                <a:latin typeface="Open Sans"/>
                <a:ea typeface="Open Sans"/>
                <a:cs typeface="Open Sans"/>
              </a:rPr>
              <a:t>My time at UKHSA is the best example of working with data in near real time. I developed visualisations that could show variances to previous days / weeks. Showing changes to an appropriate benchmark in this way was hugely significant in surfacing key spikes in covid-19 cases across regions of the UK. It was also a key principle I would emphasize to learning groups in training sessions.</a:t>
            </a:r>
          </a:p>
          <a:p>
            <a:pPr marL="0" indent="0" algn="ctr">
              <a:spcBef>
                <a:spcPts val="1200"/>
              </a:spcBef>
              <a:buClr>
                <a:schemeClr val="lt1"/>
              </a:buClr>
              <a:buSzPts val="900"/>
            </a:pPr>
            <a:endParaRPr lang="en-GB" sz="900" dirty="0">
              <a:solidFill>
                <a:schemeClr val="lt1"/>
              </a:solidFill>
              <a:latin typeface="Open Sans"/>
              <a:ea typeface="Open Sans"/>
              <a:cs typeface="Open Sans"/>
            </a:endParaRPr>
          </a:p>
          <a:p>
            <a:pPr marL="0" indent="0" algn="ctr">
              <a:spcBef>
                <a:spcPts val="1200"/>
              </a:spcBef>
              <a:buClr>
                <a:schemeClr val="lt1"/>
              </a:buClr>
              <a:buSzPts val="900"/>
            </a:pPr>
            <a:endParaRPr lang="en-GB" sz="900" dirty="0">
              <a:solidFill>
                <a:schemeClr val="lt1"/>
              </a:solidFill>
              <a:latin typeface="Open Sans"/>
              <a:ea typeface="Open Sans"/>
              <a:cs typeface="Open Sans"/>
            </a:endParaRPr>
          </a:p>
          <a:p>
            <a:pPr marL="0" indent="0" algn="ctr">
              <a:spcBef>
                <a:spcPts val="1200"/>
              </a:spcBef>
              <a:buClr>
                <a:schemeClr val="lt1"/>
              </a:buClr>
              <a:buSzPts val="900"/>
            </a:pPr>
            <a:endParaRPr sz="1050" dirty="0"/>
          </a:p>
          <a:p>
            <a:pPr marL="0" lvl="0" indent="0" algn="l" rtl="0">
              <a:lnSpc>
                <a:spcPct val="90000"/>
              </a:lnSpc>
              <a:spcBef>
                <a:spcPts val="1200"/>
              </a:spcBef>
              <a:spcAft>
                <a:spcPts val="0"/>
              </a:spcAft>
              <a:buClr>
                <a:schemeClr val="lt1"/>
              </a:buClr>
              <a:buSzPts val="900"/>
              <a:buNone/>
            </a:pPr>
            <a:endParaRPr sz="600" dirty="0">
              <a:solidFill>
                <a:schemeClr val="lt1"/>
              </a:solidFill>
              <a:latin typeface="Arial"/>
              <a:ea typeface="Arial"/>
              <a:cs typeface="Arial"/>
              <a:sym typeface="Arial"/>
            </a:endParaRPr>
          </a:p>
        </p:txBody>
      </p:sp>
      <p:sp>
        <p:nvSpPr>
          <p:cNvPr id="136" name="Google Shape;136;g3aa6806b005_0_0"/>
          <p:cNvSpPr txBox="1">
            <a:spLocks noGrp="1"/>
          </p:cNvSpPr>
          <p:nvPr>
            <p:ph type="body" idx="2"/>
          </p:nvPr>
        </p:nvSpPr>
        <p:spPr>
          <a:xfrm>
            <a:off x="10442348" y="370655"/>
            <a:ext cx="1743961" cy="6344063"/>
          </a:xfrm>
          <a:prstGeom prst="rect">
            <a:avLst/>
          </a:prstGeom>
          <a:solidFill>
            <a:schemeClr val="lt1">
              <a:alpha val="0"/>
            </a:schemeClr>
          </a:solidFill>
          <a:ln>
            <a:noFill/>
          </a:ln>
        </p:spPr>
        <p:txBody>
          <a:bodyPr spcFirstLastPara="1" wrap="square" lIns="0" tIns="0" rIns="0" bIns="0" anchor="t" anchorCtr="0">
            <a:normAutofit lnSpcReduction="10000"/>
          </a:bodyPr>
          <a:lstStyle/>
          <a:p>
            <a:pPr marL="0" lvl="0" indent="0" algn="ctr" rtl="0">
              <a:lnSpc>
                <a:spcPct val="90000"/>
              </a:lnSpc>
              <a:spcBef>
                <a:spcPts val="0"/>
              </a:spcBef>
              <a:spcAft>
                <a:spcPts val="0"/>
              </a:spcAft>
              <a:buClr>
                <a:srgbClr val="002060"/>
              </a:buClr>
              <a:buSzPts val="1200"/>
              <a:buNone/>
            </a:pPr>
            <a:r>
              <a:rPr lang="en-GB" sz="1200" b="1" dirty="0">
                <a:solidFill>
                  <a:srgbClr val="002060"/>
                </a:solidFill>
                <a:latin typeface="Open Sans"/>
                <a:ea typeface="Open Sans"/>
                <a:cs typeface="Open Sans"/>
                <a:sym typeface="Open Sans"/>
              </a:rPr>
              <a:t>Functional Skills</a:t>
            </a:r>
            <a:endParaRPr dirty="0"/>
          </a:p>
          <a:p>
            <a:pPr marL="99449" lvl="0" indent="-48649" algn="ctr" rtl="0">
              <a:lnSpc>
                <a:spcPct val="90000"/>
              </a:lnSpc>
              <a:spcBef>
                <a:spcPts val="200"/>
              </a:spcBef>
              <a:spcAft>
                <a:spcPts val="0"/>
              </a:spcAft>
              <a:buClr>
                <a:schemeClr val="dk1"/>
              </a:buClr>
              <a:buSzPts val="800"/>
              <a:buFont typeface="NTR"/>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Visualisation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Analytics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Stakeholder Management</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Information Design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Technical Leading</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AI</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Game Creation</a:t>
            </a:r>
            <a:endParaRPr dirty="0"/>
          </a:p>
          <a:p>
            <a:pPr marL="0" lvl="0" indent="0" algn="ctr" rtl="0">
              <a:lnSpc>
                <a:spcPct val="90000"/>
              </a:lnSpc>
              <a:spcBef>
                <a:spcPts val="200"/>
              </a:spcBef>
              <a:spcAft>
                <a:spcPts val="0"/>
              </a:spcAft>
              <a:buClr>
                <a:schemeClr val="dk1"/>
              </a:buClr>
              <a:buSzPts val="800"/>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Technical Skills</a:t>
            </a:r>
            <a:endParaRPr dirty="0"/>
          </a:p>
          <a:p>
            <a:pPr marL="0" lvl="0" indent="0" algn="ctr" rtl="0">
              <a:lnSpc>
                <a:spcPct val="90000"/>
              </a:lnSpc>
              <a:spcBef>
                <a:spcPts val="200"/>
              </a:spcBef>
              <a:spcAft>
                <a:spcPts val="0"/>
              </a:spcAft>
              <a:buClr>
                <a:schemeClr val="dk1"/>
              </a:buClr>
              <a:buSzPts val="1200"/>
              <a:buNone/>
            </a:pPr>
            <a:endParaRPr sz="1200" b="1" dirty="0">
              <a:solidFill>
                <a:srgbClr val="A100FF"/>
              </a:solidFill>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Tableau</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Power BI</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Qlik Sense</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Workshop</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SQL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Python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HTML</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Unity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C#</a:t>
            </a:r>
            <a:endParaRPr dirty="0"/>
          </a:p>
          <a:p>
            <a:pPr marL="0" lvl="0" indent="0" algn="ctr" rtl="0">
              <a:lnSpc>
                <a:spcPct val="90000"/>
              </a:lnSpc>
              <a:spcBef>
                <a:spcPts val="200"/>
              </a:spcBef>
              <a:spcAft>
                <a:spcPts val="0"/>
              </a:spcAft>
              <a:buClr>
                <a:schemeClr val="dk1"/>
              </a:buClr>
              <a:buSzPts val="1200"/>
              <a:buNone/>
            </a:pPr>
            <a:endParaRPr sz="1200" b="1" dirty="0">
              <a:solidFill>
                <a:schemeClr val="accent1"/>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Industry Experience</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Health</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Retail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Financial Services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Sustainability</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Energy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Defence</a:t>
            </a:r>
            <a:endParaRPr dirty="0"/>
          </a:p>
          <a:p>
            <a:pPr marL="0" lvl="0" indent="0" algn="ctr" rtl="0">
              <a:lnSpc>
                <a:spcPct val="90000"/>
              </a:lnSpc>
              <a:spcBef>
                <a:spcPts val="200"/>
              </a:spcBef>
              <a:spcAft>
                <a:spcPts val="0"/>
              </a:spcAft>
              <a:buClr>
                <a:schemeClr val="dk1"/>
              </a:buClr>
              <a:buSzPts val="800"/>
              <a:buNone/>
            </a:pPr>
            <a:endParaRPr sz="1000" dirty="0">
              <a:solidFill>
                <a:srgbClr val="000000"/>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Education</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indent="0" algn="ctr">
              <a:spcBef>
                <a:spcPts val="200"/>
              </a:spcBef>
              <a:buSzPts val="720"/>
            </a:pPr>
            <a:r>
              <a:rPr lang="en-GB" sz="900" dirty="0">
                <a:latin typeface="Open Sans"/>
                <a:ea typeface="Open Sans"/>
                <a:cs typeface="Open Sans"/>
                <a:sym typeface="Open Sans"/>
              </a:rPr>
              <a:t>MSc Financial Economics, University of Leicester</a:t>
            </a:r>
            <a:endParaRPr lang="en-GB" sz="900" dirty="0"/>
          </a:p>
          <a:p>
            <a:pPr marL="0" lvl="0" indent="0" algn="ctr" rtl="0">
              <a:lnSpc>
                <a:spcPct val="90000"/>
              </a:lnSpc>
              <a:spcBef>
                <a:spcPts val="200"/>
              </a:spcBef>
              <a:spcAft>
                <a:spcPts val="0"/>
              </a:spcAft>
              <a:buClr>
                <a:schemeClr val="dk1"/>
              </a:buClr>
              <a:buSzPts val="720"/>
              <a:buNone/>
            </a:pPr>
            <a:endParaRPr lang="en-GB"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BSc Mathematics, Loughborough University</a:t>
            </a:r>
          </a:p>
          <a:p>
            <a:pPr marL="0" lvl="0" indent="0" algn="ctr" rtl="0">
              <a:lnSpc>
                <a:spcPct val="90000"/>
              </a:lnSpc>
              <a:spcBef>
                <a:spcPts val="200"/>
              </a:spcBef>
              <a:spcAft>
                <a:spcPts val="0"/>
              </a:spcAft>
              <a:buClr>
                <a:schemeClr val="dk1"/>
              </a:buClr>
              <a:buSzPts val="720"/>
              <a:buNone/>
            </a:pPr>
            <a:endParaRPr lang="en-GB" sz="900" dirty="0">
              <a:latin typeface="Open Sans"/>
              <a:ea typeface="Open Sans"/>
              <a:cs typeface="Open Sans"/>
              <a:sym typeface="Open Sans"/>
            </a:endParaRPr>
          </a:p>
          <a:p>
            <a:pPr marL="0" lvl="0" indent="0" algn="ctr">
              <a:spcBef>
                <a:spcPts val="200"/>
              </a:spcBef>
              <a:buSzPts val="720"/>
            </a:pPr>
            <a:r>
              <a:rPr lang="en-GB" sz="1200" b="1" dirty="0">
                <a:solidFill>
                  <a:srgbClr val="002060"/>
                </a:solidFill>
                <a:latin typeface="Open Sans"/>
                <a:ea typeface="Open Sans"/>
                <a:cs typeface="Open Sans"/>
                <a:sym typeface="Open Sans"/>
              </a:rPr>
              <a:t>Security Clearance</a:t>
            </a:r>
          </a:p>
          <a:p>
            <a:pPr marL="0" lvl="0" indent="0" algn="ctr" rtl="0">
              <a:lnSpc>
                <a:spcPct val="90000"/>
              </a:lnSpc>
              <a:spcBef>
                <a:spcPts val="200"/>
              </a:spcBef>
              <a:spcAft>
                <a:spcPts val="0"/>
              </a:spcAft>
              <a:buClr>
                <a:schemeClr val="dk1"/>
              </a:buClr>
              <a:buSzPts val="720"/>
              <a:buNone/>
            </a:pPr>
            <a:endParaRPr lang="en-GB"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SC</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BPSS</a:t>
            </a:r>
            <a:endParaRPr dirty="0"/>
          </a:p>
        </p:txBody>
      </p:sp>
      <p:sp>
        <p:nvSpPr>
          <p:cNvPr id="137" name="Google Shape;137;g3aa6806b005_0_0"/>
          <p:cNvSpPr txBox="1">
            <a:spLocks noGrp="1"/>
          </p:cNvSpPr>
          <p:nvPr>
            <p:ph type="body" idx="4"/>
          </p:nvPr>
        </p:nvSpPr>
        <p:spPr>
          <a:xfrm>
            <a:off x="2421833" y="320039"/>
            <a:ext cx="3936995" cy="6079329"/>
          </a:xfrm>
          <a:prstGeom prst="rect">
            <a:avLst/>
          </a:prstGeom>
          <a:noFill/>
          <a:ln>
            <a:noFill/>
          </a:ln>
        </p:spPr>
        <p:txBody>
          <a:bodyPr spcFirstLastPara="1" wrap="square" lIns="0" tIns="0" rIns="0" bIns="0" anchor="t" anchorCtr="0">
            <a:noAutofit/>
          </a:bodyPr>
          <a:lstStyle/>
          <a:p>
            <a:pPr marL="0" lvl="0" indent="0">
              <a:buClr>
                <a:srgbClr val="000000"/>
              </a:buClr>
              <a:buSzPts val="900"/>
            </a:pPr>
            <a:r>
              <a:rPr lang="en-GB" sz="1400" b="1" dirty="0">
                <a:solidFill>
                  <a:srgbClr val="002060"/>
                </a:solidFill>
                <a:latin typeface="Open Sans"/>
                <a:ea typeface="Open Sans"/>
                <a:cs typeface="Open Sans"/>
                <a:sym typeface="Open Sans"/>
              </a:rPr>
              <a:t>Experience:</a:t>
            </a:r>
          </a:p>
          <a:p>
            <a:pPr marL="0" lvl="0" indent="0">
              <a:buClr>
                <a:srgbClr val="000000"/>
              </a:buClr>
              <a:buSzPts val="900"/>
            </a:pPr>
            <a:endParaRPr lang="en-GB" sz="1400" b="1" dirty="0">
              <a:solidFill>
                <a:srgbClr val="002060"/>
              </a:solidFill>
              <a:latin typeface="Open Sans"/>
              <a:ea typeface="Open Sans"/>
              <a:cs typeface="Open Sans"/>
              <a:sym typeface="Open Sans"/>
            </a:endParaRPr>
          </a:p>
          <a:p>
            <a:pPr marL="0" lvl="0" indent="0">
              <a:buClr>
                <a:srgbClr val="000000"/>
              </a:buClr>
              <a:buSzPts val="900"/>
            </a:pPr>
            <a:r>
              <a:rPr lang="en-GB" sz="1200" b="1" dirty="0">
                <a:solidFill>
                  <a:srgbClr val="002060"/>
                </a:solidFill>
                <a:latin typeface="Open Sans"/>
                <a:ea typeface="Open Sans"/>
                <a:cs typeface="Open Sans"/>
                <a:sym typeface="Open Sans"/>
              </a:rPr>
              <a:t>Accenture projects (selected)</a:t>
            </a:r>
          </a:p>
          <a:p>
            <a:pPr marL="0" lvl="0" indent="0">
              <a:buClr>
                <a:srgbClr val="000000"/>
              </a:buClr>
              <a:buSzPts val="900"/>
            </a:pPr>
            <a:endParaRPr lang="en-GB" sz="900" dirty="0"/>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RAF</a:t>
            </a:r>
          </a:p>
          <a:p>
            <a:pPr marL="171450" indent="-171450">
              <a:spcBef>
                <a:spcPts val="450"/>
              </a:spcBef>
              <a:buClr>
                <a:srgbClr val="000000"/>
              </a:buClr>
              <a:buSzPts val="900"/>
              <a:buFont typeface="Arial"/>
              <a:buChar char="•"/>
            </a:pPr>
            <a:r>
              <a:rPr lang="en-GB" sz="900" dirty="0">
                <a:solidFill>
                  <a:srgbClr val="000000"/>
                </a:solidFill>
                <a:latin typeface="Open Sans"/>
                <a:ea typeface="Open Sans"/>
                <a:cs typeface="Open Sans"/>
                <a:sym typeface="Open Sans"/>
              </a:rPr>
              <a:t>Developing multiple visualisation POC’s in Tableau and Palantir Workshop including Operational Planning reporting proposal</a:t>
            </a:r>
          </a:p>
          <a:p>
            <a:pPr marL="171450" indent="-171450">
              <a:spcBef>
                <a:spcPts val="450"/>
              </a:spcBef>
              <a:buClr>
                <a:srgbClr val="000000"/>
              </a:buClr>
              <a:buSzPts val="900"/>
              <a:buFont typeface="Arial"/>
              <a:buChar char="•"/>
            </a:pPr>
            <a:r>
              <a:rPr lang="en-GB" sz="900" dirty="0">
                <a:solidFill>
                  <a:srgbClr val="000000"/>
                </a:solidFill>
                <a:latin typeface="Open Sans"/>
                <a:ea typeface="Open Sans"/>
                <a:cs typeface="Open Sans"/>
                <a:sym typeface="Open Sans"/>
              </a:rPr>
              <a:t>Leading team in investigating data pipeline and architecture for Product Analytics reporting</a:t>
            </a:r>
          </a:p>
          <a:p>
            <a:pPr marL="171450" indent="-171450">
              <a:spcBef>
                <a:spcPts val="450"/>
              </a:spcBef>
              <a:buClr>
                <a:srgbClr val="000000"/>
              </a:buClr>
              <a:buSzPts val="900"/>
              <a:buFont typeface="Arial"/>
              <a:buChar char="•"/>
            </a:pPr>
            <a:endParaRPr lang="en-GB" sz="900" dirty="0">
              <a:solidFill>
                <a:srgbClr val="000000"/>
              </a:solidFill>
              <a:latin typeface="Open Sans"/>
              <a:ea typeface="Open Sans"/>
              <a:cs typeface="Open Sans"/>
              <a:sym typeface="Open Sans"/>
            </a:endParaRPr>
          </a:p>
          <a:p>
            <a:pPr marL="0" lvl="0" indent="0">
              <a:spcBef>
                <a:spcPts val="450"/>
              </a:spcBef>
              <a:buClr>
                <a:srgbClr val="000000"/>
              </a:buClr>
              <a:buSzPts val="900"/>
            </a:pPr>
            <a:r>
              <a:rPr lang="en-GB" sz="900" b="1" u="sng" dirty="0">
                <a:solidFill>
                  <a:srgbClr val="000000"/>
                </a:solidFill>
                <a:latin typeface="Open Sans"/>
                <a:ea typeface="Open Sans"/>
                <a:cs typeface="Open Sans"/>
                <a:sym typeface="Open Sans"/>
              </a:rPr>
              <a:t>NHSE / Palantir</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Working with Palantir to support report migration for the NHSE, specifically a Foundry Workshop dashboard highlighting patient waiting times</a:t>
            </a:r>
            <a:endParaRPr lang="en-GB" sz="900" dirty="0"/>
          </a:p>
          <a:p>
            <a:pPr marL="171450" lvl="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In addition to dashboard development, I also took on business analysis tasks, supported data engineering, led team meetings and demoed to NHSE leadership </a:t>
            </a:r>
          </a:p>
          <a:p>
            <a:pPr marL="171450" lvl="0" indent="-171450">
              <a:spcBef>
                <a:spcPts val="600"/>
              </a:spcBef>
              <a:buClr>
                <a:srgbClr val="000000"/>
              </a:buClr>
              <a:buSzPts val="900"/>
              <a:buFont typeface="Arial"/>
              <a:buChar char="•"/>
            </a:pPr>
            <a:endParaRPr lang="en-GB" sz="900"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United Nations Global Compact</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Leading Tableau developers to build and enhance dashboards to indicate external companies’ sustainability policies</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Creation of operating model for strategic planning of visualization</a:t>
            </a:r>
          </a:p>
          <a:p>
            <a:pPr marL="0" lvl="0" indent="0">
              <a:spcBef>
                <a:spcPts val="600"/>
              </a:spcBef>
              <a:buClr>
                <a:srgbClr val="000000"/>
              </a:buClr>
              <a:buSzPts val="900"/>
            </a:pPr>
            <a:endParaRPr lang="en-GB" sz="900" b="1" u="sng"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Scottish Power</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Initially came into the team as a Visualisation expert to help build </a:t>
            </a:r>
            <a:r>
              <a:rPr lang="en-GB" sz="900" dirty="0" err="1">
                <a:solidFill>
                  <a:srgbClr val="000000"/>
                </a:solidFill>
                <a:latin typeface="Open Sans"/>
                <a:ea typeface="Open Sans"/>
                <a:cs typeface="Open Sans"/>
                <a:sym typeface="Open Sans"/>
              </a:rPr>
              <a:t>PowerBI</a:t>
            </a:r>
            <a:r>
              <a:rPr lang="en-GB" sz="900" dirty="0">
                <a:solidFill>
                  <a:srgbClr val="000000"/>
                </a:solidFill>
                <a:latin typeface="Open Sans"/>
                <a:ea typeface="Open Sans"/>
                <a:cs typeface="Open Sans"/>
                <a:sym typeface="Open Sans"/>
              </a:rPr>
              <a:t> Dashboards within Scottish Power Complaints</a:t>
            </a:r>
            <a:endParaRPr lang="en-GB" sz="900" dirty="0"/>
          </a:p>
          <a:p>
            <a:pPr marL="171450" lvl="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Subsequently required to lead the team and manage deliverables including assessing Goodwill reporting and ombudsman risk</a:t>
            </a:r>
          </a:p>
          <a:p>
            <a:pPr marL="0" lvl="0" indent="0">
              <a:spcBef>
                <a:spcPts val="600"/>
              </a:spcBef>
              <a:buClr>
                <a:srgbClr val="000000"/>
              </a:buClr>
              <a:buSzPts val="900"/>
            </a:pPr>
            <a:endParaRPr lang="en-GB" sz="900" b="1" u="sng"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Accenture Supply Chain Decarbonisation Suite</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Leading teams of data scientists to build Gen AI solutions focussing on enhancing Sustainability processes by reducing manual effort by circa 90%</a:t>
            </a:r>
            <a:endParaRPr lang="en-GB" sz="900" b="1"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900"/>
              <a:buNone/>
            </a:pPr>
            <a:endParaRPr sz="900" dirty="0">
              <a:solidFill>
                <a:srgbClr val="000000"/>
              </a:solidFill>
              <a:latin typeface="Arial"/>
              <a:ea typeface="Arial"/>
              <a:cs typeface="Arial"/>
              <a:sym typeface="Arial"/>
            </a:endParaRPr>
          </a:p>
        </p:txBody>
      </p:sp>
      <p:sp>
        <p:nvSpPr>
          <p:cNvPr id="138" name="Google Shape;138;g3aa6806b005_0_0"/>
          <p:cNvSpPr txBox="1"/>
          <p:nvPr/>
        </p:nvSpPr>
        <p:spPr>
          <a:xfrm>
            <a:off x="10508974" y="6467061"/>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39" name="Google Shape;139;g3aa6806b005_0_0"/>
          <p:cNvCxnSpPr>
            <a:cxnSpLocks/>
          </p:cNvCxnSpPr>
          <p:nvPr/>
        </p:nvCxnSpPr>
        <p:spPr>
          <a:xfrm>
            <a:off x="278790" y="2099243"/>
            <a:ext cx="1742034" cy="0"/>
          </a:xfrm>
          <a:prstGeom prst="straightConnector1">
            <a:avLst/>
          </a:prstGeom>
          <a:noFill/>
          <a:ln w="12700" cap="flat" cmpd="sng">
            <a:solidFill>
              <a:schemeClr val="lt1">
                <a:alpha val="49800"/>
              </a:schemeClr>
            </a:solidFill>
            <a:prstDash val="solid"/>
            <a:miter lim="800000"/>
            <a:headEnd type="none" w="sm" len="sm"/>
            <a:tailEnd type="none" w="sm" len="sm"/>
          </a:ln>
        </p:spPr>
      </p:cxnSp>
      <p:cxnSp>
        <p:nvCxnSpPr>
          <p:cNvPr id="147" name="Google Shape;147;g3aa6806b005_0_0"/>
          <p:cNvCxnSpPr/>
          <p:nvPr/>
        </p:nvCxnSpPr>
        <p:spPr>
          <a:xfrm rot="10800000">
            <a:off x="10442348" y="1054000"/>
            <a:ext cx="0" cy="5245200"/>
          </a:xfrm>
          <a:prstGeom prst="straightConnector1">
            <a:avLst/>
          </a:prstGeom>
          <a:noFill/>
          <a:ln w="9525" cap="flat" cmpd="sng">
            <a:solidFill>
              <a:srgbClr val="002060">
                <a:alpha val="80000"/>
              </a:srgbClr>
            </a:solidFill>
            <a:prstDash val="dot"/>
            <a:miter lim="800000"/>
            <a:headEnd type="none" w="sm" len="sm"/>
            <a:tailEnd type="none" w="sm" len="sm"/>
          </a:ln>
        </p:spPr>
      </p:cxnSp>
      <p:sp>
        <p:nvSpPr>
          <p:cNvPr id="5" name="Google Shape;137;g3aa6806b005_0_0">
            <a:extLst>
              <a:ext uri="{FF2B5EF4-FFF2-40B4-BE49-F238E27FC236}">
                <a16:creationId xmlns:a16="http://schemas.microsoft.com/office/drawing/2014/main" id="{F3FBB548-B10E-77E1-3C27-1798D472F5C4}"/>
              </a:ext>
            </a:extLst>
          </p:cNvPr>
          <p:cNvSpPr txBox="1">
            <a:spLocks/>
          </p:cNvSpPr>
          <p:nvPr/>
        </p:nvSpPr>
        <p:spPr>
          <a:xfrm>
            <a:off x="6454738" y="320039"/>
            <a:ext cx="3921702" cy="6344062"/>
          </a:xfrm>
          <a:prstGeom prst="rect">
            <a:avLst/>
          </a:prstGeom>
          <a:noFill/>
          <a:ln>
            <a:noFill/>
          </a:ln>
        </p:spPr>
        <p:txBody>
          <a:bodyPr spcFirstLastPara="1" vert="horz" wrap="square" lIns="0" tIns="0" rIns="0" bIns="0" rtlCol="0" anchor="t" anchorCtr="0">
            <a:noAutofit/>
          </a:bodyPr>
          <a:lstStyle>
            <a:lvl1pPr marL="609585" lvl="0" indent="-304792" algn="l" defTabSz="914400" rtl="0" eaLnBrk="1" latinLnBrk="0" hangingPunct="1">
              <a:lnSpc>
                <a:spcPct val="90000"/>
              </a:lnSpc>
              <a:spcBef>
                <a:spcPts val="0"/>
              </a:spcBef>
              <a:spcAft>
                <a:spcPts val="0"/>
              </a:spcAft>
              <a:buClr>
                <a:schemeClr val="dk1"/>
              </a:buClr>
              <a:buSzPts val="800"/>
              <a:buFont typeface="Arial" panose="020B0604020202020204" pitchFamily="34" charset="0"/>
              <a:buNone/>
              <a:defRPr sz="1067" b="0" kern="1200">
                <a:solidFill>
                  <a:schemeClr val="dk1"/>
                </a:solidFill>
                <a:latin typeface="Arial"/>
                <a:ea typeface="Arial"/>
                <a:cs typeface="Arial"/>
                <a:sym typeface="Arial"/>
              </a:defRPr>
            </a:lvl1pPr>
            <a:lvl2pPr marL="1219170" lvl="1"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1600"/>
              </a:spcBef>
              <a:spcAft>
                <a:spcPts val="1600"/>
              </a:spcAft>
              <a:buClr>
                <a:schemeClr val="dk1"/>
              </a:buClr>
              <a:buSzPts val="1400"/>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endParaRPr kumimoji="0" lang="en-GB" sz="1400" b="1" i="0" u="none" strike="noStrike" kern="1200" cap="none" spc="0" normalizeH="0" baseline="0" noProof="0" dirty="0">
              <a:ln>
                <a:noFill/>
              </a:ln>
              <a:solidFill>
                <a:srgbClr val="00206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endParaRPr kumimoji="0" lang="en-GB" sz="1400" b="1" i="0" u="none" strike="noStrike" kern="1200" cap="none" spc="0" normalizeH="0" baseline="0" noProof="0" dirty="0">
              <a:ln>
                <a:noFill/>
              </a:ln>
              <a:solidFill>
                <a:srgbClr val="00206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r>
              <a:rPr kumimoji="0" lang="en-GB" sz="1200" b="1" i="0" u="none" strike="noStrike" kern="1200" cap="none" spc="0" normalizeH="0" baseline="0" noProof="0" dirty="0">
                <a:ln>
                  <a:noFill/>
                </a:ln>
                <a:solidFill>
                  <a:srgbClr val="002060"/>
                </a:solidFill>
                <a:effectLst/>
                <a:uLnTx/>
                <a:uFillTx/>
                <a:latin typeface="Open Sans"/>
                <a:ea typeface="Open Sans"/>
                <a:cs typeface="Open Sans"/>
                <a:sym typeface="Open Sans"/>
              </a:rPr>
              <a:t>Accenture projects (selected) cont.</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endParaRPr lang="en-GB" sz="900" b="1" u="sng" dirty="0">
              <a:solidFill>
                <a:srgbClr val="000000"/>
              </a:solidFill>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rPr>
              <a:t>Lloyds Banking Group</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Open Sans"/>
                <a:ea typeface="Open Sans"/>
                <a:cs typeface="Open Sans"/>
                <a:sym typeface="Open Sans"/>
              </a:rPr>
              <a:t>Project 2</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Directing development of Power BI dashboards to report on board level metrics</a:t>
            </a:r>
            <a:r>
              <a:rPr kumimoji="0" lang="en-GB" sz="900" b="0" i="0" u="none" strike="noStrike" kern="1200" cap="none" spc="0" normalizeH="0" baseline="0" noProof="0" dirty="0">
                <a:ln>
                  <a:noFill/>
                </a:ln>
                <a:solidFill>
                  <a:prstClr val="black"/>
                </a:solidFill>
                <a:effectLst/>
                <a:uLnTx/>
                <a:uFillTx/>
                <a:latin typeface="Arial"/>
                <a:cs typeface="Arial"/>
                <a:sym typeface="Open Sans"/>
              </a:rPr>
              <a:t>, and demoing to senior leadership</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Open Sans"/>
                <a:ea typeface="Open Sans"/>
                <a:cs typeface="Open Sans"/>
                <a:sym typeface="Open Sans"/>
              </a:rPr>
              <a:t>Project 1</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Development of data quality dashboards in Tableau, leading production of developed product and training for handover</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endPar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rPr>
              <a:t>UK Health Security Agency</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Supporting the UKHSA with the covid-19 pandemic </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Assisting the Head of Visualisation on key strategic planning and helping direct the team</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Undertaking and directing on dashboard development and delivering marketing and training sessions and artefacts to upskill the business in Qlik Sense</a:t>
            </a: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endParaRPr lang="en-GB" sz="900" dirty="0">
              <a:solidFill>
                <a:srgbClr val="000000"/>
              </a:solidFill>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tabLst/>
              <a:defRPr/>
            </a:pPr>
            <a:endPar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endParaRPr>
          </a:p>
          <a:p>
            <a:pPr marL="0" indent="0">
              <a:spcBef>
                <a:spcPts val="600"/>
              </a:spcBef>
            </a:pPr>
            <a:r>
              <a:rPr lang="en-GB" sz="1200" b="1" dirty="0">
                <a:solidFill>
                  <a:srgbClr val="002060"/>
                </a:solidFill>
                <a:latin typeface="Open Sans"/>
                <a:ea typeface="Open Sans"/>
                <a:cs typeface="Open Sans"/>
                <a:sym typeface="Open Sans"/>
              </a:rPr>
              <a:t>Previous companies (selected)</a:t>
            </a:r>
          </a:p>
          <a:p>
            <a:pPr marL="171450" indent="-171450">
              <a:spcBef>
                <a:spcPts val="600"/>
              </a:spcBef>
              <a:buClr>
                <a:srgbClr val="000000"/>
              </a:buClr>
              <a:buSzPts val="900"/>
              <a:buFont typeface="Arial"/>
              <a:buChar char="•"/>
            </a:pPr>
            <a:r>
              <a:rPr lang="en-GB" sz="900" b="1" dirty="0">
                <a:solidFill>
                  <a:srgbClr val="000000"/>
                </a:solidFill>
                <a:latin typeface="Open Sans"/>
                <a:ea typeface="Open Sans"/>
                <a:cs typeface="Open Sans"/>
                <a:sym typeface="Open Sans"/>
              </a:rPr>
              <a:t>A.S. Watson </a:t>
            </a:r>
            <a:r>
              <a:rPr lang="en-GB" sz="900" i="1" dirty="0">
                <a:solidFill>
                  <a:srgbClr val="000000"/>
                </a:solidFill>
                <a:latin typeface="Open Sans"/>
                <a:ea typeface="Open Sans"/>
                <a:cs typeface="Open Sans"/>
                <a:sym typeface="Open Sans"/>
              </a:rPr>
              <a:t>(health and beauty retailer) </a:t>
            </a:r>
            <a:r>
              <a:rPr lang="en-GB" sz="900" dirty="0">
                <a:solidFill>
                  <a:srgbClr val="000000"/>
                </a:solidFill>
                <a:latin typeface="Open Sans"/>
                <a:ea typeface="Open Sans"/>
                <a:cs typeface="Open Sans"/>
                <a:sym typeface="Open Sans"/>
              </a:rPr>
              <a:t>- </a:t>
            </a:r>
            <a:r>
              <a:rPr lang="en-GB" sz="900" dirty="0">
                <a:solidFill>
                  <a:srgbClr val="000000"/>
                </a:solidFill>
                <a:latin typeface="Open Sans"/>
                <a:ea typeface="Open Sans"/>
                <a:cs typeface="Open Sans"/>
              </a:rPr>
              <a:t>Construction and implementation of Tableau reports across Europe and Asia Business Units</a:t>
            </a:r>
          </a:p>
          <a:p>
            <a:pPr marL="171450" indent="-171450">
              <a:spcBef>
                <a:spcPts val="600"/>
              </a:spcBef>
              <a:buClr>
                <a:srgbClr val="000000"/>
              </a:buClr>
              <a:buSzPts val="900"/>
              <a:buFont typeface="Arial"/>
              <a:buChar char="•"/>
            </a:pPr>
            <a:r>
              <a:rPr lang="en-GB" sz="900" b="1" dirty="0">
                <a:solidFill>
                  <a:srgbClr val="000000"/>
                </a:solidFill>
                <a:latin typeface="Open Sans"/>
                <a:ea typeface="Open Sans"/>
                <a:cs typeface="Open Sans"/>
              </a:rPr>
              <a:t>New Look, </a:t>
            </a:r>
            <a:r>
              <a:rPr lang="en-GB" sz="900" i="1" dirty="0">
                <a:solidFill>
                  <a:srgbClr val="000000"/>
                </a:solidFill>
                <a:latin typeface="Open Sans"/>
                <a:ea typeface="Open Sans"/>
                <a:cs typeface="Open Sans"/>
              </a:rPr>
              <a:t>(fashion retailer) </a:t>
            </a:r>
            <a:r>
              <a:rPr lang="en-GB" sz="900" dirty="0">
                <a:solidFill>
                  <a:srgbClr val="000000"/>
                </a:solidFill>
                <a:latin typeface="Open Sans"/>
                <a:ea typeface="Open Sans"/>
                <a:cs typeface="Open Sans"/>
              </a:rPr>
              <a:t>- Engineering data in SQL and Tableau dashboard development for business-wide use</a:t>
            </a:r>
            <a:endParaRPr lang="en-GB" sz="900" dirty="0">
              <a:solidFill>
                <a:srgbClr val="000000"/>
              </a:solidFill>
              <a:latin typeface="Open Sans"/>
              <a:ea typeface="Open Sans"/>
              <a:cs typeface="Open Sans"/>
              <a:sym typeface="Open Sans"/>
            </a:endParaRPr>
          </a:p>
          <a:p>
            <a:pPr marL="0" indent="0">
              <a:defRPr/>
            </a:pPr>
            <a:endParaRPr lang="en-GB" sz="900" dirty="0">
              <a:solidFill>
                <a:srgbClr val="000000"/>
              </a:solidFill>
              <a:latin typeface="Open Sans"/>
              <a:ea typeface="Open Sans"/>
              <a:cs typeface="Open Sans"/>
              <a:sym typeface="Open Sans"/>
            </a:endParaRPr>
          </a:p>
          <a:p>
            <a:pPr marL="0" lvl="0" indent="0">
              <a:spcBef>
                <a:spcPts val="600"/>
              </a:spcBef>
              <a:buSzPts val="900"/>
            </a:pPr>
            <a:r>
              <a:rPr lang="en-GB" sz="1200" b="1" dirty="0">
                <a:solidFill>
                  <a:srgbClr val="002060"/>
                </a:solidFill>
                <a:latin typeface="Open Sans"/>
                <a:ea typeface="Open Sans"/>
                <a:cs typeface="Open Sans"/>
              </a:rPr>
              <a:t>Personal ventures:</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rPr>
              <a:t>Founder of </a:t>
            </a:r>
            <a:r>
              <a:rPr lang="en-GB" sz="900" dirty="0">
                <a:solidFill>
                  <a:srgbClr val="000000"/>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MyBigClub.com</a:t>
            </a:r>
            <a:r>
              <a:rPr lang="en-GB" sz="900" dirty="0">
                <a:solidFill>
                  <a:srgbClr val="000000"/>
                </a:solidFill>
                <a:latin typeface="Open Sans"/>
                <a:ea typeface="Open Sans"/>
                <a:cs typeface="Open Sans"/>
              </a:rPr>
              <a:t>, a website that uses data to determine which football club is the biggest in England</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rPr>
              <a:t>Created several mobile games and published them to Google Play. The games have been built using Unity and HTML</a:t>
            </a:r>
          </a:p>
          <a:p>
            <a:pPr marL="0" indent="0">
              <a:spcBef>
                <a:spcPts val="600"/>
              </a:spcBef>
              <a:buSzPts val="900"/>
            </a:pPr>
            <a:endParaRPr lang="en-GB" sz="9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aa6806b005_0_0"/>
          <p:cNvSpPr/>
          <p:nvPr/>
        </p:nvSpPr>
        <p:spPr>
          <a:xfrm>
            <a:off x="-5690" y="0"/>
            <a:ext cx="12192000" cy="6858000"/>
          </a:xfrm>
          <a:prstGeom prst="rect">
            <a:avLst/>
          </a:prstGeom>
          <a:gradFill>
            <a:gsLst>
              <a:gs pos="0">
                <a:srgbClr val="EFF7FC">
                  <a:alpha val="0"/>
                </a:srgbClr>
              </a:gs>
              <a:gs pos="8000">
                <a:srgbClr val="EFF7FC"/>
              </a:gs>
              <a:gs pos="89000">
                <a:srgbClr val="002060">
                  <a:alpha val="0"/>
                </a:srgbClr>
              </a:gs>
              <a:gs pos="100000">
                <a:srgbClr val="002060">
                  <a:alpha val="0"/>
                </a:srgbClr>
              </a:gs>
            </a:gsLst>
            <a:path path="circle">
              <a:fillToRect l="50000" t="50000" r="50000" b="50000"/>
            </a:path>
            <a:tileRect/>
          </a:gradFill>
          <a:ln w="19050" cap="flat" cmpd="sng">
            <a:solidFill>
              <a:schemeClr val="accent3">
                <a:alpha val="588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g3aa6806b005_0_0"/>
          <p:cNvSpPr/>
          <p:nvPr/>
        </p:nvSpPr>
        <p:spPr>
          <a:xfrm>
            <a:off x="-9225" y="0"/>
            <a:ext cx="2335148" cy="6858000"/>
          </a:xfrm>
          <a:prstGeom prst="rect">
            <a:avLst/>
          </a:prstGeom>
          <a:solidFill>
            <a:srgbClr val="002060"/>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g3aa6806b005_0_0"/>
          <p:cNvSpPr txBox="1"/>
          <p:nvPr/>
        </p:nvSpPr>
        <p:spPr>
          <a:xfrm>
            <a:off x="2322387" y="106268"/>
            <a:ext cx="7919894" cy="350137"/>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2060"/>
              </a:buClr>
              <a:buSzPts val="3200"/>
              <a:buFont typeface="Arial Black"/>
              <a:buNone/>
            </a:pPr>
            <a:r>
              <a:rPr lang="en-GB" sz="3200" b="1" i="0" u="none" strike="noStrike" cap="none" dirty="0">
                <a:solidFill>
                  <a:srgbClr val="002060"/>
                </a:solidFill>
                <a:latin typeface="Arial Black"/>
                <a:ea typeface="Arial Black"/>
                <a:cs typeface="Arial Black"/>
                <a:sym typeface="Arial Black"/>
              </a:rPr>
              <a:t>Tom Morgan </a:t>
            </a:r>
            <a:r>
              <a:rPr lang="en-GB" u="sng" dirty="0">
                <a:solidFill>
                  <a:srgbClr val="002060"/>
                </a:solidFill>
                <a:hlinkClick r:id="rId3">
                  <a:extLst>
                    <a:ext uri="{A12FA001-AC4F-418D-AE19-62706E023703}">
                      <ahyp:hlinkClr xmlns:ahyp="http://schemas.microsoft.com/office/drawing/2018/hyperlinkcolor" val="tx"/>
                    </a:ext>
                  </a:extLst>
                </a:hlinkClick>
              </a:rPr>
              <a:t>t.morgan17@hotmail.co.uk</a:t>
            </a:r>
            <a:endParaRPr dirty="0"/>
          </a:p>
          <a:p>
            <a:pPr marL="0" marR="0" lvl="0" indent="0" algn="l" rtl="0">
              <a:lnSpc>
                <a:spcPct val="80000"/>
              </a:lnSpc>
              <a:spcBef>
                <a:spcPts val="0"/>
              </a:spcBef>
              <a:spcAft>
                <a:spcPts val="0"/>
              </a:spcAft>
              <a:buClr>
                <a:srgbClr val="002060"/>
              </a:buClr>
              <a:buSzPts val="1400"/>
              <a:buFont typeface="Arial"/>
              <a:buNone/>
            </a:pPr>
            <a:endParaRPr sz="1400" b="0" i="0" u="none" strike="noStrike" cap="none" dirty="0">
              <a:solidFill>
                <a:srgbClr val="002060"/>
              </a:solidFill>
              <a:latin typeface="Arial"/>
              <a:ea typeface="Arial"/>
              <a:cs typeface="Arial"/>
              <a:sym typeface="Arial"/>
            </a:endParaRPr>
          </a:p>
          <a:p>
            <a:pPr marL="0" marR="0" lvl="0" indent="0" algn="l" rtl="0">
              <a:lnSpc>
                <a:spcPct val="80000"/>
              </a:lnSpc>
              <a:spcBef>
                <a:spcPts val="0"/>
              </a:spcBef>
              <a:spcAft>
                <a:spcPts val="0"/>
              </a:spcAft>
              <a:buClr>
                <a:schemeClr val="accent1"/>
              </a:buClr>
              <a:buSzPts val="3200"/>
              <a:buFont typeface="Play"/>
              <a:buNone/>
            </a:pPr>
            <a:endParaRPr sz="3200" b="1" i="0" u="none" strike="noStrike" cap="none" dirty="0">
              <a:solidFill>
                <a:srgbClr val="002060"/>
              </a:solidFill>
              <a:latin typeface="Arial Black"/>
              <a:ea typeface="Arial Black"/>
              <a:cs typeface="Arial Black"/>
              <a:sym typeface="Arial Black"/>
            </a:endParaRPr>
          </a:p>
        </p:txBody>
      </p:sp>
      <p:sp>
        <p:nvSpPr>
          <p:cNvPr id="135" name="Google Shape;135;g3aa6806b005_0_0"/>
          <p:cNvSpPr txBox="1">
            <a:spLocks noGrp="1"/>
          </p:cNvSpPr>
          <p:nvPr>
            <p:ph type="body" idx="1"/>
          </p:nvPr>
        </p:nvSpPr>
        <p:spPr>
          <a:xfrm>
            <a:off x="0" y="1801368"/>
            <a:ext cx="2274535" cy="4374132"/>
          </a:xfrm>
          <a:prstGeom prst="rect">
            <a:avLst/>
          </a:prstGeom>
          <a:noFill/>
          <a:ln>
            <a:noFill/>
          </a:ln>
        </p:spPr>
        <p:txBody>
          <a:bodyPr spcFirstLastPara="1" wrap="square" lIns="0" tIns="0" rIns="0" bIns="0" anchor="t" anchorCtr="0">
            <a:noAutofit/>
          </a:bodyPr>
          <a:lstStyle/>
          <a:p>
            <a:pPr marL="0" lvl="0" indent="0" algn="ctr" rtl="0">
              <a:lnSpc>
                <a:spcPct val="80000"/>
              </a:lnSpc>
              <a:spcBef>
                <a:spcPts val="0"/>
              </a:spcBef>
              <a:spcAft>
                <a:spcPts val="0"/>
              </a:spcAft>
              <a:buClr>
                <a:schemeClr val="lt1"/>
              </a:buClr>
              <a:buSzPts val="900"/>
              <a:buNone/>
            </a:pPr>
            <a:r>
              <a:rPr lang="en-GB" sz="900" b="1" dirty="0">
                <a:solidFill>
                  <a:schemeClr val="lt1"/>
                </a:solidFill>
                <a:latin typeface="Open Sans"/>
                <a:ea typeface="Open Sans"/>
                <a:cs typeface="Open Sans"/>
                <a:sym typeface="Open Sans"/>
              </a:rPr>
              <a:t>Professional Background</a:t>
            </a:r>
            <a:endParaRPr dirty="0"/>
          </a:p>
          <a:p>
            <a:pPr marL="0" lvl="0" indent="0" algn="ctr" rtl="0">
              <a:lnSpc>
                <a:spcPct val="90000"/>
              </a:lnSpc>
              <a:spcBef>
                <a:spcPts val="1050"/>
              </a:spcBef>
              <a:spcAft>
                <a:spcPts val="0"/>
              </a:spcAft>
              <a:buClr>
                <a:schemeClr val="lt1"/>
              </a:buClr>
              <a:buSzPts val="900"/>
              <a:buNone/>
            </a:pPr>
            <a:r>
              <a:rPr lang="en-GB" sz="900" b="1" dirty="0">
                <a:solidFill>
                  <a:schemeClr val="lt1"/>
                </a:solidFill>
                <a:latin typeface="Open Sans"/>
                <a:ea typeface="Open Sans"/>
                <a:cs typeface="Open Sans"/>
                <a:sym typeface="Open Sans"/>
              </a:rPr>
              <a:t>A data solutions and development professional with 11+ years’ experience, passionate about visualisation and AI to facilitate and accelerate data driven decision making.</a:t>
            </a:r>
            <a:endParaRPr dirty="0"/>
          </a:p>
          <a:p>
            <a:pPr marL="0" lvl="0" indent="0" algn="ctr" rtl="0">
              <a:lnSpc>
                <a:spcPct val="90000"/>
              </a:lnSpc>
              <a:spcBef>
                <a:spcPts val="1200"/>
              </a:spcBef>
              <a:spcAft>
                <a:spcPts val="0"/>
              </a:spcAft>
              <a:buClr>
                <a:schemeClr val="lt1"/>
              </a:buClr>
              <a:buSzPts val="900"/>
              <a:buFont typeface="Arial"/>
              <a:buNone/>
            </a:pPr>
            <a:r>
              <a:rPr lang="en-GB" sz="900" dirty="0">
                <a:solidFill>
                  <a:schemeClr val="lt1"/>
                </a:solidFill>
                <a:latin typeface="Open Sans"/>
                <a:ea typeface="Open Sans"/>
                <a:cs typeface="Open Sans"/>
                <a:sym typeface="Open Sans"/>
              </a:rPr>
              <a:t>I have extensive experience in scoping, designing, directing, developing and demonstrating dashboard creation across various tools, primarily for Accenture. I have directed development of Gen AI solutions, as well as founding and leading development of a football website.</a:t>
            </a:r>
            <a:endParaRPr dirty="0"/>
          </a:p>
          <a:p>
            <a:pPr marL="0" lvl="0" indent="0" algn="ctr" rtl="0">
              <a:spcBef>
                <a:spcPts val="1200"/>
              </a:spcBef>
              <a:spcAft>
                <a:spcPts val="0"/>
              </a:spcAft>
              <a:buClr>
                <a:schemeClr val="lt1"/>
              </a:buClr>
              <a:buSzPts val="900"/>
              <a:buNone/>
            </a:pPr>
            <a:r>
              <a:rPr lang="en-GB" sz="900" dirty="0">
                <a:solidFill>
                  <a:schemeClr val="lt1"/>
                </a:solidFill>
                <a:latin typeface="Open Sans"/>
                <a:ea typeface="Open Sans"/>
                <a:cs typeface="Open Sans"/>
                <a:sym typeface="Open Sans"/>
              </a:rPr>
              <a:t>In addition to my technical knowledge, I can both engage with key stakeholders to understand the desired outcome and manage other developers to achieve this. Examples of this include creating data quality tools, advanced prototypes and Gen AI data extraction capabilities.</a:t>
            </a:r>
          </a:p>
          <a:p>
            <a:pPr marL="0" indent="0" algn="ctr">
              <a:spcBef>
                <a:spcPts val="1200"/>
              </a:spcBef>
              <a:buClr>
                <a:schemeClr val="lt1"/>
              </a:buClr>
              <a:buSzPts val="900"/>
            </a:pPr>
            <a:r>
              <a:rPr lang="en-GB" sz="900" dirty="0">
                <a:solidFill>
                  <a:schemeClr val="lt1"/>
                </a:solidFill>
                <a:latin typeface="Open Sans"/>
                <a:ea typeface="Open Sans"/>
                <a:cs typeface="Open Sans"/>
              </a:rPr>
              <a:t>My time at UKHSA is the best example of working with data in near real time. I developed visualisations that could show variances to previous days / weeks. Showing changes to an appropriate benchmark in this way was  hugely significant in surfacing key spikes in covid-19 cases across regions of the UK. It was also a key principle I would emphasize to learning groups in training sessions.</a:t>
            </a:r>
            <a:endParaRPr dirty="0"/>
          </a:p>
          <a:p>
            <a:pPr marL="0" lvl="0" indent="0" algn="l" rtl="0">
              <a:lnSpc>
                <a:spcPct val="90000"/>
              </a:lnSpc>
              <a:spcBef>
                <a:spcPts val="1200"/>
              </a:spcBef>
              <a:spcAft>
                <a:spcPts val="0"/>
              </a:spcAft>
              <a:buClr>
                <a:schemeClr val="lt1"/>
              </a:buClr>
              <a:buSzPts val="900"/>
              <a:buNone/>
            </a:pPr>
            <a:endParaRPr sz="600" dirty="0">
              <a:solidFill>
                <a:schemeClr val="lt1"/>
              </a:solidFill>
              <a:latin typeface="Arial"/>
              <a:ea typeface="Arial"/>
              <a:cs typeface="Arial"/>
              <a:sym typeface="Arial"/>
            </a:endParaRPr>
          </a:p>
        </p:txBody>
      </p:sp>
      <p:sp>
        <p:nvSpPr>
          <p:cNvPr id="136" name="Google Shape;136;g3aa6806b005_0_0"/>
          <p:cNvSpPr txBox="1">
            <a:spLocks noGrp="1"/>
          </p:cNvSpPr>
          <p:nvPr>
            <p:ph type="body" idx="2"/>
          </p:nvPr>
        </p:nvSpPr>
        <p:spPr>
          <a:xfrm>
            <a:off x="10442348" y="731519"/>
            <a:ext cx="1743961" cy="5983200"/>
          </a:xfrm>
          <a:prstGeom prst="rect">
            <a:avLst/>
          </a:prstGeom>
          <a:solidFill>
            <a:schemeClr val="lt1">
              <a:alpha val="0"/>
            </a:schemeClr>
          </a:solidFill>
          <a:ln>
            <a:noFill/>
          </a:ln>
        </p:spPr>
        <p:txBody>
          <a:bodyPr spcFirstLastPara="1" wrap="square" lIns="0" tIns="0" rIns="0" bIns="0" anchor="t" anchorCtr="0">
            <a:normAutofit/>
          </a:bodyPr>
          <a:lstStyle/>
          <a:p>
            <a:pPr marL="0" lvl="0" indent="0" algn="ctr" rtl="0">
              <a:lnSpc>
                <a:spcPct val="90000"/>
              </a:lnSpc>
              <a:spcBef>
                <a:spcPts val="0"/>
              </a:spcBef>
              <a:spcAft>
                <a:spcPts val="0"/>
              </a:spcAft>
              <a:buClr>
                <a:srgbClr val="002060"/>
              </a:buClr>
              <a:buSzPts val="1200"/>
              <a:buNone/>
            </a:pPr>
            <a:r>
              <a:rPr lang="en-GB" sz="1200" b="1" dirty="0">
                <a:solidFill>
                  <a:srgbClr val="002060"/>
                </a:solidFill>
                <a:latin typeface="Open Sans"/>
                <a:ea typeface="Open Sans"/>
                <a:cs typeface="Open Sans"/>
                <a:sym typeface="Open Sans"/>
              </a:rPr>
              <a:t>Functional Skills</a:t>
            </a:r>
            <a:endParaRPr dirty="0"/>
          </a:p>
          <a:p>
            <a:pPr marL="99449" lvl="0" indent="-48649" algn="ctr" rtl="0">
              <a:lnSpc>
                <a:spcPct val="90000"/>
              </a:lnSpc>
              <a:spcBef>
                <a:spcPts val="200"/>
              </a:spcBef>
              <a:spcAft>
                <a:spcPts val="0"/>
              </a:spcAft>
              <a:buClr>
                <a:schemeClr val="dk1"/>
              </a:buClr>
              <a:buSzPts val="800"/>
              <a:buFont typeface="NTR"/>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Visualisation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Analytics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Stakeholder Management</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Information Design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Technical Leading</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AI</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Game Creation</a:t>
            </a:r>
            <a:endParaRPr dirty="0"/>
          </a:p>
          <a:p>
            <a:pPr marL="0" lvl="0" indent="0" algn="ctr" rtl="0">
              <a:lnSpc>
                <a:spcPct val="90000"/>
              </a:lnSpc>
              <a:spcBef>
                <a:spcPts val="200"/>
              </a:spcBef>
              <a:spcAft>
                <a:spcPts val="0"/>
              </a:spcAft>
              <a:buClr>
                <a:schemeClr val="dk1"/>
              </a:buClr>
              <a:buSzPts val="800"/>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Technical Skills</a:t>
            </a:r>
            <a:endParaRPr dirty="0"/>
          </a:p>
          <a:p>
            <a:pPr marL="0" lvl="0" indent="0" algn="ctr" rtl="0">
              <a:lnSpc>
                <a:spcPct val="90000"/>
              </a:lnSpc>
              <a:spcBef>
                <a:spcPts val="200"/>
              </a:spcBef>
              <a:spcAft>
                <a:spcPts val="0"/>
              </a:spcAft>
              <a:buClr>
                <a:schemeClr val="dk1"/>
              </a:buClr>
              <a:buSzPts val="1200"/>
              <a:buNone/>
            </a:pPr>
            <a:endParaRPr sz="1200" b="1" dirty="0">
              <a:solidFill>
                <a:srgbClr val="A100FF"/>
              </a:solidFill>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Tableau</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Power BI</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Qlik Sense</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Workshop</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SQL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Python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HTML</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Unity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C#</a:t>
            </a:r>
            <a:endParaRPr dirty="0"/>
          </a:p>
          <a:p>
            <a:pPr marL="0" lvl="0" indent="0" algn="ctr" rtl="0">
              <a:lnSpc>
                <a:spcPct val="90000"/>
              </a:lnSpc>
              <a:spcBef>
                <a:spcPts val="200"/>
              </a:spcBef>
              <a:spcAft>
                <a:spcPts val="0"/>
              </a:spcAft>
              <a:buClr>
                <a:schemeClr val="dk1"/>
              </a:buClr>
              <a:buSzPts val="1200"/>
              <a:buNone/>
            </a:pPr>
            <a:endParaRPr sz="1200" b="1" dirty="0">
              <a:solidFill>
                <a:schemeClr val="accent1"/>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Industry Experience</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Health</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Retail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Financial Services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Sustainability</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Energy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Defence</a:t>
            </a:r>
            <a:endParaRPr dirty="0"/>
          </a:p>
          <a:p>
            <a:pPr marL="0" lvl="0" indent="0" algn="ctr" rtl="0">
              <a:lnSpc>
                <a:spcPct val="90000"/>
              </a:lnSpc>
              <a:spcBef>
                <a:spcPts val="200"/>
              </a:spcBef>
              <a:spcAft>
                <a:spcPts val="0"/>
              </a:spcAft>
              <a:buClr>
                <a:schemeClr val="dk1"/>
              </a:buClr>
              <a:buSzPts val="800"/>
              <a:buNone/>
            </a:pPr>
            <a:endParaRPr sz="1000" dirty="0">
              <a:solidFill>
                <a:srgbClr val="000000"/>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Education</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indent="0" algn="ctr">
              <a:spcBef>
                <a:spcPts val="200"/>
              </a:spcBef>
              <a:buSzPts val="720"/>
            </a:pPr>
            <a:r>
              <a:rPr lang="en-GB" sz="900" dirty="0">
                <a:latin typeface="Open Sans"/>
                <a:ea typeface="Open Sans"/>
                <a:cs typeface="Open Sans"/>
                <a:sym typeface="Open Sans"/>
              </a:rPr>
              <a:t>MSc Financial Economics, University of Leicester</a:t>
            </a:r>
            <a:endParaRPr lang="en-GB" sz="900" dirty="0"/>
          </a:p>
          <a:p>
            <a:pPr marL="0" lvl="0" indent="0" algn="ctr" rtl="0">
              <a:lnSpc>
                <a:spcPct val="90000"/>
              </a:lnSpc>
              <a:spcBef>
                <a:spcPts val="200"/>
              </a:spcBef>
              <a:spcAft>
                <a:spcPts val="0"/>
              </a:spcAft>
              <a:buClr>
                <a:schemeClr val="dk1"/>
              </a:buClr>
              <a:buSzPts val="720"/>
              <a:buNone/>
            </a:pPr>
            <a:endParaRPr lang="en-GB"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BSc Mathematics, Loughborough University</a:t>
            </a:r>
            <a:endParaRPr dirty="0"/>
          </a:p>
        </p:txBody>
      </p:sp>
      <p:sp>
        <p:nvSpPr>
          <p:cNvPr id="137" name="Google Shape;137;g3aa6806b005_0_0"/>
          <p:cNvSpPr txBox="1">
            <a:spLocks noGrp="1"/>
          </p:cNvSpPr>
          <p:nvPr>
            <p:ph type="body" idx="4"/>
          </p:nvPr>
        </p:nvSpPr>
        <p:spPr>
          <a:xfrm>
            <a:off x="2421833" y="650305"/>
            <a:ext cx="3936995" cy="5749063"/>
          </a:xfrm>
          <a:prstGeom prst="rect">
            <a:avLst/>
          </a:prstGeom>
          <a:noFill/>
          <a:ln>
            <a:noFill/>
          </a:ln>
        </p:spPr>
        <p:txBody>
          <a:bodyPr spcFirstLastPara="1" wrap="square" lIns="0" tIns="0" rIns="0" bIns="0" anchor="t" anchorCtr="0">
            <a:noAutofit/>
          </a:bodyPr>
          <a:lstStyle/>
          <a:p>
            <a:pPr marL="0" lvl="0" indent="0">
              <a:buClr>
                <a:srgbClr val="000000"/>
              </a:buClr>
              <a:buSzPts val="900"/>
            </a:pPr>
            <a:r>
              <a:rPr lang="en-GB" sz="1400" b="1" dirty="0">
                <a:solidFill>
                  <a:srgbClr val="002060"/>
                </a:solidFill>
                <a:latin typeface="Open Sans"/>
                <a:ea typeface="Open Sans"/>
                <a:cs typeface="Open Sans"/>
                <a:sym typeface="Open Sans"/>
              </a:rPr>
              <a:t>Experience:</a:t>
            </a:r>
          </a:p>
          <a:p>
            <a:pPr marL="0" lvl="0" indent="0">
              <a:buClr>
                <a:srgbClr val="000000"/>
              </a:buClr>
              <a:buSzPts val="900"/>
            </a:pPr>
            <a:endParaRPr lang="en-GB" sz="1400" b="1" dirty="0">
              <a:solidFill>
                <a:srgbClr val="002060"/>
              </a:solidFill>
              <a:latin typeface="Open Sans"/>
              <a:ea typeface="Open Sans"/>
              <a:cs typeface="Open Sans"/>
              <a:sym typeface="Open Sans"/>
            </a:endParaRPr>
          </a:p>
          <a:p>
            <a:pPr marL="0" lvl="0" indent="0">
              <a:buClr>
                <a:srgbClr val="000000"/>
              </a:buClr>
              <a:buSzPts val="900"/>
            </a:pPr>
            <a:r>
              <a:rPr lang="en-GB" sz="1200" b="1" dirty="0">
                <a:solidFill>
                  <a:srgbClr val="002060"/>
                </a:solidFill>
                <a:latin typeface="Open Sans"/>
                <a:ea typeface="Open Sans"/>
                <a:cs typeface="Open Sans"/>
                <a:sym typeface="Open Sans"/>
              </a:rPr>
              <a:t>Accenture projects (selected)</a:t>
            </a:r>
          </a:p>
          <a:p>
            <a:pPr marL="0" lvl="0" indent="0">
              <a:buClr>
                <a:srgbClr val="000000"/>
              </a:buClr>
              <a:buSzPts val="900"/>
            </a:pPr>
            <a:endParaRPr lang="en-GB" sz="900" dirty="0"/>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RAF</a:t>
            </a:r>
          </a:p>
          <a:p>
            <a:pPr marL="171450" indent="-171450">
              <a:spcBef>
                <a:spcPts val="450"/>
              </a:spcBef>
              <a:buClr>
                <a:srgbClr val="000000"/>
              </a:buClr>
              <a:buSzPts val="900"/>
              <a:buFont typeface="Arial"/>
              <a:buChar char="•"/>
            </a:pPr>
            <a:r>
              <a:rPr lang="en-GB" sz="900" dirty="0">
                <a:solidFill>
                  <a:srgbClr val="000000"/>
                </a:solidFill>
                <a:latin typeface="Open Sans"/>
                <a:ea typeface="Open Sans"/>
                <a:cs typeface="Open Sans"/>
                <a:sym typeface="Open Sans"/>
              </a:rPr>
              <a:t>Developing multiple visualisation POC’s in Tableau and Palantir Workshop including Operational Planning reporting proposal</a:t>
            </a:r>
          </a:p>
          <a:p>
            <a:pPr marL="171450" indent="-171450">
              <a:spcBef>
                <a:spcPts val="450"/>
              </a:spcBef>
              <a:buClr>
                <a:srgbClr val="000000"/>
              </a:buClr>
              <a:buSzPts val="900"/>
              <a:buFont typeface="Arial"/>
              <a:buChar char="•"/>
            </a:pPr>
            <a:r>
              <a:rPr lang="en-GB" sz="900" dirty="0">
                <a:solidFill>
                  <a:srgbClr val="000000"/>
                </a:solidFill>
                <a:latin typeface="Open Sans"/>
                <a:ea typeface="Open Sans"/>
                <a:cs typeface="Open Sans"/>
                <a:sym typeface="Open Sans"/>
              </a:rPr>
              <a:t>Leading team in investigating data pipeline and architecture for Product Analytics reporting</a:t>
            </a:r>
          </a:p>
          <a:p>
            <a:pPr marL="171450" indent="-171450">
              <a:spcBef>
                <a:spcPts val="450"/>
              </a:spcBef>
              <a:buClr>
                <a:srgbClr val="000000"/>
              </a:buClr>
              <a:buSzPts val="900"/>
              <a:buFont typeface="Arial"/>
              <a:buChar char="•"/>
            </a:pPr>
            <a:endParaRPr lang="en-GB" sz="900" dirty="0">
              <a:solidFill>
                <a:srgbClr val="000000"/>
              </a:solidFill>
              <a:latin typeface="Open Sans"/>
              <a:ea typeface="Open Sans"/>
              <a:cs typeface="Open Sans"/>
              <a:sym typeface="Open Sans"/>
            </a:endParaRPr>
          </a:p>
          <a:p>
            <a:pPr marL="0" lvl="0" indent="0">
              <a:spcBef>
                <a:spcPts val="450"/>
              </a:spcBef>
              <a:buClr>
                <a:srgbClr val="000000"/>
              </a:buClr>
              <a:buSzPts val="900"/>
            </a:pPr>
            <a:r>
              <a:rPr lang="en-GB" sz="900" b="1" u="sng" dirty="0">
                <a:solidFill>
                  <a:srgbClr val="000000"/>
                </a:solidFill>
                <a:latin typeface="Open Sans"/>
                <a:ea typeface="Open Sans"/>
                <a:cs typeface="Open Sans"/>
                <a:sym typeface="Open Sans"/>
              </a:rPr>
              <a:t>NHSE / Palantir</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Working with Palantir to support report migration for the NHSE, specifically a Foundry Workshop dashboard highlighting patient waiting times</a:t>
            </a:r>
            <a:endParaRPr lang="en-GB" sz="900" dirty="0"/>
          </a:p>
          <a:p>
            <a:pPr marL="171450" lvl="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In addition to dashboard development, I also took on business analysis tasks, supported data engineering, led team meetings and demoed to NHSE leadership </a:t>
            </a:r>
          </a:p>
          <a:p>
            <a:pPr marL="171450" lvl="0" indent="-171450">
              <a:spcBef>
                <a:spcPts val="600"/>
              </a:spcBef>
              <a:buClr>
                <a:srgbClr val="000000"/>
              </a:buClr>
              <a:buSzPts val="900"/>
              <a:buFont typeface="Arial"/>
              <a:buChar char="•"/>
            </a:pPr>
            <a:endParaRPr lang="en-GB" sz="900"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United Nations Global Compact</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Leading Tableau developers to build and enhance dashboards to indicate external companies’ sustainability policies</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Creation of operating model for strategic planning of visualization</a:t>
            </a:r>
          </a:p>
          <a:p>
            <a:pPr marL="0" lvl="0" indent="0">
              <a:spcBef>
                <a:spcPts val="600"/>
              </a:spcBef>
              <a:buClr>
                <a:srgbClr val="000000"/>
              </a:buClr>
              <a:buSzPts val="900"/>
            </a:pPr>
            <a:endParaRPr lang="en-GB" sz="900" b="1" u="sng"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Scottish Power</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Initially came into the team as a Visualisation expert to help build </a:t>
            </a:r>
            <a:r>
              <a:rPr lang="en-GB" sz="900" dirty="0" err="1">
                <a:solidFill>
                  <a:srgbClr val="000000"/>
                </a:solidFill>
                <a:latin typeface="Open Sans"/>
                <a:ea typeface="Open Sans"/>
                <a:cs typeface="Open Sans"/>
                <a:sym typeface="Open Sans"/>
              </a:rPr>
              <a:t>PowerBI</a:t>
            </a:r>
            <a:r>
              <a:rPr lang="en-GB" sz="900" dirty="0">
                <a:solidFill>
                  <a:srgbClr val="000000"/>
                </a:solidFill>
                <a:latin typeface="Open Sans"/>
                <a:ea typeface="Open Sans"/>
                <a:cs typeface="Open Sans"/>
                <a:sym typeface="Open Sans"/>
              </a:rPr>
              <a:t> Dashboards within Scottish Power Complaints</a:t>
            </a:r>
            <a:endParaRPr lang="en-GB" sz="900" dirty="0"/>
          </a:p>
          <a:p>
            <a:pPr marL="171450" lvl="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Subsequently required to lead the team and manage deliverables including assessing Goodwill reporting and ombudsman risk</a:t>
            </a:r>
          </a:p>
          <a:p>
            <a:pPr marL="0" lvl="0" indent="0">
              <a:spcBef>
                <a:spcPts val="600"/>
              </a:spcBef>
              <a:buClr>
                <a:srgbClr val="000000"/>
              </a:buClr>
              <a:buSzPts val="900"/>
            </a:pPr>
            <a:endParaRPr lang="en-GB" sz="900" b="1" u="sng"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Accenture Supply Chain Decarbonisation Suite</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Leading teams of data scientists to build Gen AI solutions focussing on enhancing Sustainability processes by reducing manual effort by circa 90%</a:t>
            </a:r>
            <a:endParaRPr lang="en-GB" sz="900" b="1"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900"/>
              <a:buNone/>
            </a:pPr>
            <a:endParaRPr sz="900" dirty="0">
              <a:solidFill>
                <a:srgbClr val="000000"/>
              </a:solidFill>
              <a:latin typeface="Arial"/>
              <a:ea typeface="Arial"/>
              <a:cs typeface="Arial"/>
              <a:sym typeface="Arial"/>
            </a:endParaRPr>
          </a:p>
        </p:txBody>
      </p:sp>
      <p:sp>
        <p:nvSpPr>
          <p:cNvPr id="138" name="Google Shape;138;g3aa6806b005_0_0"/>
          <p:cNvSpPr txBox="1"/>
          <p:nvPr/>
        </p:nvSpPr>
        <p:spPr>
          <a:xfrm>
            <a:off x="10508974" y="6467061"/>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39" name="Google Shape;139;g3aa6806b005_0_0"/>
          <p:cNvCxnSpPr>
            <a:cxnSpLocks/>
          </p:cNvCxnSpPr>
          <p:nvPr/>
        </p:nvCxnSpPr>
        <p:spPr>
          <a:xfrm>
            <a:off x="95910" y="2867338"/>
            <a:ext cx="1742034" cy="0"/>
          </a:xfrm>
          <a:prstGeom prst="straightConnector1">
            <a:avLst/>
          </a:prstGeom>
          <a:noFill/>
          <a:ln w="12700" cap="flat" cmpd="sng">
            <a:solidFill>
              <a:schemeClr val="lt1">
                <a:alpha val="49800"/>
              </a:schemeClr>
            </a:solidFill>
            <a:prstDash val="solid"/>
            <a:miter lim="800000"/>
            <a:headEnd type="none" w="sm" len="sm"/>
            <a:tailEnd type="none" w="sm" len="sm"/>
          </a:ln>
        </p:spPr>
      </p:cxnSp>
      <p:pic>
        <p:nvPicPr>
          <p:cNvPr id="140" name="Google Shape;140;g3aa6806b005_0_0"/>
          <p:cNvPicPr preferRelativeResize="0"/>
          <p:nvPr/>
        </p:nvPicPr>
        <p:blipFill rotWithShape="1">
          <a:blip r:embed="rId4">
            <a:alphaModFix/>
          </a:blip>
          <a:srcRect t="6491" b="6491"/>
          <a:stretch/>
        </p:blipFill>
        <p:spPr>
          <a:xfrm>
            <a:off x="458280" y="200616"/>
            <a:ext cx="1400137" cy="1400137"/>
          </a:xfrm>
          <a:prstGeom prst="flowChartConnector">
            <a:avLst/>
          </a:prstGeom>
          <a:noFill/>
          <a:ln>
            <a:noFill/>
          </a:ln>
        </p:spPr>
      </p:pic>
      <p:cxnSp>
        <p:nvCxnSpPr>
          <p:cNvPr id="147" name="Google Shape;147;g3aa6806b005_0_0"/>
          <p:cNvCxnSpPr/>
          <p:nvPr/>
        </p:nvCxnSpPr>
        <p:spPr>
          <a:xfrm rot="10800000">
            <a:off x="10442348" y="1054000"/>
            <a:ext cx="0" cy="5245200"/>
          </a:xfrm>
          <a:prstGeom prst="straightConnector1">
            <a:avLst/>
          </a:prstGeom>
          <a:noFill/>
          <a:ln w="9525" cap="flat" cmpd="sng">
            <a:solidFill>
              <a:srgbClr val="002060">
                <a:alpha val="80000"/>
              </a:srgbClr>
            </a:solidFill>
            <a:prstDash val="dot"/>
            <a:miter lim="800000"/>
            <a:headEnd type="none" w="sm" len="sm"/>
            <a:tailEnd type="none" w="sm" len="sm"/>
          </a:ln>
        </p:spPr>
      </p:cxnSp>
      <p:sp>
        <p:nvSpPr>
          <p:cNvPr id="5" name="Google Shape;137;g3aa6806b005_0_0">
            <a:extLst>
              <a:ext uri="{FF2B5EF4-FFF2-40B4-BE49-F238E27FC236}">
                <a16:creationId xmlns:a16="http://schemas.microsoft.com/office/drawing/2014/main" id="{F3FBB548-B10E-77E1-3C27-1798D472F5C4}"/>
              </a:ext>
            </a:extLst>
          </p:cNvPr>
          <p:cNvSpPr txBox="1">
            <a:spLocks/>
          </p:cNvSpPr>
          <p:nvPr/>
        </p:nvSpPr>
        <p:spPr>
          <a:xfrm>
            <a:off x="6454738" y="650305"/>
            <a:ext cx="3921702" cy="6013795"/>
          </a:xfrm>
          <a:prstGeom prst="rect">
            <a:avLst/>
          </a:prstGeom>
          <a:noFill/>
          <a:ln>
            <a:noFill/>
          </a:ln>
        </p:spPr>
        <p:txBody>
          <a:bodyPr spcFirstLastPara="1" vert="horz" wrap="square" lIns="0" tIns="0" rIns="0" bIns="0" rtlCol="0" anchor="t" anchorCtr="0">
            <a:noAutofit/>
          </a:bodyPr>
          <a:lstStyle>
            <a:lvl1pPr marL="609585" lvl="0" indent="-304792" algn="l" defTabSz="914400" rtl="0" eaLnBrk="1" latinLnBrk="0" hangingPunct="1">
              <a:lnSpc>
                <a:spcPct val="90000"/>
              </a:lnSpc>
              <a:spcBef>
                <a:spcPts val="0"/>
              </a:spcBef>
              <a:spcAft>
                <a:spcPts val="0"/>
              </a:spcAft>
              <a:buClr>
                <a:schemeClr val="dk1"/>
              </a:buClr>
              <a:buSzPts val="800"/>
              <a:buFont typeface="Arial" panose="020B0604020202020204" pitchFamily="34" charset="0"/>
              <a:buNone/>
              <a:defRPr sz="1067" b="0" kern="1200">
                <a:solidFill>
                  <a:schemeClr val="dk1"/>
                </a:solidFill>
                <a:latin typeface="Arial"/>
                <a:ea typeface="Arial"/>
                <a:cs typeface="Arial"/>
                <a:sym typeface="Arial"/>
              </a:defRPr>
            </a:lvl1pPr>
            <a:lvl2pPr marL="1219170" lvl="1"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1600"/>
              </a:spcBef>
              <a:spcAft>
                <a:spcPts val="1600"/>
              </a:spcAft>
              <a:buClr>
                <a:schemeClr val="dk1"/>
              </a:buClr>
              <a:buSzPts val="1400"/>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endParaRPr kumimoji="0" lang="en-GB" sz="1400" b="1" i="0" u="none" strike="noStrike" kern="1200" cap="none" spc="0" normalizeH="0" baseline="0" noProof="0" dirty="0">
              <a:ln>
                <a:noFill/>
              </a:ln>
              <a:solidFill>
                <a:srgbClr val="00206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endParaRPr kumimoji="0" lang="en-GB" sz="1400" b="1" i="0" u="none" strike="noStrike" kern="1200" cap="none" spc="0" normalizeH="0" baseline="0" noProof="0" dirty="0">
              <a:ln>
                <a:noFill/>
              </a:ln>
              <a:solidFill>
                <a:srgbClr val="00206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r>
              <a:rPr kumimoji="0" lang="en-GB" sz="1200" b="1" i="0" u="none" strike="noStrike" kern="1200" cap="none" spc="0" normalizeH="0" baseline="0" noProof="0" dirty="0">
                <a:ln>
                  <a:noFill/>
                </a:ln>
                <a:solidFill>
                  <a:srgbClr val="002060"/>
                </a:solidFill>
                <a:effectLst/>
                <a:uLnTx/>
                <a:uFillTx/>
                <a:latin typeface="Open Sans"/>
                <a:ea typeface="Open Sans"/>
                <a:cs typeface="Open Sans"/>
                <a:sym typeface="Open Sans"/>
              </a:rPr>
              <a:t>Accenture projects (selected) cont.</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endParaRPr lang="en-GB" sz="900" b="1" u="sng" dirty="0">
              <a:solidFill>
                <a:srgbClr val="000000"/>
              </a:solidFill>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rPr>
              <a:t>Lloyds Banking Group</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Open Sans"/>
                <a:ea typeface="Open Sans"/>
                <a:cs typeface="Open Sans"/>
                <a:sym typeface="Open Sans"/>
              </a:rPr>
              <a:t>Project 2</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Directing development of Power BI dashboards to report on board level metrics</a:t>
            </a:r>
            <a:r>
              <a:rPr kumimoji="0" lang="en-GB" sz="900" b="0" i="0" u="none" strike="noStrike" kern="1200" cap="none" spc="0" normalizeH="0" baseline="0" noProof="0" dirty="0">
                <a:ln>
                  <a:noFill/>
                </a:ln>
                <a:solidFill>
                  <a:prstClr val="black"/>
                </a:solidFill>
                <a:effectLst/>
                <a:uLnTx/>
                <a:uFillTx/>
                <a:latin typeface="Arial"/>
                <a:cs typeface="Arial"/>
                <a:sym typeface="Open Sans"/>
              </a:rPr>
              <a:t>, and demoing to senior leadership</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Open Sans"/>
                <a:ea typeface="Open Sans"/>
                <a:cs typeface="Open Sans"/>
                <a:sym typeface="Open Sans"/>
              </a:rPr>
              <a:t>Project 1</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Development of data quality dashboards in Tableau, leading production of developed product and training for handover</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endPar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rPr>
              <a:t>UK Health Security Agency</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Supporting the UKHSA with the covid-19 pandemic </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Assisting the Head of Visualisation on key strategic planning and helping direct the team</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Undertaking and directing on dashboard development and delivering marketing and training sessions and artefacts to upskill the business in Qlik Sense</a:t>
            </a: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endParaRPr lang="en-GB" sz="900" dirty="0">
              <a:solidFill>
                <a:srgbClr val="000000"/>
              </a:solidFill>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tabLst/>
              <a:defRPr/>
            </a:pPr>
            <a:endPar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endParaRPr>
          </a:p>
          <a:p>
            <a:pPr marL="0" indent="0">
              <a:spcBef>
                <a:spcPts val="600"/>
              </a:spcBef>
            </a:pPr>
            <a:r>
              <a:rPr lang="en-GB" sz="1200" b="1" dirty="0">
                <a:solidFill>
                  <a:srgbClr val="002060"/>
                </a:solidFill>
                <a:latin typeface="Open Sans"/>
                <a:ea typeface="Open Sans"/>
                <a:cs typeface="Open Sans"/>
                <a:sym typeface="Open Sans"/>
              </a:rPr>
              <a:t>Previous companies (selected)</a:t>
            </a:r>
          </a:p>
          <a:p>
            <a:pPr marL="171450" indent="-171450">
              <a:spcBef>
                <a:spcPts val="600"/>
              </a:spcBef>
              <a:buClr>
                <a:srgbClr val="000000"/>
              </a:buClr>
              <a:buSzPts val="900"/>
              <a:buFont typeface="Arial"/>
              <a:buChar char="•"/>
            </a:pPr>
            <a:r>
              <a:rPr lang="en-GB" sz="900" b="1" dirty="0">
                <a:solidFill>
                  <a:srgbClr val="000000"/>
                </a:solidFill>
                <a:latin typeface="Open Sans"/>
                <a:ea typeface="Open Sans"/>
                <a:cs typeface="Open Sans"/>
                <a:sym typeface="Open Sans"/>
              </a:rPr>
              <a:t>A.S. Watson </a:t>
            </a:r>
            <a:r>
              <a:rPr lang="en-GB" sz="900" i="1" dirty="0">
                <a:solidFill>
                  <a:srgbClr val="000000"/>
                </a:solidFill>
                <a:latin typeface="Open Sans"/>
                <a:ea typeface="Open Sans"/>
                <a:cs typeface="Open Sans"/>
                <a:sym typeface="Open Sans"/>
              </a:rPr>
              <a:t>(health and beauty retailer) </a:t>
            </a:r>
            <a:r>
              <a:rPr lang="en-GB" sz="900" dirty="0">
                <a:solidFill>
                  <a:srgbClr val="000000"/>
                </a:solidFill>
                <a:latin typeface="Open Sans"/>
                <a:ea typeface="Open Sans"/>
                <a:cs typeface="Open Sans"/>
                <a:sym typeface="Open Sans"/>
              </a:rPr>
              <a:t>- </a:t>
            </a:r>
            <a:r>
              <a:rPr lang="en-GB" sz="900" dirty="0">
                <a:solidFill>
                  <a:srgbClr val="000000"/>
                </a:solidFill>
                <a:latin typeface="Open Sans"/>
                <a:ea typeface="Open Sans"/>
                <a:cs typeface="Open Sans"/>
              </a:rPr>
              <a:t>Construction and implementation of Tableau reports across Europe and Asia Business Units</a:t>
            </a:r>
          </a:p>
          <a:p>
            <a:pPr marL="171450" indent="-171450">
              <a:spcBef>
                <a:spcPts val="600"/>
              </a:spcBef>
              <a:buClr>
                <a:srgbClr val="000000"/>
              </a:buClr>
              <a:buSzPts val="900"/>
              <a:buFont typeface="Arial"/>
              <a:buChar char="•"/>
            </a:pPr>
            <a:r>
              <a:rPr lang="en-GB" sz="900" b="1" dirty="0">
                <a:solidFill>
                  <a:srgbClr val="000000"/>
                </a:solidFill>
                <a:latin typeface="Open Sans"/>
                <a:ea typeface="Open Sans"/>
                <a:cs typeface="Open Sans"/>
              </a:rPr>
              <a:t>New Look, </a:t>
            </a:r>
            <a:r>
              <a:rPr lang="en-GB" sz="900" i="1" dirty="0">
                <a:solidFill>
                  <a:srgbClr val="000000"/>
                </a:solidFill>
                <a:latin typeface="Open Sans"/>
                <a:ea typeface="Open Sans"/>
                <a:cs typeface="Open Sans"/>
              </a:rPr>
              <a:t>(fashion retailer) </a:t>
            </a:r>
            <a:r>
              <a:rPr lang="en-GB" sz="900" dirty="0">
                <a:solidFill>
                  <a:srgbClr val="000000"/>
                </a:solidFill>
                <a:latin typeface="Open Sans"/>
                <a:ea typeface="Open Sans"/>
                <a:cs typeface="Open Sans"/>
              </a:rPr>
              <a:t>- Engineering data in SQL and Tableau dashboard development for business-wide use</a:t>
            </a:r>
            <a:endParaRPr lang="en-GB" sz="900" dirty="0">
              <a:solidFill>
                <a:srgbClr val="000000"/>
              </a:solidFill>
              <a:latin typeface="Open Sans"/>
              <a:ea typeface="Open Sans"/>
              <a:cs typeface="Open Sans"/>
              <a:sym typeface="Open Sans"/>
            </a:endParaRPr>
          </a:p>
          <a:p>
            <a:pPr marL="0" indent="0">
              <a:defRPr/>
            </a:pPr>
            <a:endParaRPr lang="en-GB" sz="900" dirty="0">
              <a:solidFill>
                <a:srgbClr val="000000"/>
              </a:solidFill>
              <a:latin typeface="Open Sans"/>
              <a:ea typeface="Open Sans"/>
              <a:cs typeface="Open Sans"/>
              <a:sym typeface="Open Sans"/>
            </a:endParaRPr>
          </a:p>
          <a:p>
            <a:pPr marL="0" lvl="0" indent="0">
              <a:spcBef>
                <a:spcPts val="600"/>
              </a:spcBef>
              <a:buSzPts val="900"/>
            </a:pPr>
            <a:r>
              <a:rPr lang="en-GB" sz="1200" b="1" dirty="0">
                <a:solidFill>
                  <a:srgbClr val="002060"/>
                </a:solidFill>
                <a:latin typeface="Open Sans"/>
                <a:ea typeface="Open Sans"/>
                <a:cs typeface="Open Sans"/>
              </a:rPr>
              <a:t>Personal ventures:</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rPr>
              <a:t>Founder of </a:t>
            </a:r>
            <a:r>
              <a:rPr lang="en-GB" sz="900" dirty="0">
                <a:solidFill>
                  <a:srgbClr val="000000"/>
                </a:solidFill>
                <a:latin typeface="Open Sans"/>
                <a:ea typeface="Open Sans"/>
                <a:cs typeface="Open Sans"/>
                <a:sym typeface="Open Sans"/>
                <a:hlinkClick r:id="rId5">
                  <a:extLst>
                    <a:ext uri="{A12FA001-AC4F-418D-AE19-62706E023703}">
                      <ahyp:hlinkClr xmlns:ahyp="http://schemas.microsoft.com/office/drawing/2018/hyperlinkcolor" val="tx"/>
                    </a:ext>
                  </a:extLst>
                </a:hlinkClick>
              </a:rPr>
              <a:t>MyBigClub.com</a:t>
            </a:r>
            <a:r>
              <a:rPr lang="en-GB" sz="900" dirty="0">
                <a:solidFill>
                  <a:srgbClr val="000000"/>
                </a:solidFill>
                <a:latin typeface="Open Sans"/>
                <a:ea typeface="Open Sans"/>
                <a:cs typeface="Open Sans"/>
              </a:rPr>
              <a:t>, a website that uses data to determine which football club is the biggest in England</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rPr>
              <a:t>Created several mobile games and published them to Google Play. The games have been built using Unity and HTML</a:t>
            </a:r>
          </a:p>
          <a:p>
            <a:pPr marL="0" indent="0">
              <a:spcBef>
                <a:spcPts val="600"/>
              </a:spcBef>
              <a:buSzPts val="900"/>
            </a:pPr>
            <a:endParaRPr lang="en-GB" sz="9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17E55D2-1330-54F8-E726-91282AE9246A}"/>
            </a:ext>
          </a:extLst>
        </p:cNvPr>
        <p:cNvGrpSpPr/>
        <p:nvPr/>
      </p:nvGrpSpPr>
      <p:grpSpPr>
        <a:xfrm>
          <a:off x="0" y="0"/>
          <a:ext cx="0" cy="0"/>
          <a:chOff x="0" y="0"/>
          <a:chExt cx="0" cy="0"/>
        </a:xfrm>
      </p:grpSpPr>
      <p:sp>
        <p:nvSpPr>
          <p:cNvPr id="132" name="Google Shape;132;g3aa6806b005_0_0">
            <a:extLst>
              <a:ext uri="{FF2B5EF4-FFF2-40B4-BE49-F238E27FC236}">
                <a16:creationId xmlns:a16="http://schemas.microsoft.com/office/drawing/2014/main" id="{E7A8C0FD-DAE7-5DE2-1EC6-8B6D7F9E01BF}"/>
              </a:ext>
            </a:extLst>
          </p:cNvPr>
          <p:cNvSpPr/>
          <p:nvPr/>
        </p:nvSpPr>
        <p:spPr>
          <a:xfrm>
            <a:off x="-5690" y="0"/>
            <a:ext cx="12192000" cy="6858000"/>
          </a:xfrm>
          <a:prstGeom prst="rect">
            <a:avLst/>
          </a:prstGeom>
          <a:gradFill>
            <a:gsLst>
              <a:gs pos="0">
                <a:srgbClr val="EFF7FC">
                  <a:alpha val="0"/>
                </a:srgbClr>
              </a:gs>
              <a:gs pos="8000">
                <a:srgbClr val="EFF7FC"/>
              </a:gs>
              <a:gs pos="89000">
                <a:srgbClr val="002060">
                  <a:alpha val="0"/>
                </a:srgbClr>
              </a:gs>
              <a:gs pos="100000">
                <a:srgbClr val="002060">
                  <a:alpha val="0"/>
                </a:srgbClr>
              </a:gs>
            </a:gsLst>
            <a:path path="circle">
              <a:fillToRect l="50000" t="50000" r="50000" b="50000"/>
            </a:path>
            <a:tileRect/>
          </a:gradFill>
          <a:ln w="19050" cap="flat" cmpd="sng">
            <a:solidFill>
              <a:schemeClr val="accent3">
                <a:alpha val="588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g3aa6806b005_0_0">
            <a:extLst>
              <a:ext uri="{FF2B5EF4-FFF2-40B4-BE49-F238E27FC236}">
                <a16:creationId xmlns:a16="http://schemas.microsoft.com/office/drawing/2014/main" id="{931DB87A-5985-1453-6788-C476848B1AC4}"/>
              </a:ext>
            </a:extLst>
          </p:cNvPr>
          <p:cNvSpPr/>
          <p:nvPr/>
        </p:nvSpPr>
        <p:spPr>
          <a:xfrm>
            <a:off x="-9225" y="0"/>
            <a:ext cx="2335148" cy="6858000"/>
          </a:xfrm>
          <a:prstGeom prst="rect">
            <a:avLst/>
          </a:prstGeom>
          <a:solidFill>
            <a:srgbClr val="002060"/>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g3aa6806b005_0_0">
            <a:extLst>
              <a:ext uri="{FF2B5EF4-FFF2-40B4-BE49-F238E27FC236}">
                <a16:creationId xmlns:a16="http://schemas.microsoft.com/office/drawing/2014/main" id="{E36001EA-77FC-FCBF-F471-5ADF8EDBA94E}"/>
              </a:ext>
            </a:extLst>
          </p:cNvPr>
          <p:cNvSpPr txBox="1"/>
          <p:nvPr/>
        </p:nvSpPr>
        <p:spPr>
          <a:xfrm>
            <a:off x="2322387" y="106268"/>
            <a:ext cx="7919894" cy="350137"/>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2060"/>
              </a:buClr>
              <a:buSzPts val="3200"/>
              <a:buFont typeface="Arial Black"/>
              <a:buNone/>
            </a:pPr>
            <a:r>
              <a:rPr lang="en-GB" sz="3200" b="1" i="0" u="none" strike="noStrike" cap="none" dirty="0">
                <a:solidFill>
                  <a:srgbClr val="002060"/>
                </a:solidFill>
                <a:latin typeface="Arial Black"/>
                <a:ea typeface="Arial Black"/>
                <a:cs typeface="Arial Black"/>
                <a:sym typeface="Arial Black"/>
              </a:rPr>
              <a:t>Tom Morgan </a:t>
            </a:r>
            <a:r>
              <a:rPr lang="en-GB" u="sng" dirty="0">
                <a:solidFill>
                  <a:srgbClr val="002060"/>
                </a:solidFill>
                <a:hlinkClick r:id="rId3">
                  <a:extLst>
                    <a:ext uri="{A12FA001-AC4F-418D-AE19-62706E023703}">
                      <ahyp:hlinkClr xmlns:ahyp="http://schemas.microsoft.com/office/drawing/2018/hyperlinkcolor" val="tx"/>
                    </a:ext>
                  </a:extLst>
                </a:hlinkClick>
              </a:rPr>
              <a:t>t.morgan17@hotmail.co.uk</a:t>
            </a:r>
            <a:endParaRPr dirty="0"/>
          </a:p>
          <a:p>
            <a:pPr marL="0" marR="0" lvl="0" indent="0" algn="l" rtl="0">
              <a:lnSpc>
                <a:spcPct val="80000"/>
              </a:lnSpc>
              <a:spcBef>
                <a:spcPts val="0"/>
              </a:spcBef>
              <a:spcAft>
                <a:spcPts val="0"/>
              </a:spcAft>
              <a:buClr>
                <a:srgbClr val="002060"/>
              </a:buClr>
              <a:buSzPts val="1400"/>
              <a:buFont typeface="Arial"/>
              <a:buNone/>
            </a:pPr>
            <a:endParaRPr sz="1400" b="0" i="0" u="none" strike="noStrike" cap="none" dirty="0">
              <a:solidFill>
                <a:srgbClr val="002060"/>
              </a:solidFill>
              <a:latin typeface="Arial"/>
              <a:ea typeface="Arial"/>
              <a:cs typeface="Arial"/>
              <a:sym typeface="Arial"/>
            </a:endParaRPr>
          </a:p>
          <a:p>
            <a:pPr marL="0" marR="0" lvl="0" indent="0" algn="l" rtl="0">
              <a:lnSpc>
                <a:spcPct val="80000"/>
              </a:lnSpc>
              <a:spcBef>
                <a:spcPts val="0"/>
              </a:spcBef>
              <a:spcAft>
                <a:spcPts val="0"/>
              </a:spcAft>
              <a:buClr>
                <a:schemeClr val="accent1"/>
              </a:buClr>
              <a:buSzPts val="3200"/>
              <a:buFont typeface="Play"/>
              <a:buNone/>
            </a:pPr>
            <a:endParaRPr sz="3200" b="1" i="0" u="none" strike="noStrike" cap="none" dirty="0">
              <a:solidFill>
                <a:srgbClr val="002060"/>
              </a:solidFill>
              <a:latin typeface="Arial Black"/>
              <a:ea typeface="Arial Black"/>
              <a:cs typeface="Arial Black"/>
              <a:sym typeface="Arial Black"/>
            </a:endParaRPr>
          </a:p>
        </p:txBody>
      </p:sp>
      <p:sp>
        <p:nvSpPr>
          <p:cNvPr id="135" name="Google Shape;135;g3aa6806b005_0_0">
            <a:extLst>
              <a:ext uri="{FF2B5EF4-FFF2-40B4-BE49-F238E27FC236}">
                <a16:creationId xmlns:a16="http://schemas.microsoft.com/office/drawing/2014/main" id="{69EAAB44-A916-04FB-BC8D-ED53FDE35EB3}"/>
              </a:ext>
            </a:extLst>
          </p:cNvPr>
          <p:cNvSpPr txBox="1">
            <a:spLocks noGrp="1"/>
          </p:cNvSpPr>
          <p:nvPr>
            <p:ph type="body" idx="1"/>
          </p:nvPr>
        </p:nvSpPr>
        <p:spPr>
          <a:xfrm>
            <a:off x="0" y="1801368"/>
            <a:ext cx="2274535" cy="4374132"/>
          </a:xfrm>
          <a:prstGeom prst="rect">
            <a:avLst/>
          </a:prstGeom>
          <a:noFill/>
          <a:ln>
            <a:noFill/>
          </a:ln>
        </p:spPr>
        <p:txBody>
          <a:bodyPr spcFirstLastPara="1" wrap="square" lIns="0" tIns="0" rIns="0" bIns="0" anchor="t" anchorCtr="0">
            <a:noAutofit/>
          </a:bodyPr>
          <a:lstStyle/>
          <a:p>
            <a:pPr marL="0" lvl="0" indent="0" algn="ctr" rtl="0">
              <a:lnSpc>
                <a:spcPct val="80000"/>
              </a:lnSpc>
              <a:spcBef>
                <a:spcPts val="0"/>
              </a:spcBef>
              <a:spcAft>
                <a:spcPts val="0"/>
              </a:spcAft>
              <a:buClr>
                <a:schemeClr val="lt1"/>
              </a:buClr>
              <a:buSzPts val="900"/>
              <a:buNone/>
            </a:pPr>
            <a:r>
              <a:rPr lang="en-GB" sz="900" b="1" dirty="0">
                <a:solidFill>
                  <a:schemeClr val="lt1"/>
                </a:solidFill>
                <a:latin typeface="Open Sans"/>
                <a:ea typeface="Open Sans"/>
                <a:cs typeface="Open Sans"/>
                <a:sym typeface="Open Sans"/>
              </a:rPr>
              <a:t>Professional Background</a:t>
            </a:r>
            <a:endParaRPr dirty="0"/>
          </a:p>
          <a:p>
            <a:pPr marL="0" lvl="0" indent="0" algn="ctr" rtl="0">
              <a:lnSpc>
                <a:spcPct val="90000"/>
              </a:lnSpc>
              <a:spcBef>
                <a:spcPts val="1050"/>
              </a:spcBef>
              <a:spcAft>
                <a:spcPts val="0"/>
              </a:spcAft>
              <a:buClr>
                <a:schemeClr val="lt1"/>
              </a:buClr>
              <a:buSzPts val="900"/>
              <a:buNone/>
            </a:pPr>
            <a:r>
              <a:rPr lang="en-GB" sz="900" b="1" dirty="0">
                <a:solidFill>
                  <a:schemeClr val="lt1"/>
                </a:solidFill>
                <a:latin typeface="Open Sans"/>
                <a:ea typeface="Open Sans"/>
                <a:cs typeface="Open Sans"/>
                <a:sym typeface="Open Sans"/>
              </a:rPr>
              <a:t>A data solutions and development professional with 11+ years’ experience, passionate about visualisation and AI to facilitate and accelerate data driven decision making.</a:t>
            </a:r>
            <a:endParaRPr dirty="0"/>
          </a:p>
          <a:p>
            <a:pPr marL="0" lvl="0" indent="0" algn="ctr" rtl="0">
              <a:lnSpc>
                <a:spcPct val="90000"/>
              </a:lnSpc>
              <a:spcBef>
                <a:spcPts val="1200"/>
              </a:spcBef>
              <a:spcAft>
                <a:spcPts val="0"/>
              </a:spcAft>
              <a:buClr>
                <a:schemeClr val="lt1"/>
              </a:buClr>
              <a:buSzPts val="900"/>
              <a:buFont typeface="Arial"/>
              <a:buNone/>
            </a:pPr>
            <a:r>
              <a:rPr lang="en-GB" sz="900" dirty="0">
                <a:solidFill>
                  <a:schemeClr val="lt1"/>
                </a:solidFill>
                <a:latin typeface="Open Sans"/>
                <a:ea typeface="Open Sans"/>
                <a:cs typeface="Open Sans"/>
                <a:sym typeface="Open Sans"/>
              </a:rPr>
              <a:t>I have extensive experience in scoping, designing, directing, developing and demonstrating dashboard creation across various tools, primarily for Accenture. I have directed development of Gen AI solutions, as well as founding and leading development of a football website.</a:t>
            </a:r>
            <a:endParaRPr dirty="0"/>
          </a:p>
          <a:p>
            <a:pPr marL="0" lvl="0" indent="0" algn="ctr" rtl="0">
              <a:spcBef>
                <a:spcPts val="1200"/>
              </a:spcBef>
              <a:spcAft>
                <a:spcPts val="0"/>
              </a:spcAft>
              <a:buClr>
                <a:schemeClr val="lt1"/>
              </a:buClr>
              <a:buSzPts val="900"/>
              <a:buNone/>
            </a:pPr>
            <a:r>
              <a:rPr lang="en-GB" sz="900" dirty="0">
                <a:solidFill>
                  <a:schemeClr val="lt1"/>
                </a:solidFill>
                <a:latin typeface="Open Sans"/>
                <a:ea typeface="Open Sans"/>
                <a:cs typeface="Open Sans"/>
                <a:sym typeface="Open Sans"/>
              </a:rPr>
              <a:t>In addition to my technical knowledge, I can both engage with key stakeholders to understand the desired outcome and manage other developers to achieve this. Examples of this include creating data quality tools, advanced prototypes and Gen AI data extraction capabilities.</a:t>
            </a:r>
          </a:p>
          <a:p>
            <a:pPr marL="0" indent="0" algn="ctr">
              <a:spcBef>
                <a:spcPts val="1200"/>
              </a:spcBef>
              <a:buClr>
                <a:schemeClr val="lt1"/>
              </a:buClr>
              <a:buSzPts val="900"/>
            </a:pPr>
            <a:r>
              <a:rPr lang="en-GB" sz="900" dirty="0">
                <a:solidFill>
                  <a:schemeClr val="lt1"/>
                </a:solidFill>
                <a:latin typeface="Open Sans"/>
                <a:ea typeface="Open Sans"/>
                <a:cs typeface="Open Sans"/>
              </a:rPr>
              <a:t>I am extremely passionate about sport, and very much enjoyed creating mybigclub.com.</a:t>
            </a:r>
            <a:endParaRPr dirty="0"/>
          </a:p>
          <a:p>
            <a:pPr marL="0" lvl="0" indent="0" algn="l" rtl="0">
              <a:lnSpc>
                <a:spcPct val="90000"/>
              </a:lnSpc>
              <a:spcBef>
                <a:spcPts val="1200"/>
              </a:spcBef>
              <a:spcAft>
                <a:spcPts val="0"/>
              </a:spcAft>
              <a:buClr>
                <a:schemeClr val="lt1"/>
              </a:buClr>
              <a:buSzPts val="900"/>
              <a:buNone/>
            </a:pPr>
            <a:endParaRPr sz="600" dirty="0">
              <a:solidFill>
                <a:schemeClr val="lt1"/>
              </a:solidFill>
              <a:latin typeface="Arial"/>
              <a:ea typeface="Arial"/>
              <a:cs typeface="Arial"/>
              <a:sym typeface="Arial"/>
            </a:endParaRPr>
          </a:p>
        </p:txBody>
      </p:sp>
      <p:sp>
        <p:nvSpPr>
          <p:cNvPr id="136" name="Google Shape;136;g3aa6806b005_0_0">
            <a:extLst>
              <a:ext uri="{FF2B5EF4-FFF2-40B4-BE49-F238E27FC236}">
                <a16:creationId xmlns:a16="http://schemas.microsoft.com/office/drawing/2014/main" id="{7BAE29CC-C3BE-D0F9-FE6D-D47D0B873A70}"/>
              </a:ext>
            </a:extLst>
          </p:cNvPr>
          <p:cNvSpPr txBox="1">
            <a:spLocks noGrp="1"/>
          </p:cNvSpPr>
          <p:nvPr>
            <p:ph type="body" idx="2"/>
          </p:nvPr>
        </p:nvSpPr>
        <p:spPr>
          <a:xfrm>
            <a:off x="10442348" y="731519"/>
            <a:ext cx="1743961" cy="5983200"/>
          </a:xfrm>
          <a:prstGeom prst="rect">
            <a:avLst/>
          </a:prstGeom>
          <a:solidFill>
            <a:schemeClr val="lt1">
              <a:alpha val="0"/>
            </a:schemeClr>
          </a:solidFill>
          <a:ln>
            <a:noFill/>
          </a:ln>
        </p:spPr>
        <p:txBody>
          <a:bodyPr spcFirstLastPara="1" wrap="square" lIns="0" tIns="0" rIns="0" bIns="0" anchor="t" anchorCtr="0">
            <a:normAutofit/>
          </a:bodyPr>
          <a:lstStyle/>
          <a:p>
            <a:pPr marL="0" lvl="0" indent="0" algn="ctr" rtl="0">
              <a:lnSpc>
                <a:spcPct val="90000"/>
              </a:lnSpc>
              <a:spcBef>
                <a:spcPts val="0"/>
              </a:spcBef>
              <a:spcAft>
                <a:spcPts val="0"/>
              </a:spcAft>
              <a:buClr>
                <a:srgbClr val="002060"/>
              </a:buClr>
              <a:buSzPts val="1200"/>
              <a:buNone/>
            </a:pPr>
            <a:r>
              <a:rPr lang="en-GB" sz="1200" b="1" dirty="0">
                <a:solidFill>
                  <a:srgbClr val="002060"/>
                </a:solidFill>
                <a:latin typeface="Open Sans"/>
                <a:ea typeface="Open Sans"/>
                <a:cs typeface="Open Sans"/>
                <a:sym typeface="Open Sans"/>
              </a:rPr>
              <a:t>Functional Skills</a:t>
            </a:r>
            <a:endParaRPr dirty="0"/>
          </a:p>
          <a:p>
            <a:pPr marL="99449" lvl="0" indent="-48649" algn="ctr" rtl="0">
              <a:lnSpc>
                <a:spcPct val="90000"/>
              </a:lnSpc>
              <a:spcBef>
                <a:spcPts val="200"/>
              </a:spcBef>
              <a:spcAft>
                <a:spcPts val="0"/>
              </a:spcAft>
              <a:buClr>
                <a:schemeClr val="dk1"/>
              </a:buClr>
              <a:buSzPts val="800"/>
              <a:buFont typeface="NTR"/>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Visualisation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Analytics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Stakeholder Management</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Information Design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Technical Leading</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AI</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Game Creation</a:t>
            </a:r>
            <a:endParaRPr dirty="0"/>
          </a:p>
          <a:p>
            <a:pPr marL="0" lvl="0" indent="0" algn="ctr" rtl="0">
              <a:lnSpc>
                <a:spcPct val="90000"/>
              </a:lnSpc>
              <a:spcBef>
                <a:spcPts val="200"/>
              </a:spcBef>
              <a:spcAft>
                <a:spcPts val="0"/>
              </a:spcAft>
              <a:buClr>
                <a:schemeClr val="dk1"/>
              </a:buClr>
              <a:buSzPts val="800"/>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Technical Skills</a:t>
            </a:r>
            <a:endParaRPr dirty="0"/>
          </a:p>
          <a:p>
            <a:pPr marL="0" lvl="0" indent="0" algn="ctr" rtl="0">
              <a:lnSpc>
                <a:spcPct val="90000"/>
              </a:lnSpc>
              <a:spcBef>
                <a:spcPts val="200"/>
              </a:spcBef>
              <a:spcAft>
                <a:spcPts val="0"/>
              </a:spcAft>
              <a:buClr>
                <a:schemeClr val="dk1"/>
              </a:buClr>
              <a:buSzPts val="1200"/>
              <a:buNone/>
            </a:pPr>
            <a:endParaRPr sz="1200" b="1" dirty="0">
              <a:solidFill>
                <a:srgbClr val="A100FF"/>
              </a:solidFill>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Tableau</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Power BI</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Qlik Sense</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Workshop</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SQL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Python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HTML</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Unity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C#</a:t>
            </a:r>
            <a:endParaRPr dirty="0"/>
          </a:p>
          <a:p>
            <a:pPr marL="0" lvl="0" indent="0" algn="ctr" rtl="0">
              <a:lnSpc>
                <a:spcPct val="90000"/>
              </a:lnSpc>
              <a:spcBef>
                <a:spcPts val="200"/>
              </a:spcBef>
              <a:spcAft>
                <a:spcPts val="0"/>
              </a:spcAft>
              <a:buClr>
                <a:schemeClr val="dk1"/>
              </a:buClr>
              <a:buSzPts val="1200"/>
              <a:buNone/>
            </a:pPr>
            <a:endParaRPr sz="1200" b="1" dirty="0">
              <a:solidFill>
                <a:schemeClr val="accent1"/>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Industry Experience</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Health</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Retail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Financial Services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Sustainability</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Energy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Defence</a:t>
            </a:r>
            <a:endParaRPr dirty="0"/>
          </a:p>
          <a:p>
            <a:pPr marL="0" lvl="0" indent="0" algn="ctr" rtl="0">
              <a:lnSpc>
                <a:spcPct val="90000"/>
              </a:lnSpc>
              <a:spcBef>
                <a:spcPts val="200"/>
              </a:spcBef>
              <a:spcAft>
                <a:spcPts val="0"/>
              </a:spcAft>
              <a:buClr>
                <a:schemeClr val="dk1"/>
              </a:buClr>
              <a:buSzPts val="800"/>
              <a:buNone/>
            </a:pPr>
            <a:endParaRPr sz="1000" dirty="0">
              <a:solidFill>
                <a:srgbClr val="000000"/>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Education</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indent="0" algn="ctr">
              <a:spcBef>
                <a:spcPts val="200"/>
              </a:spcBef>
              <a:buSzPts val="720"/>
            </a:pPr>
            <a:r>
              <a:rPr lang="en-GB" sz="900" dirty="0">
                <a:latin typeface="Open Sans"/>
                <a:ea typeface="Open Sans"/>
                <a:cs typeface="Open Sans"/>
                <a:sym typeface="Open Sans"/>
              </a:rPr>
              <a:t>MSc Financial Economics, University of Leicester</a:t>
            </a:r>
            <a:endParaRPr lang="en-GB" sz="900" dirty="0"/>
          </a:p>
          <a:p>
            <a:pPr marL="0" lvl="0" indent="0" algn="ctr" rtl="0">
              <a:lnSpc>
                <a:spcPct val="90000"/>
              </a:lnSpc>
              <a:spcBef>
                <a:spcPts val="200"/>
              </a:spcBef>
              <a:spcAft>
                <a:spcPts val="0"/>
              </a:spcAft>
              <a:buClr>
                <a:schemeClr val="dk1"/>
              </a:buClr>
              <a:buSzPts val="720"/>
              <a:buNone/>
            </a:pPr>
            <a:endParaRPr lang="en-GB"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BSc Mathematics, Loughborough University</a:t>
            </a:r>
            <a:endParaRPr dirty="0"/>
          </a:p>
        </p:txBody>
      </p:sp>
      <p:sp>
        <p:nvSpPr>
          <p:cNvPr id="137" name="Google Shape;137;g3aa6806b005_0_0">
            <a:extLst>
              <a:ext uri="{FF2B5EF4-FFF2-40B4-BE49-F238E27FC236}">
                <a16:creationId xmlns:a16="http://schemas.microsoft.com/office/drawing/2014/main" id="{BF27AE72-53C3-57B8-BB48-3AAA2A8168B0}"/>
              </a:ext>
            </a:extLst>
          </p:cNvPr>
          <p:cNvSpPr txBox="1">
            <a:spLocks noGrp="1"/>
          </p:cNvSpPr>
          <p:nvPr>
            <p:ph type="body" idx="4"/>
          </p:nvPr>
        </p:nvSpPr>
        <p:spPr>
          <a:xfrm>
            <a:off x="2421833" y="650305"/>
            <a:ext cx="3936995" cy="5749063"/>
          </a:xfrm>
          <a:prstGeom prst="rect">
            <a:avLst/>
          </a:prstGeom>
          <a:noFill/>
          <a:ln>
            <a:noFill/>
          </a:ln>
        </p:spPr>
        <p:txBody>
          <a:bodyPr spcFirstLastPara="1" wrap="square" lIns="0" tIns="0" rIns="0" bIns="0" anchor="t" anchorCtr="0">
            <a:noAutofit/>
          </a:bodyPr>
          <a:lstStyle/>
          <a:p>
            <a:pPr marL="0" lvl="0" indent="0">
              <a:buClr>
                <a:srgbClr val="000000"/>
              </a:buClr>
              <a:buSzPts val="900"/>
            </a:pPr>
            <a:r>
              <a:rPr lang="en-GB" sz="1400" b="1" dirty="0">
                <a:solidFill>
                  <a:srgbClr val="002060"/>
                </a:solidFill>
                <a:latin typeface="Open Sans"/>
                <a:ea typeface="Open Sans"/>
                <a:cs typeface="Open Sans"/>
                <a:sym typeface="Open Sans"/>
              </a:rPr>
              <a:t>Experience:</a:t>
            </a:r>
          </a:p>
          <a:p>
            <a:pPr marL="0" lvl="0" indent="0">
              <a:buClr>
                <a:srgbClr val="000000"/>
              </a:buClr>
              <a:buSzPts val="900"/>
            </a:pPr>
            <a:endParaRPr lang="en-GB" sz="1400" b="1" dirty="0">
              <a:solidFill>
                <a:srgbClr val="002060"/>
              </a:solidFill>
              <a:latin typeface="Open Sans"/>
              <a:ea typeface="Open Sans"/>
              <a:cs typeface="Open Sans"/>
              <a:sym typeface="Open Sans"/>
            </a:endParaRPr>
          </a:p>
          <a:p>
            <a:pPr marL="0" lvl="0" indent="0">
              <a:buClr>
                <a:srgbClr val="000000"/>
              </a:buClr>
              <a:buSzPts val="900"/>
            </a:pPr>
            <a:r>
              <a:rPr lang="en-GB" sz="1200" b="1" dirty="0">
                <a:solidFill>
                  <a:srgbClr val="002060"/>
                </a:solidFill>
                <a:latin typeface="Open Sans"/>
                <a:ea typeface="Open Sans"/>
                <a:cs typeface="Open Sans"/>
                <a:sym typeface="Open Sans"/>
              </a:rPr>
              <a:t>Accenture projects (selected)</a:t>
            </a:r>
          </a:p>
          <a:p>
            <a:pPr marL="0" lvl="0" indent="0">
              <a:buClr>
                <a:srgbClr val="000000"/>
              </a:buClr>
              <a:buSzPts val="900"/>
            </a:pPr>
            <a:endParaRPr lang="en-GB" sz="900" dirty="0"/>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RAF</a:t>
            </a:r>
          </a:p>
          <a:p>
            <a:pPr marL="171450" indent="-171450">
              <a:spcBef>
                <a:spcPts val="450"/>
              </a:spcBef>
              <a:buClr>
                <a:srgbClr val="000000"/>
              </a:buClr>
              <a:buSzPts val="900"/>
              <a:buFont typeface="Arial"/>
              <a:buChar char="•"/>
            </a:pPr>
            <a:r>
              <a:rPr lang="en-GB" sz="900" dirty="0">
                <a:solidFill>
                  <a:srgbClr val="000000"/>
                </a:solidFill>
                <a:latin typeface="Open Sans"/>
                <a:ea typeface="Open Sans"/>
                <a:cs typeface="Open Sans"/>
                <a:sym typeface="Open Sans"/>
              </a:rPr>
              <a:t>Developing multiple visualisation POC’s in Tableau and Palantir Workshop including Operational Planning reporting proposal</a:t>
            </a:r>
          </a:p>
          <a:p>
            <a:pPr marL="171450" indent="-171450">
              <a:spcBef>
                <a:spcPts val="450"/>
              </a:spcBef>
              <a:buClr>
                <a:srgbClr val="000000"/>
              </a:buClr>
              <a:buSzPts val="900"/>
              <a:buFont typeface="Arial"/>
              <a:buChar char="•"/>
            </a:pPr>
            <a:r>
              <a:rPr lang="en-GB" sz="900" dirty="0">
                <a:solidFill>
                  <a:srgbClr val="000000"/>
                </a:solidFill>
                <a:latin typeface="Open Sans"/>
                <a:ea typeface="Open Sans"/>
                <a:cs typeface="Open Sans"/>
                <a:sym typeface="Open Sans"/>
              </a:rPr>
              <a:t>Leading team in investigating data pipeline and architecture for Product Analytics reporting</a:t>
            </a:r>
          </a:p>
          <a:p>
            <a:pPr marL="171450" indent="-171450">
              <a:spcBef>
                <a:spcPts val="450"/>
              </a:spcBef>
              <a:buClr>
                <a:srgbClr val="000000"/>
              </a:buClr>
              <a:buSzPts val="900"/>
              <a:buFont typeface="Arial"/>
              <a:buChar char="•"/>
            </a:pPr>
            <a:endParaRPr lang="en-GB" sz="900" dirty="0">
              <a:solidFill>
                <a:srgbClr val="000000"/>
              </a:solidFill>
              <a:latin typeface="Open Sans"/>
              <a:ea typeface="Open Sans"/>
              <a:cs typeface="Open Sans"/>
              <a:sym typeface="Open Sans"/>
            </a:endParaRPr>
          </a:p>
          <a:p>
            <a:pPr marL="0" lvl="0" indent="0">
              <a:spcBef>
                <a:spcPts val="450"/>
              </a:spcBef>
              <a:buClr>
                <a:srgbClr val="000000"/>
              </a:buClr>
              <a:buSzPts val="900"/>
            </a:pPr>
            <a:r>
              <a:rPr lang="en-GB" sz="900" b="1" u="sng" dirty="0">
                <a:solidFill>
                  <a:srgbClr val="000000"/>
                </a:solidFill>
                <a:latin typeface="Open Sans"/>
                <a:ea typeface="Open Sans"/>
                <a:cs typeface="Open Sans"/>
                <a:sym typeface="Open Sans"/>
              </a:rPr>
              <a:t>NHSE / Palantir</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Working with Palantir to support report migration for the NHSE, specifically a Foundry Workshop dashboard highlighting patient waiting times</a:t>
            </a:r>
            <a:endParaRPr lang="en-GB" sz="900" dirty="0"/>
          </a:p>
          <a:p>
            <a:pPr marL="171450" lvl="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In addition to dashboard development, I also took on business analysis tasks, supported data engineering, led team meetings and demoed to NHSE leadership </a:t>
            </a:r>
          </a:p>
          <a:p>
            <a:pPr marL="171450" lvl="0" indent="-171450">
              <a:spcBef>
                <a:spcPts val="600"/>
              </a:spcBef>
              <a:buClr>
                <a:srgbClr val="000000"/>
              </a:buClr>
              <a:buSzPts val="900"/>
              <a:buFont typeface="Arial"/>
              <a:buChar char="•"/>
            </a:pPr>
            <a:endParaRPr lang="en-GB" sz="900"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United Nations Global Compact</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Leading Tableau developers to build and enhance dashboards to indicate external companies’ sustainability policies</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Creation of operating model for strategic planning of visualization</a:t>
            </a:r>
          </a:p>
          <a:p>
            <a:pPr marL="0" lvl="0" indent="0">
              <a:spcBef>
                <a:spcPts val="600"/>
              </a:spcBef>
              <a:buClr>
                <a:srgbClr val="000000"/>
              </a:buClr>
              <a:buSzPts val="900"/>
            </a:pPr>
            <a:endParaRPr lang="en-GB" sz="900" b="1" u="sng"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Scottish Power</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Initially came into the team as a Visualisation expert to help build </a:t>
            </a:r>
            <a:r>
              <a:rPr lang="en-GB" sz="900" dirty="0" err="1">
                <a:solidFill>
                  <a:srgbClr val="000000"/>
                </a:solidFill>
                <a:latin typeface="Open Sans"/>
                <a:ea typeface="Open Sans"/>
                <a:cs typeface="Open Sans"/>
                <a:sym typeface="Open Sans"/>
              </a:rPr>
              <a:t>PowerBI</a:t>
            </a:r>
            <a:r>
              <a:rPr lang="en-GB" sz="900" dirty="0">
                <a:solidFill>
                  <a:srgbClr val="000000"/>
                </a:solidFill>
                <a:latin typeface="Open Sans"/>
                <a:ea typeface="Open Sans"/>
                <a:cs typeface="Open Sans"/>
                <a:sym typeface="Open Sans"/>
              </a:rPr>
              <a:t> Dashboards within Scottish Power Complaints</a:t>
            </a:r>
            <a:endParaRPr lang="en-GB" sz="900" dirty="0"/>
          </a:p>
          <a:p>
            <a:pPr marL="171450" lvl="0" indent="-171450">
              <a:spcBef>
                <a:spcPts val="600"/>
              </a:spcBef>
              <a:buClr>
                <a:srgbClr val="000000"/>
              </a:buClr>
              <a:buSzPts val="900"/>
              <a:buFont typeface="Arial"/>
              <a:buChar char="•"/>
            </a:pPr>
            <a:r>
              <a:rPr lang="en-GB" sz="900" dirty="0">
                <a:solidFill>
                  <a:srgbClr val="000000"/>
                </a:solidFill>
                <a:latin typeface="Open Sans"/>
                <a:ea typeface="Open Sans"/>
                <a:cs typeface="Open Sans"/>
                <a:sym typeface="Open Sans"/>
              </a:rPr>
              <a:t>Subsequently required to lead the team and manage deliverables including assessing Goodwill reporting and ombudsman risk</a:t>
            </a:r>
          </a:p>
          <a:p>
            <a:pPr marL="0" lvl="0" indent="0">
              <a:spcBef>
                <a:spcPts val="600"/>
              </a:spcBef>
              <a:buClr>
                <a:srgbClr val="000000"/>
              </a:buClr>
              <a:buSzPts val="900"/>
            </a:pPr>
            <a:endParaRPr lang="en-GB" sz="900" b="1" u="sng" dirty="0">
              <a:solidFill>
                <a:srgbClr val="000000"/>
              </a:solidFill>
              <a:latin typeface="Open Sans"/>
              <a:ea typeface="Open Sans"/>
              <a:cs typeface="Open Sans"/>
              <a:sym typeface="Open Sans"/>
            </a:endParaRPr>
          </a:p>
          <a:p>
            <a:pPr marL="0" lvl="0" indent="0">
              <a:spcBef>
                <a:spcPts val="600"/>
              </a:spcBef>
              <a:buClr>
                <a:srgbClr val="000000"/>
              </a:buClr>
              <a:buSzPts val="900"/>
            </a:pPr>
            <a:r>
              <a:rPr lang="en-GB" sz="900" b="1" u="sng" dirty="0">
                <a:solidFill>
                  <a:srgbClr val="000000"/>
                </a:solidFill>
                <a:latin typeface="Open Sans"/>
                <a:ea typeface="Open Sans"/>
                <a:cs typeface="Open Sans"/>
                <a:sym typeface="Open Sans"/>
              </a:rPr>
              <a:t>Accenture Supply Chain Decarbonisation Suite</a:t>
            </a:r>
            <a:endParaRPr lang="en-GB" sz="900" dirty="0"/>
          </a:p>
          <a:p>
            <a:pPr marL="0" lvl="0" indent="0">
              <a:buSzPts val="900"/>
            </a:pPr>
            <a:endParaRPr lang="en-GB" sz="900" b="1" u="sng" dirty="0">
              <a:solidFill>
                <a:srgbClr val="000000"/>
              </a:solidFill>
              <a:latin typeface="Open Sans"/>
              <a:ea typeface="Open Sans"/>
              <a:cs typeface="Open Sans"/>
              <a:sym typeface="Open Sans"/>
            </a:endParaRPr>
          </a:p>
          <a:p>
            <a:pPr marL="171450" lvl="0" indent="-171450">
              <a:buClr>
                <a:srgbClr val="000000"/>
              </a:buClr>
              <a:buSzPts val="900"/>
              <a:buFont typeface="Arial"/>
              <a:buChar char="•"/>
            </a:pPr>
            <a:r>
              <a:rPr lang="en-GB" sz="900" dirty="0">
                <a:solidFill>
                  <a:srgbClr val="000000"/>
                </a:solidFill>
                <a:latin typeface="Open Sans"/>
                <a:ea typeface="Open Sans"/>
                <a:cs typeface="Open Sans"/>
                <a:sym typeface="Open Sans"/>
              </a:rPr>
              <a:t>Leading teams of data scientists to build Gen AI solutions focussing on enhancing Sustainability processes by reducing manual effort by circa 90%</a:t>
            </a:r>
            <a:endParaRPr lang="en-GB" sz="900" b="1"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900"/>
              <a:buNone/>
            </a:pPr>
            <a:endParaRPr sz="900" dirty="0">
              <a:solidFill>
                <a:srgbClr val="000000"/>
              </a:solidFill>
              <a:latin typeface="Arial"/>
              <a:ea typeface="Arial"/>
              <a:cs typeface="Arial"/>
              <a:sym typeface="Arial"/>
            </a:endParaRPr>
          </a:p>
        </p:txBody>
      </p:sp>
      <p:sp>
        <p:nvSpPr>
          <p:cNvPr id="138" name="Google Shape;138;g3aa6806b005_0_0">
            <a:extLst>
              <a:ext uri="{FF2B5EF4-FFF2-40B4-BE49-F238E27FC236}">
                <a16:creationId xmlns:a16="http://schemas.microsoft.com/office/drawing/2014/main" id="{67055D64-A83F-CD37-E186-FC545E363B9D}"/>
              </a:ext>
            </a:extLst>
          </p:cNvPr>
          <p:cNvSpPr txBox="1"/>
          <p:nvPr/>
        </p:nvSpPr>
        <p:spPr>
          <a:xfrm>
            <a:off x="10508974" y="6467061"/>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39" name="Google Shape;139;g3aa6806b005_0_0">
            <a:extLst>
              <a:ext uri="{FF2B5EF4-FFF2-40B4-BE49-F238E27FC236}">
                <a16:creationId xmlns:a16="http://schemas.microsoft.com/office/drawing/2014/main" id="{E0296B0C-119E-5AEC-BE3B-E7AD9E9AEF3E}"/>
              </a:ext>
            </a:extLst>
          </p:cNvPr>
          <p:cNvCxnSpPr>
            <a:cxnSpLocks/>
          </p:cNvCxnSpPr>
          <p:nvPr/>
        </p:nvCxnSpPr>
        <p:spPr>
          <a:xfrm>
            <a:off x="95910" y="2867338"/>
            <a:ext cx="1742034" cy="0"/>
          </a:xfrm>
          <a:prstGeom prst="straightConnector1">
            <a:avLst/>
          </a:prstGeom>
          <a:noFill/>
          <a:ln w="12700" cap="flat" cmpd="sng">
            <a:solidFill>
              <a:schemeClr val="lt1">
                <a:alpha val="49800"/>
              </a:schemeClr>
            </a:solidFill>
            <a:prstDash val="solid"/>
            <a:miter lim="800000"/>
            <a:headEnd type="none" w="sm" len="sm"/>
            <a:tailEnd type="none" w="sm" len="sm"/>
          </a:ln>
        </p:spPr>
      </p:cxnSp>
      <p:pic>
        <p:nvPicPr>
          <p:cNvPr id="140" name="Google Shape;140;g3aa6806b005_0_0">
            <a:extLst>
              <a:ext uri="{FF2B5EF4-FFF2-40B4-BE49-F238E27FC236}">
                <a16:creationId xmlns:a16="http://schemas.microsoft.com/office/drawing/2014/main" id="{74DE39AE-51E0-FA05-D3C3-DE7901AD2C67}"/>
              </a:ext>
            </a:extLst>
          </p:cNvPr>
          <p:cNvPicPr preferRelativeResize="0"/>
          <p:nvPr/>
        </p:nvPicPr>
        <p:blipFill rotWithShape="1">
          <a:blip r:embed="rId4">
            <a:alphaModFix/>
          </a:blip>
          <a:srcRect t="6491" b="6491"/>
          <a:stretch/>
        </p:blipFill>
        <p:spPr>
          <a:xfrm>
            <a:off x="458280" y="200616"/>
            <a:ext cx="1400137" cy="1400137"/>
          </a:xfrm>
          <a:prstGeom prst="flowChartConnector">
            <a:avLst/>
          </a:prstGeom>
          <a:noFill/>
          <a:ln>
            <a:noFill/>
          </a:ln>
        </p:spPr>
      </p:pic>
      <p:cxnSp>
        <p:nvCxnSpPr>
          <p:cNvPr id="147" name="Google Shape;147;g3aa6806b005_0_0">
            <a:extLst>
              <a:ext uri="{FF2B5EF4-FFF2-40B4-BE49-F238E27FC236}">
                <a16:creationId xmlns:a16="http://schemas.microsoft.com/office/drawing/2014/main" id="{A78C8A74-D6AC-DA17-0CF4-DA840E8F1D96}"/>
              </a:ext>
            </a:extLst>
          </p:cNvPr>
          <p:cNvCxnSpPr/>
          <p:nvPr/>
        </p:nvCxnSpPr>
        <p:spPr>
          <a:xfrm rot="10800000">
            <a:off x="10442348" y="1054000"/>
            <a:ext cx="0" cy="5245200"/>
          </a:xfrm>
          <a:prstGeom prst="straightConnector1">
            <a:avLst/>
          </a:prstGeom>
          <a:noFill/>
          <a:ln w="9525" cap="flat" cmpd="sng">
            <a:solidFill>
              <a:srgbClr val="002060">
                <a:alpha val="80000"/>
              </a:srgbClr>
            </a:solidFill>
            <a:prstDash val="dot"/>
            <a:miter lim="800000"/>
            <a:headEnd type="none" w="sm" len="sm"/>
            <a:tailEnd type="none" w="sm" len="sm"/>
          </a:ln>
        </p:spPr>
      </p:cxnSp>
      <p:sp>
        <p:nvSpPr>
          <p:cNvPr id="5" name="Google Shape;137;g3aa6806b005_0_0">
            <a:extLst>
              <a:ext uri="{FF2B5EF4-FFF2-40B4-BE49-F238E27FC236}">
                <a16:creationId xmlns:a16="http://schemas.microsoft.com/office/drawing/2014/main" id="{71FC53B8-C278-9FC3-CD2D-148AA1066827}"/>
              </a:ext>
            </a:extLst>
          </p:cNvPr>
          <p:cNvSpPr txBox="1">
            <a:spLocks/>
          </p:cNvSpPr>
          <p:nvPr/>
        </p:nvSpPr>
        <p:spPr>
          <a:xfrm>
            <a:off x="6454738" y="650305"/>
            <a:ext cx="3921702" cy="6013795"/>
          </a:xfrm>
          <a:prstGeom prst="rect">
            <a:avLst/>
          </a:prstGeom>
          <a:noFill/>
          <a:ln>
            <a:noFill/>
          </a:ln>
        </p:spPr>
        <p:txBody>
          <a:bodyPr spcFirstLastPara="1" vert="horz" wrap="square" lIns="0" tIns="0" rIns="0" bIns="0" rtlCol="0" anchor="t" anchorCtr="0">
            <a:noAutofit/>
          </a:bodyPr>
          <a:lstStyle>
            <a:lvl1pPr marL="609585" lvl="0" indent="-304792" algn="l" defTabSz="914400" rtl="0" eaLnBrk="1" latinLnBrk="0" hangingPunct="1">
              <a:lnSpc>
                <a:spcPct val="90000"/>
              </a:lnSpc>
              <a:spcBef>
                <a:spcPts val="0"/>
              </a:spcBef>
              <a:spcAft>
                <a:spcPts val="0"/>
              </a:spcAft>
              <a:buClr>
                <a:schemeClr val="dk1"/>
              </a:buClr>
              <a:buSzPts val="800"/>
              <a:buFont typeface="Arial" panose="020B0604020202020204" pitchFamily="34" charset="0"/>
              <a:buNone/>
              <a:defRPr sz="1067" b="0" kern="1200">
                <a:solidFill>
                  <a:schemeClr val="dk1"/>
                </a:solidFill>
                <a:latin typeface="Arial"/>
                <a:ea typeface="Arial"/>
                <a:cs typeface="Arial"/>
                <a:sym typeface="Arial"/>
              </a:defRPr>
            </a:lvl1pPr>
            <a:lvl2pPr marL="1219170" lvl="1"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1600"/>
              </a:spcBef>
              <a:spcAft>
                <a:spcPts val="0"/>
              </a:spcAft>
              <a:buClr>
                <a:schemeClr val="dk1"/>
              </a:buClr>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1600"/>
              </a:spcBef>
              <a:spcAft>
                <a:spcPts val="1600"/>
              </a:spcAft>
              <a:buClr>
                <a:schemeClr val="dk1"/>
              </a:buClr>
              <a:buSzPts val="1400"/>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endParaRPr kumimoji="0" lang="en-GB" sz="1400" b="1" i="0" u="none" strike="noStrike" kern="1200" cap="none" spc="0" normalizeH="0" baseline="0" noProof="0" dirty="0">
              <a:ln>
                <a:noFill/>
              </a:ln>
              <a:solidFill>
                <a:srgbClr val="00206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endParaRPr kumimoji="0" lang="en-GB" sz="1400" b="1" i="0" u="none" strike="noStrike" kern="1200" cap="none" spc="0" normalizeH="0" baseline="0" noProof="0" dirty="0">
              <a:ln>
                <a:noFill/>
              </a:ln>
              <a:solidFill>
                <a:srgbClr val="00206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0"/>
              </a:spcBef>
              <a:spcAft>
                <a:spcPts val="0"/>
              </a:spcAft>
              <a:buClr>
                <a:srgbClr val="000000"/>
              </a:buClr>
              <a:buSzPts val="900"/>
              <a:buFont typeface="Arial" panose="020B0604020202020204" pitchFamily="34" charset="0"/>
              <a:buNone/>
              <a:tabLst/>
              <a:defRPr/>
            </a:pPr>
            <a:r>
              <a:rPr kumimoji="0" lang="en-GB" sz="1200" b="1" i="0" u="none" strike="noStrike" kern="1200" cap="none" spc="0" normalizeH="0" baseline="0" noProof="0" dirty="0">
                <a:ln>
                  <a:noFill/>
                </a:ln>
                <a:solidFill>
                  <a:srgbClr val="002060"/>
                </a:solidFill>
                <a:effectLst/>
                <a:uLnTx/>
                <a:uFillTx/>
                <a:latin typeface="Open Sans"/>
                <a:ea typeface="Open Sans"/>
                <a:cs typeface="Open Sans"/>
                <a:sym typeface="Open Sans"/>
              </a:rPr>
              <a:t>Accenture projects (selected) cont.</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endParaRPr lang="en-GB" sz="900" b="1" u="sng" dirty="0">
              <a:solidFill>
                <a:srgbClr val="000000"/>
              </a:solidFill>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rPr>
              <a:t>Lloyds Banking Group</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Open Sans"/>
                <a:ea typeface="Open Sans"/>
                <a:cs typeface="Open Sans"/>
                <a:sym typeface="Open Sans"/>
              </a:rPr>
              <a:t>Project 2</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Directing development of Power BI dashboards to report on board level metrics</a:t>
            </a:r>
            <a:r>
              <a:rPr kumimoji="0" lang="en-GB" sz="900" b="0" i="0" u="none" strike="noStrike" kern="1200" cap="none" spc="0" normalizeH="0" baseline="0" noProof="0" dirty="0">
                <a:ln>
                  <a:noFill/>
                </a:ln>
                <a:solidFill>
                  <a:prstClr val="black"/>
                </a:solidFill>
                <a:effectLst/>
                <a:uLnTx/>
                <a:uFillTx/>
                <a:latin typeface="Arial"/>
                <a:cs typeface="Arial"/>
                <a:sym typeface="Open Sans"/>
              </a:rPr>
              <a:t>, and demoing to senior leadership</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Open Sans"/>
                <a:ea typeface="Open Sans"/>
                <a:cs typeface="Open Sans"/>
                <a:sym typeface="Open Sans"/>
              </a:rPr>
              <a:t>Project 1</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Development of data quality dashboards in Tableau, leading production of developed product and training for handover</a:t>
            </a: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endPar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buFont typeface="Arial" panose="020B0604020202020204" pitchFamily="34" charset="0"/>
              <a:buNone/>
              <a:tabLst/>
              <a:defRPr/>
            </a:pPr>
            <a:r>
              <a:rPr kumimoji="0" lang="en-GB" sz="900" b="1" i="0" u="sng" strike="noStrike" kern="1200" cap="none" spc="0" normalizeH="0" baseline="0" noProof="0" dirty="0">
                <a:ln>
                  <a:noFill/>
                </a:ln>
                <a:solidFill>
                  <a:srgbClr val="000000"/>
                </a:solidFill>
                <a:effectLst/>
                <a:uLnTx/>
                <a:uFillTx/>
                <a:latin typeface="Open Sans"/>
                <a:ea typeface="Open Sans"/>
                <a:cs typeface="Open Sans"/>
                <a:sym typeface="Open Sans"/>
              </a:rPr>
              <a:t>UK Health Security Agency</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Supporting the UKHSA with the covid-19 pandemic </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Assisting the Head of Visualisation on key strategic planning and helping direct the team</a:t>
            </a:r>
            <a:endParaRPr kumimoji="0" lang="en-GB" sz="900" b="0" i="0" u="none" strike="noStrike" kern="1200" cap="none" spc="0" normalizeH="0" baseline="0" noProof="0" dirty="0">
              <a:ln>
                <a:noFill/>
              </a:ln>
              <a:solidFill>
                <a:prstClr val="black"/>
              </a:solidFill>
              <a:effectLst/>
              <a:uLnTx/>
              <a:uFillTx/>
              <a:latin typeface="Arial"/>
              <a:cs typeface="Arial"/>
              <a:sym typeface="Arial"/>
            </a:endParaRP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r>
              <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rPr>
              <a:t>Undertaking and directing on dashboard development and delivering marketing and training sessions and artefacts to upskill the business in Qlik Sense</a:t>
            </a:r>
          </a:p>
          <a:p>
            <a:pPr marL="171450" marR="0" lvl="0" indent="-171450" algn="l" defTabSz="914400" rtl="0" eaLnBrk="1" fontAlgn="auto" latinLnBrk="0" hangingPunct="1">
              <a:lnSpc>
                <a:spcPct val="90000"/>
              </a:lnSpc>
              <a:spcBef>
                <a:spcPts val="600"/>
              </a:spcBef>
              <a:spcAft>
                <a:spcPts val="0"/>
              </a:spcAft>
              <a:buClr>
                <a:srgbClr val="000000"/>
              </a:buClr>
              <a:buSzPts val="900"/>
              <a:buFont typeface="Arial"/>
              <a:buChar char="•"/>
              <a:tabLst/>
              <a:defRPr/>
            </a:pPr>
            <a:endParaRPr lang="en-GB" sz="900" dirty="0">
              <a:solidFill>
                <a:srgbClr val="000000"/>
              </a:solidFill>
              <a:latin typeface="Open Sans"/>
              <a:ea typeface="Open Sans"/>
              <a:cs typeface="Open Sans"/>
              <a:sym typeface="Open Sans"/>
            </a:endParaRPr>
          </a:p>
          <a:p>
            <a:pPr marL="0" marR="0" lvl="0" indent="0" algn="l" defTabSz="914400" rtl="0" eaLnBrk="1" fontAlgn="auto" latinLnBrk="0" hangingPunct="1">
              <a:lnSpc>
                <a:spcPct val="90000"/>
              </a:lnSpc>
              <a:spcBef>
                <a:spcPts val="600"/>
              </a:spcBef>
              <a:spcAft>
                <a:spcPts val="0"/>
              </a:spcAft>
              <a:buClr>
                <a:srgbClr val="000000"/>
              </a:buClr>
              <a:buSzPts val="900"/>
              <a:tabLst/>
              <a:defRPr/>
            </a:pPr>
            <a:endParaRPr kumimoji="0" lang="en-GB" sz="900" b="0" i="0" u="none" strike="noStrike" kern="1200" cap="none" spc="0" normalizeH="0" baseline="0" noProof="0" dirty="0">
              <a:ln>
                <a:noFill/>
              </a:ln>
              <a:solidFill>
                <a:srgbClr val="000000"/>
              </a:solidFill>
              <a:effectLst/>
              <a:uLnTx/>
              <a:uFillTx/>
              <a:latin typeface="Open Sans"/>
              <a:ea typeface="Open Sans"/>
              <a:cs typeface="Open Sans"/>
              <a:sym typeface="Open Sans"/>
            </a:endParaRPr>
          </a:p>
          <a:p>
            <a:pPr marL="0" indent="0">
              <a:spcBef>
                <a:spcPts val="600"/>
              </a:spcBef>
            </a:pPr>
            <a:r>
              <a:rPr lang="en-GB" sz="1200" b="1" dirty="0">
                <a:solidFill>
                  <a:srgbClr val="002060"/>
                </a:solidFill>
                <a:latin typeface="Open Sans"/>
                <a:ea typeface="Open Sans"/>
                <a:cs typeface="Open Sans"/>
                <a:sym typeface="Open Sans"/>
              </a:rPr>
              <a:t>Previous companies (selected)</a:t>
            </a:r>
          </a:p>
          <a:p>
            <a:pPr marL="171450" indent="-171450">
              <a:spcBef>
                <a:spcPts val="600"/>
              </a:spcBef>
              <a:buClr>
                <a:srgbClr val="000000"/>
              </a:buClr>
              <a:buSzPts val="900"/>
              <a:buFont typeface="Arial"/>
              <a:buChar char="•"/>
            </a:pPr>
            <a:r>
              <a:rPr lang="en-GB" sz="900" b="1" dirty="0">
                <a:solidFill>
                  <a:srgbClr val="000000"/>
                </a:solidFill>
                <a:latin typeface="Open Sans"/>
                <a:ea typeface="Open Sans"/>
                <a:cs typeface="Open Sans"/>
                <a:sym typeface="Open Sans"/>
              </a:rPr>
              <a:t>A.S. Watson </a:t>
            </a:r>
            <a:r>
              <a:rPr lang="en-GB" sz="900" i="1" dirty="0">
                <a:solidFill>
                  <a:srgbClr val="000000"/>
                </a:solidFill>
                <a:latin typeface="Open Sans"/>
                <a:ea typeface="Open Sans"/>
                <a:cs typeface="Open Sans"/>
                <a:sym typeface="Open Sans"/>
              </a:rPr>
              <a:t>(health and beauty retailer) </a:t>
            </a:r>
            <a:r>
              <a:rPr lang="en-GB" sz="900" dirty="0">
                <a:solidFill>
                  <a:srgbClr val="000000"/>
                </a:solidFill>
                <a:latin typeface="Open Sans"/>
                <a:ea typeface="Open Sans"/>
                <a:cs typeface="Open Sans"/>
                <a:sym typeface="Open Sans"/>
              </a:rPr>
              <a:t>- </a:t>
            </a:r>
            <a:r>
              <a:rPr lang="en-GB" sz="900" dirty="0">
                <a:solidFill>
                  <a:srgbClr val="000000"/>
                </a:solidFill>
                <a:latin typeface="Open Sans"/>
                <a:ea typeface="Open Sans"/>
                <a:cs typeface="Open Sans"/>
              </a:rPr>
              <a:t>Construction and implementation of Tableau reports across Europe and Asia Business Units</a:t>
            </a:r>
          </a:p>
          <a:p>
            <a:pPr marL="171450" indent="-171450">
              <a:spcBef>
                <a:spcPts val="600"/>
              </a:spcBef>
              <a:buClr>
                <a:srgbClr val="000000"/>
              </a:buClr>
              <a:buSzPts val="900"/>
              <a:buFont typeface="Arial"/>
              <a:buChar char="•"/>
            </a:pPr>
            <a:r>
              <a:rPr lang="en-GB" sz="900" b="1" dirty="0">
                <a:solidFill>
                  <a:srgbClr val="000000"/>
                </a:solidFill>
                <a:latin typeface="Open Sans"/>
                <a:ea typeface="Open Sans"/>
                <a:cs typeface="Open Sans"/>
              </a:rPr>
              <a:t>New Look, </a:t>
            </a:r>
            <a:r>
              <a:rPr lang="en-GB" sz="900" i="1" dirty="0">
                <a:solidFill>
                  <a:srgbClr val="000000"/>
                </a:solidFill>
                <a:latin typeface="Open Sans"/>
                <a:ea typeface="Open Sans"/>
                <a:cs typeface="Open Sans"/>
              </a:rPr>
              <a:t>(fashion retailer) </a:t>
            </a:r>
            <a:r>
              <a:rPr lang="en-GB" sz="900" dirty="0">
                <a:solidFill>
                  <a:srgbClr val="000000"/>
                </a:solidFill>
                <a:latin typeface="Open Sans"/>
                <a:ea typeface="Open Sans"/>
                <a:cs typeface="Open Sans"/>
              </a:rPr>
              <a:t>- Engineering data in SQL and Tableau dashboard development for business-wide use</a:t>
            </a:r>
            <a:endParaRPr lang="en-GB" sz="900" dirty="0">
              <a:solidFill>
                <a:srgbClr val="000000"/>
              </a:solidFill>
              <a:latin typeface="Open Sans"/>
              <a:ea typeface="Open Sans"/>
              <a:cs typeface="Open Sans"/>
              <a:sym typeface="Open Sans"/>
            </a:endParaRPr>
          </a:p>
          <a:p>
            <a:pPr marL="0" indent="0">
              <a:defRPr/>
            </a:pPr>
            <a:endParaRPr lang="en-GB" sz="900" dirty="0">
              <a:solidFill>
                <a:srgbClr val="000000"/>
              </a:solidFill>
              <a:latin typeface="Open Sans"/>
              <a:ea typeface="Open Sans"/>
              <a:cs typeface="Open Sans"/>
              <a:sym typeface="Open Sans"/>
            </a:endParaRPr>
          </a:p>
          <a:p>
            <a:pPr marL="0" lvl="0" indent="0">
              <a:spcBef>
                <a:spcPts val="600"/>
              </a:spcBef>
              <a:buSzPts val="900"/>
            </a:pPr>
            <a:r>
              <a:rPr lang="en-GB" sz="1200" b="1" dirty="0">
                <a:solidFill>
                  <a:srgbClr val="002060"/>
                </a:solidFill>
                <a:latin typeface="Open Sans"/>
                <a:ea typeface="Open Sans"/>
                <a:cs typeface="Open Sans"/>
              </a:rPr>
              <a:t>Personal ventures:</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rPr>
              <a:t>Founder of </a:t>
            </a:r>
            <a:r>
              <a:rPr lang="en-GB" sz="900" dirty="0">
                <a:solidFill>
                  <a:srgbClr val="000000"/>
                </a:solidFill>
                <a:latin typeface="Open Sans"/>
                <a:ea typeface="Open Sans"/>
                <a:cs typeface="Open Sans"/>
                <a:sym typeface="Open Sans"/>
                <a:hlinkClick r:id="rId5">
                  <a:extLst>
                    <a:ext uri="{A12FA001-AC4F-418D-AE19-62706E023703}">
                      <ahyp:hlinkClr xmlns:ahyp="http://schemas.microsoft.com/office/drawing/2018/hyperlinkcolor" val="tx"/>
                    </a:ext>
                  </a:extLst>
                </a:hlinkClick>
              </a:rPr>
              <a:t>MyBigClub.com</a:t>
            </a:r>
            <a:r>
              <a:rPr lang="en-GB" sz="900" dirty="0">
                <a:solidFill>
                  <a:srgbClr val="000000"/>
                </a:solidFill>
                <a:latin typeface="Open Sans"/>
                <a:ea typeface="Open Sans"/>
                <a:cs typeface="Open Sans"/>
              </a:rPr>
              <a:t>, a website that uses data to determine which football club is the biggest in England</a:t>
            </a:r>
          </a:p>
          <a:p>
            <a:pPr marL="171450" indent="-171450">
              <a:spcBef>
                <a:spcPts val="600"/>
              </a:spcBef>
              <a:buClr>
                <a:srgbClr val="000000"/>
              </a:buClr>
              <a:buSzPts val="900"/>
              <a:buFont typeface="Arial"/>
              <a:buChar char="•"/>
            </a:pPr>
            <a:r>
              <a:rPr lang="en-GB" sz="900" dirty="0">
                <a:solidFill>
                  <a:srgbClr val="000000"/>
                </a:solidFill>
                <a:latin typeface="Open Sans"/>
                <a:ea typeface="Open Sans"/>
                <a:cs typeface="Open Sans"/>
              </a:rPr>
              <a:t>Created several mobile games and published them to Google Play. The games have been built using Unity and HTML</a:t>
            </a:r>
          </a:p>
          <a:p>
            <a:pPr marL="0" indent="0">
              <a:spcBef>
                <a:spcPts val="600"/>
              </a:spcBef>
              <a:buSzPts val="900"/>
            </a:pPr>
            <a:endParaRPr lang="en-GB" sz="900" dirty="0">
              <a:solidFill>
                <a:srgbClr val="000000"/>
              </a:solidFill>
            </a:endParaRPr>
          </a:p>
        </p:txBody>
      </p:sp>
    </p:spTree>
    <p:extLst>
      <p:ext uri="{BB962C8B-B14F-4D97-AF65-F5344CB8AC3E}">
        <p14:creationId xmlns:p14="http://schemas.microsoft.com/office/powerpoint/2010/main" val="440180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aa6806b005_0_0"/>
          <p:cNvSpPr/>
          <p:nvPr/>
        </p:nvSpPr>
        <p:spPr>
          <a:xfrm>
            <a:off x="0" y="0"/>
            <a:ext cx="12192000" cy="6858000"/>
          </a:xfrm>
          <a:prstGeom prst="rect">
            <a:avLst/>
          </a:prstGeom>
          <a:gradFill>
            <a:gsLst>
              <a:gs pos="0">
                <a:srgbClr val="EFF7FC"/>
              </a:gs>
              <a:gs pos="8000">
                <a:srgbClr val="EFF7FC"/>
              </a:gs>
              <a:gs pos="89000">
                <a:srgbClr val="002060">
                  <a:alpha val="0"/>
                </a:srgbClr>
              </a:gs>
              <a:gs pos="100000">
                <a:srgbClr val="002060">
                  <a:alpha val="0"/>
                </a:srgbClr>
              </a:gs>
            </a:gsLst>
            <a:path path="circle">
              <a:fillToRect l="50000" t="50000" r="50000" b="50000"/>
            </a:path>
            <a:tileRect/>
          </a:gradFill>
          <a:ln w="19050" cap="flat" cmpd="sng">
            <a:solidFill>
              <a:schemeClr val="accent3">
                <a:alpha val="588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g3aa6806b005_0_0"/>
          <p:cNvSpPr/>
          <p:nvPr/>
        </p:nvSpPr>
        <p:spPr>
          <a:xfrm>
            <a:off x="-9225" y="0"/>
            <a:ext cx="2829600" cy="6858000"/>
          </a:xfrm>
          <a:prstGeom prst="rect">
            <a:avLst/>
          </a:prstGeom>
          <a:solidFill>
            <a:srgbClr val="002060"/>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g3aa6806b005_0_0"/>
          <p:cNvSpPr txBox="1"/>
          <p:nvPr/>
        </p:nvSpPr>
        <p:spPr>
          <a:xfrm>
            <a:off x="3014100" y="67450"/>
            <a:ext cx="7109100" cy="7440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2060"/>
              </a:buClr>
              <a:buSzPts val="3200"/>
              <a:buFont typeface="Arial Black"/>
              <a:buNone/>
            </a:pPr>
            <a:r>
              <a:rPr lang="en-GB" sz="3200" b="1" i="0" u="none" strike="noStrike" cap="none">
                <a:solidFill>
                  <a:srgbClr val="002060"/>
                </a:solidFill>
                <a:latin typeface="Arial Black"/>
                <a:ea typeface="Arial Black"/>
                <a:cs typeface="Arial Black"/>
                <a:sym typeface="Arial Black"/>
              </a:rPr>
              <a:t>Tom Morgan </a:t>
            </a:r>
            <a:r>
              <a:rPr lang="en-GB" u="sng">
                <a:solidFill>
                  <a:srgbClr val="002060"/>
                </a:solidFill>
                <a:hlinkClick r:id="rId3">
                  <a:extLst>
                    <a:ext uri="{A12FA001-AC4F-418D-AE19-62706E023703}">
                      <ahyp:hlinkClr xmlns:ahyp="http://schemas.microsoft.com/office/drawing/2018/hyperlinkcolor" val="tx"/>
                    </a:ext>
                  </a:extLst>
                </a:hlinkClick>
              </a:rPr>
              <a:t>t.morgan17@hotmail.co.uk</a:t>
            </a:r>
            <a:endParaRPr/>
          </a:p>
          <a:p>
            <a:pPr marL="0" marR="0" lvl="0" indent="0" algn="l" rtl="0">
              <a:lnSpc>
                <a:spcPct val="80000"/>
              </a:lnSpc>
              <a:spcBef>
                <a:spcPts val="0"/>
              </a:spcBef>
              <a:spcAft>
                <a:spcPts val="0"/>
              </a:spcAft>
              <a:buClr>
                <a:srgbClr val="002060"/>
              </a:buClr>
              <a:buSzPts val="1400"/>
              <a:buFont typeface="Arial"/>
              <a:buNone/>
            </a:pPr>
            <a:endParaRPr sz="1400" b="0" i="0" u="none" strike="noStrike" cap="none">
              <a:solidFill>
                <a:srgbClr val="002060"/>
              </a:solidFill>
              <a:latin typeface="Arial"/>
              <a:ea typeface="Arial"/>
              <a:cs typeface="Arial"/>
              <a:sym typeface="Arial"/>
            </a:endParaRPr>
          </a:p>
          <a:p>
            <a:pPr marL="0" marR="0" lvl="0" indent="0" algn="l" rtl="0">
              <a:lnSpc>
                <a:spcPct val="80000"/>
              </a:lnSpc>
              <a:spcBef>
                <a:spcPts val="0"/>
              </a:spcBef>
              <a:spcAft>
                <a:spcPts val="0"/>
              </a:spcAft>
              <a:buClr>
                <a:schemeClr val="accent1"/>
              </a:buClr>
              <a:buSzPts val="3200"/>
              <a:buFont typeface="Play"/>
              <a:buNone/>
            </a:pPr>
            <a:endParaRPr sz="3200" b="1" i="0" u="none" strike="noStrike" cap="none">
              <a:solidFill>
                <a:srgbClr val="002060"/>
              </a:solidFill>
              <a:latin typeface="Arial Black"/>
              <a:ea typeface="Arial Black"/>
              <a:cs typeface="Arial Black"/>
              <a:sym typeface="Arial Black"/>
            </a:endParaRPr>
          </a:p>
        </p:txBody>
      </p:sp>
      <p:sp>
        <p:nvSpPr>
          <p:cNvPr id="135" name="Google Shape;135;g3aa6806b005_0_0"/>
          <p:cNvSpPr txBox="1">
            <a:spLocks noGrp="1"/>
          </p:cNvSpPr>
          <p:nvPr>
            <p:ph type="body" idx="1"/>
          </p:nvPr>
        </p:nvSpPr>
        <p:spPr>
          <a:xfrm>
            <a:off x="45675" y="2362200"/>
            <a:ext cx="2713200" cy="3813300"/>
          </a:xfrm>
          <a:prstGeom prst="rect">
            <a:avLst/>
          </a:prstGeom>
          <a:noFill/>
          <a:ln>
            <a:noFill/>
          </a:ln>
        </p:spPr>
        <p:txBody>
          <a:bodyPr spcFirstLastPara="1" wrap="square" lIns="0" tIns="0" rIns="0" bIns="0" anchor="t" anchorCtr="0">
            <a:noAutofit/>
          </a:bodyPr>
          <a:lstStyle/>
          <a:p>
            <a:pPr marL="0" lvl="0" indent="0" algn="ctr" rtl="0">
              <a:lnSpc>
                <a:spcPct val="80000"/>
              </a:lnSpc>
              <a:spcBef>
                <a:spcPts val="0"/>
              </a:spcBef>
              <a:spcAft>
                <a:spcPts val="0"/>
              </a:spcAft>
              <a:buClr>
                <a:schemeClr val="lt1"/>
              </a:buClr>
              <a:buSzPts val="900"/>
              <a:buNone/>
            </a:pPr>
            <a:r>
              <a:rPr lang="en-GB" sz="900" b="1">
                <a:solidFill>
                  <a:schemeClr val="lt1"/>
                </a:solidFill>
                <a:latin typeface="Open Sans"/>
                <a:ea typeface="Open Sans"/>
                <a:cs typeface="Open Sans"/>
                <a:sym typeface="Open Sans"/>
              </a:rPr>
              <a:t>Professional Background</a:t>
            </a:r>
            <a:endParaRPr/>
          </a:p>
          <a:p>
            <a:pPr marL="0" lvl="0" indent="0" algn="ctr" rtl="0">
              <a:lnSpc>
                <a:spcPct val="90000"/>
              </a:lnSpc>
              <a:spcBef>
                <a:spcPts val="1050"/>
              </a:spcBef>
              <a:spcAft>
                <a:spcPts val="0"/>
              </a:spcAft>
              <a:buClr>
                <a:schemeClr val="lt1"/>
              </a:buClr>
              <a:buSzPts val="900"/>
              <a:buNone/>
            </a:pPr>
            <a:r>
              <a:rPr lang="en-GB" sz="900" b="1">
                <a:solidFill>
                  <a:schemeClr val="lt1"/>
                </a:solidFill>
                <a:latin typeface="Open Sans"/>
                <a:ea typeface="Open Sans"/>
                <a:cs typeface="Open Sans"/>
                <a:sym typeface="Open Sans"/>
              </a:rPr>
              <a:t>A data solutions and development professional with 9+ years’ experience, passionate about visualisation and AI to facilitate and accelerate data driven decision making.</a:t>
            </a:r>
            <a:endParaRPr/>
          </a:p>
          <a:p>
            <a:pPr marL="0" lvl="0" indent="0" algn="ctr" rtl="0">
              <a:lnSpc>
                <a:spcPct val="90000"/>
              </a:lnSpc>
              <a:spcBef>
                <a:spcPts val="1200"/>
              </a:spcBef>
              <a:spcAft>
                <a:spcPts val="0"/>
              </a:spcAft>
              <a:buClr>
                <a:schemeClr val="lt1"/>
              </a:buClr>
              <a:buSzPts val="900"/>
              <a:buFont typeface="Arial"/>
              <a:buNone/>
            </a:pPr>
            <a:r>
              <a:rPr lang="en-GB" sz="900">
                <a:solidFill>
                  <a:schemeClr val="lt1"/>
                </a:solidFill>
                <a:latin typeface="Open Sans"/>
                <a:ea typeface="Open Sans"/>
                <a:cs typeface="Open Sans"/>
                <a:sym typeface="Open Sans"/>
              </a:rPr>
              <a:t>I have extensive experience in scoping, designing, directing, developing and demonstrating dashboard creation across various tools. I also have experience in I have directed development of Gen AI solutions, as well as founding and leading development of a football website.</a:t>
            </a:r>
            <a:endParaRPr/>
          </a:p>
          <a:p>
            <a:pPr marL="0" lvl="0" indent="0" algn="ctr" rtl="0">
              <a:spcBef>
                <a:spcPts val="1200"/>
              </a:spcBef>
              <a:spcAft>
                <a:spcPts val="0"/>
              </a:spcAft>
              <a:buClr>
                <a:schemeClr val="lt1"/>
              </a:buClr>
              <a:buSzPts val="900"/>
              <a:buNone/>
            </a:pPr>
            <a:r>
              <a:rPr lang="en-GB" sz="900">
                <a:solidFill>
                  <a:schemeClr val="lt1"/>
                </a:solidFill>
                <a:latin typeface="Open Sans"/>
                <a:ea typeface="Open Sans"/>
                <a:cs typeface="Open Sans"/>
                <a:sym typeface="Open Sans"/>
              </a:rPr>
              <a:t>In addition to my technical knowledge, I can both engage with key stakeholders to understand the desired outcome and manage other developers to achieve this. Examples of this include creating data quality tools, advanced prototypes and Gen AI data extraction capabilities.</a:t>
            </a:r>
            <a:endParaRPr/>
          </a:p>
          <a:p>
            <a:pPr marL="0" lvl="0" indent="0" algn="l" rtl="0">
              <a:lnSpc>
                <a:spcPct val="90000"/>
              </a:lnSpc>
              <a:spcBef>
                <a:spcPts val="1200"/>
              </a:spcBef>
              <a:spcAft>
                <a:spcPts val="0"/>
              </a:spcAft>
              <a:buClr>
                <a:schemeClr val="lt1"/>
              </a:buClr>
              <a:buSzPts val="900"/>
              <a:buNone/>
            </a:pPr>
            <a:endParaRPr sz="600">
              <a:solidFill>
                <a:schemeClr val="lt1"/>
              </a:solidFill>
              <a:latin typeface="Arial"/>
              <a:ea typeface="Arial"/>
              <a:cs typeface="Arial"/>
              <a:sym typeface="Arial"/>
            </a:endParaRPr>
          </a:p>
        </p:txBody>
      </p:sp>
      <p:sp>
        <p:nvSpPr>
          <p:cNvPr id="136" name="Google Shape;136;g3aa6806b005_0_0"/>
          <p:cNvSpPr txBox="1">
            <a:spLocks noGrp="1"/>
          </p:cNvSpPr>
          <p:nvPr>
            <p:ph type="body" idx="2"/>
          </p:nvPr>
        </p:nvSpPr>
        <p:spPr>
          <a:xfrm>
            <a:off x="10272032" y="731519"/>
            <a:ext cx="1844700" cy="5983200"/>
          </a:xfrm>
          <a:prstGeom prst="rect">
            <a:avLst/>
          </a:prstGeom>
          <a:solidFill>
            <a:schemeClr val="lt1">
              <a:alpha val="0"/>
            </a:schemeClr>
          </a:solidFill>
          <a:ln>
            <a:noFill/>
          </a:ln>
        </p:spPr>
        <p:txBody>
          <a:bodyPr spcFirstLastPara="1" wrap="square" lIns="0" tIns="0" rIns="0" bIns="0" anchor="t" anchorCtr="0">
            <a:normAutofit/>
          </a:bodyPr>
          <a:lstStyle/>
          <a:p>
            <a:pPr marL="0" lvl="0" indent="0" algn="ctr" rtl="0">
              <a:lnSpc>
                <a:spcPct val="90000"/>
              </a:lnSpc>
              <a:spcBef>
                <a:spcPts val="0"/>
              </a:spcBef>
              <a:spcAft>
                <a:spcPts val="0"/>
              </a:spcAft>
              <a:buClr>
                <a:srgbClr val="002060"/>
              </a:buClr>
              <a:buSzPts val="1200"/>
              <a:buNone/>
            </a:pPr>
            <a:r>
              <a:rPr lang="en-GB" sz="1200" b="1" dirty="0">
                <a:solidFill>
                  <a:srgbClr val="002060"/>
                </a:solidFill>
                <a:latin typeface="Open Sans"/>
                <a:ea typeface="Open Sans"/>
                <a:cs typeface="Open Sans"/>
                <a:sym typeface="Open Sans"/>
              </a:rPr>
              <a:t>Functional Skills</a:t>
            </a:r>
            <a:endParaRPr dirty="0"/>
          </a:p>
          <a:p>
            <a:pPr marL="99449" lvl="0" indent="-48649" algn="ctr" rtl="0">
              <a:lnSpc>
                <a:spcPct val="90000"/>
              </a:lnSpc>
              <a:spcBef>
                <a:spcPts val="200"/>
              </a:spcBef>
              <a:spcAft>
                <a:spcPts val="0"/>
              </a:spcAft>
              <a:buClr>
                <a:schemeClr val="dk1"/>
              </a:buClr>
              <a:buSzPts val="800"/>
              <a:buFont typeface="NTR"/>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Visualisation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Data Analytics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Stakeholder Management</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Information Design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Technical Leading</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AI</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Game Creation</a:t>
            </a:r>
            <a:endParaRPr dirty="0"/>
          </a:p>
          <a:p>
            <a:pPr marL="0" lvl="0" indent="0" algn="ctr" rtl="0">
              <a:lnSpc>
                <a:spcPct val="90000"/>
              </a:lnSpc>
              <a:spcBef>
                <a:spcPts val="200"/>
              </a:spcBef>
              <a:spcAft>
                <a:spcPts val="0"/>
              </a:spcAft>
              <a:buClr>
                <a:schemeClr val="dk1"/>
              </a:buClr>
              <a:buSzPts val="800"/>
              <a:buNone/>
            </a:pPr>
            <a:endParaRPr sz="1000" dirty="0">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Technical Skills</a:t>
            </a:r>
            <a:endParaRPr dirty="0"/>
          </a:p>
          <a:p>
            <a:pPr marL="0" lvl="0" indent="0" algn="ctr" rtl="0">
              <a:lnSpc>
                <a:spcPct val="90000"/>
              </a:lnSpc>
              <a:spcBef>
                <a:spcPts val="200"/>
              </a:spcBef>
              <a:spcAft>
                <a:spcPts val="0"/>
              </a:spcAft>
              <a:buClr>
                <a:schemeClr val="dk1"/>
              </a:buClr>
              <a:buSzPts val="1200"/>
              <a:buNone/>
            </a:pPr>
            <a:endParaRPr sz="1200" b="1" dirty="0">
              <a:solidFill>
                <a:srgbClr val="A100FF"/>
              </a:solidFill>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Tableau</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Power BI</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Qlik Sense</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Workshop</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SQL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Python</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HTML</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Unity</a:t>
            </a: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C#</a:t>
            </a:r>
            <a:endParaRPr dirty="0"/>
          </a:p>
          <a:p>
            <a:pPr marL="0" lvl="0" indent="0" algn="ctr" rtl="0">
              <a:lnSpc>
                <a:spcPct val="90000"/>
              </a:lnSpc>
              <a:spcBef>
                <a:spcPts val="200"/>
              </a:spcBef>
              <a:spcAft>
                <a:spcPts val="0"/>
              </a:spcAft>
              <a:buClr>
                <a:schemeClr val="dk1"/>
              </a:buClr>
              <a:buSzPts val="1200"/>
              <a:buNone/>
            </a:pPr>
            <a:endParaRPr sz="1200" b="1" dirty="0">
              <a:solidFill>
                <a:schemeClr val="accent1"/>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Industry Experience</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Health</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Retail</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Financial Services</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Sustainability</a:t>
            </a:r>
            <a:endParaRPr dirty="0"/>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Energy</a:t>
            </a: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Defence</a:t>
            </a:r>
            <a:endParaRPr dirty="0"/>
          </a:p>
          <a:p>
            <a:pPr marL="0" lvl="0" indent="0" algn="ctr" rtl="0">
              <a:lnSpc>
                <a:spcPct val="90000"/>
              </a:lnSpc>
              <a:spcBef>
                <a:spcPts val="200"/>
              </a:spcBef>
              <a:spcAft>
                <a:spcPts val="0"/>
              </a:spcAft>
              <a:buClr>
                <a:schemeClr val="dk1"/>
              </a:buClr>
              <a:buSzPts val="800"/>
              <a:buNone/>
            </a:pPr>
            <a:endParaRPr sz="1000" dirty="0">
              <a:solidFill>
                <a:srgbClr val="000000"/>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dirty="0">
                <a:solidFill>
                  <a:srgbClr val="002060"/>
                </a:solidFill>
                <a:latin typeface="Open Sans"/>
                <a:ea typeface="Open Sans"/>
                <a:cs typeface="Open Sans"/>
                <a:sym typeface="Open Sans"/>
              </a:rPr>
              <a:t>Education</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BSc Mathematics, Loughborough University</a:t>
            </a:r>
            <a:endParaRPr dirty="0"/>
          </a:p>
          <a:p>
            <a:pPr marL="0" lvl="0" indent="0" algn="ctr" rtl="0">
              <a:lnSpc>
                <a:spcPct val="90000"/>
              </a:lnSpc>
              <a:spcBef>
                <a:spcPts val="200"/>
              </a:spcBef>
              <a:spcAft>
                <a:spcPts val="0"/>
              </a:spcAft>
              <a:buClr>
                <a:schemeClr val="dk1"/>
              </a:buClr>
              <a:buSzPts val="720"/>
              <a:buNone/>
            </a:pPr>
            <a:endParaRPr sz="900" dirty="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dirty="0">
                <a:latin typeface="Open Sans"/>
                <a:ea typeface="Open Sans"/>
                <a:cs typeface="Open Sans"/>
                <a:sym typeface="Open Sans"/>
              </a:rPr>
              <a:t>MSc Financial Economics, University of Leicester</a:t>
            </a:r>
            <a:endParaRPr dirty="0"/>
          </a:p>
          <a:p>
            <a:pPr marL="0" lvl="0" indent="0" algn="l" rtl="0">
              <a:lnSpc>
                <a:spcPct val="90000"/>
              </a:lnSpc>
              <a:spcBef>
                <a:spcPts val="200"/>
              </a:spcBef>
              <a:spcAft>
                <a:spcPts val="0"/>
              </a:spcAft>
              <a:buClr>
                <a:schemeClr val="dk1"/>
              </a:buClr>
              <a:buSzPts val="720"/>
              <a:buNone/>
            </a:pPr>
            <a:endParaRPr sz="900" dirty="0">
              <a:latin typeface="Arial"/>
              <a:ea typeface="Arial"/>
              <a:cs typeface="Arial"/>
              <a:sym typeface="Arial"/>
            </a:endParaRPr>
          </a:p>
        </p:txBody>
      </p:sp>
      <p:sp>
        <p:nvSpPr>
          <p:cNvPr id="137" name="Google Shape;137;g3aa6806b005_0_0"/>
          <p:cNvSpPr txBox="1">
            <a:spLocks noGrp="1"/>
          </p:cNvSpPr>
          <p:nvPr>
            <p:ph type="body" idx="4"/>
          </p:nvPr>
        </p:nvSpPr>
        <p:spPr>
          <a:xfrm>
            <a:off x="3162950" y="731525"/>
            <a:ext cx="7015500" cy="47817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rgbClr val="002060"/>
              </a:buClr>
              <a:buSzPts val="1400"/>
              <a:buNone/>
            </a:pPr>
            <a:r>
              <a:rPr lang="en-GB" sz="1400" b="1" dirty="0">
                <a:solidFill>
                  <a:srgbClr val="002060"/>
                </a:solidFill>
                <a:latin typeface="Open Sans"/>
                <a:ea typeface="Open Sans"/>
                <a:cs typeface="Open Sans"/>
                <a:sym typeface="Open Sans"/>
              </a:rPr>
              <a:t>Selected Experience</a:t>
            </a:r>
            <a:endParaRPr sz="1400" b="1" dirty="0">
              <a:solidFill>
                <a:srgbClr val="002060"/>
              </a:solidFill>
              <a:latin typeface="Open Sans"/>
              <a:ea typeface="Open Sans"/>
              <a:cs typeface="Open Sans"/>
              <a:sym typeface="Open Sans"/>
            </a:endParaRPr>
          </a:p>
          <a:p>
            <a:pPr marL="0" lvl="0" indent="0" algn="l" rtl="0">
              <a:lnSpc>
                <a:spcPct val="80000"/>
              </a:lnSpc>
              <a:spcBef>
                <a:spcPts val="0"/>
              </a:spcBef>
              <a:spcAft>
                <a:spcPts val="0"/>
              </a:spcAft>
              <a:buClr>
                <a:srgbClr val="002060"/>
              </a:buClr>
              <a:buSzPts val="1400"/>
              <a:buNone/>
            </a:pPr>
            <a:r>
              <a:rPr lang="en-GB" sz="900" b="1" dirty="0">
                <a:solidFill>
                  <a:srgbClr val="002060"/>
                </a:solidFill>
                <a:latin typeface="Open Sans"/>
                <a:ea typeface="Open Sans"/>
                <a:cs typeface="Open Sans"/>
                <a:sym typeface="Open Sans"/>
              </a:rPr>
              <a:t>The following projects were undertaken during my time working for Accenture as a Data Manager / Consultant</a:t>
            </a:r>
            <a:endParaRPr sz="900" b="1" dirty="0">
              <a:solidFill>
                <a:srgbClr val="002060"/>
              </a:solidFill>
              <a:latin typeface="Open Sans"/>
              <a:ea typeface="Open Sans"/>
              <a:cs typeface="Open Sans"/>
              <a:sym typeface="Open Sans"/>
            </a:endParaRPr>
          </a:p>
          <a:p>
            <a:pPr marL="0" lvl="0" indent="0" algn="l" rtl="0">
              <a:lnSpc>
                <a:spcPct val="80000"/>
              </a:lnSpc>
              <a:spcBef>
                <a:spcPts val="0"/>
              </a:spcBef>
              <a:spcAft>
                <a:spcPts val="0"/>
              </a:spcAft>
              <a:buClr>
                <a:srgbClr val="002060"/>
              </a:buClr>
              <a:buSzPts val="1400"/>
              <a:buNone/>
            </a:pPr>
            <a:endParaRPr sz="900" b="1" dirty="0">
              <a:solidFill>
                <a:srgbClr val="002060"/>
              </a:solidFill>
              <a:latin typeface="Open Sans"/>
              <a:ea typeface="Open Sans"/>
              <a:cs typeface="Open Sans"/>
              <a:sym typeface="Open Sans"/>
            </a:endParaRPr>
          </a:p>
          <a:p>
            <a:pPr marL="0" lvl="0" indent="0" algn="l" rtl="0">
              <a:lnSpc>
                <a:spcPct val="90000"/>
              </a:lnSpc>
              <a:spcBef>
                <a:spcPts val="450"/>
              </a:spcBef>
              <a:spcAft>
                <a:spcPts val="0"/>
              </a:spcAft>
              <a:buClr>
                <a:srgbClr val="000000"/>
              </a:buClr>
              <a:buSzPts val="900"/>
              <a:buNone/>
            </a:pPr>
            <a:r>
              <a:rPr lang="en-GB" sz="900" b="1" u="sng" dirty="0">
                <a:solidFill>
                  <a:srgbClr val="000000"/>
                </a:solidFill>
                <a:latin typeface="Open Sans"/>
                <a:ea typeface="Open Sans"/>
                <a:cs typeface="Open Sans"/>
                <a:sym typeface="Open Sans"/>
              </a:rPr>
              <a:t>NHSE / Palantir</a:t>
            </a:r>
            <a:endParaRPr dirty="0"/>
          </a:p>
          <a:p>
            <a:pPr marL="0" lvl="0" indent="0" algn="l" rtl="0">
              <a:lnSpc>
                <a:spcPct val="90000"/>
              </a:lnSpc>
              <a:spcBef>
                <a:spcPts val="0"/>
              </a:spcBef>
              <a:spcAft>
                <a:spcPts val="0"/>
              </a:spcAft>
              <a:buClr>
                <a:schemeClr val="dk1"/>
              </a:buClr>
              <a:buSzPts val="900"/>
              <a:buNone/>
            </a:pPr>
            <a:endParaRPr sz="900" b="1" u="sng" dirty="0">
              <a:solidFill>
                <a:srgbClr val="000000"/>
              </a:solidFill>
              <a:latin typeface="Open Sans"/>
              <a:ea typeface="Open Sans"/>
              <a:cs typeface="Open Sans"/>
              <a:sym typeface="Open Sans"/>
            </a:endParaRPr>
          </a:p>
          <a:p>
            <a:pPr marL="171450" lvl="0" indent="-171450" algn="l" rtl="0">
              <a:lnSpc>
                <a:spcPct val="90000"/>
              </a:lnSpc>
              <a:spcBef>
                <a:spcPts val="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Working with Palantir to support report migration for the NHSE, specifically a Foundry Workshop dashboard highlighting patient waiting times</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In addition to dashboard development, I also took on business analysis tasks, supported data engineering, led team meetings and demoed to NHSE leadership </a:t>
            </a:r>
            <a:endParaRPr sz="900"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dirty="0">
                <a:solidFill>
                  <a:srgbClr val="000000"/>
                </a:solidFill>
                <a:latin typeface="Open Sans"/>
                <a:ea typeface="Open Sans"/>
                <a:cs typeface="Open Sans"/>
                <a:sym typeface="Open Sans"/>
              </a:rPr>
              <a:t>Scottish Power</a:t>
            </a:r>
            <a:endParaRPr dirty="0"/>
          </a:p>
          <a:p>
            <a:pPr marL="0" lvl="0" indent="0" algn="l" rtl="0">
              <a:lnSpc>
                <a:spcPct val="90000"/>
              </a:lnSpc>
              <a:spcBef>
                <a:spcPts val="0"/>
              </a:spcBef>
              <a:spcAft>
                <a:spcPts val="0"/>
              </a:spcAft>
              <a:buClr>
                <a:schemeClr val="dk1"/>
              </a:buClr>
              <a:buSzPts val="900"/>
              <a:buNone/>
            </a:pPr>
            <a:endParaRPr sz="900" b="1" u="sng" dirty="0">
              <a:solidFill>
                <a:srgbClr val="000000"/>
              </a:solidFill>
              <a:latin typeface="Open Sans"/>
              <a:ea typeface="Open Sans"/>
              <a:cs typeface="Open Sans"/>
              <a:sym typeface="Open Sans"/>
            </a:endParaRPr>
          </a:p>
          <a:p>
            <a:pPr marL="171450" lvl="0" indent="-171450" algn="l" rtl="0">
              <a:lnSpc>
                <a:spcPct val="90000"/>
              </a:lnSpc>
              <a:spcBef>
                <a:spcPts val="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Initially came into the team as a Visualisation expert to help build </a:t>
            </a:r>
            <a:r>
              <a:rPr lang="en-GB" sz="900" dirty="0" err="1">
                <a:solidFill>
                  <a:srgbClr val="000000"/>
                </a:solidFill>
                <a:latin typeface="Open Sans"/>
                <a:ea typeface="Open Sans"/>
                <a:cs typeface="Open Sans"/>
                <a:sym typeface="Open Sans"/>
              </a:rPr>
              <a:t>PowerBI</a:t>
            </a:r>
            <a:r>
              <a:rPr lang="en-GB" sz="900" dirty="0">
                <a:solidFill>
                  <a:srgbClr val="000000"/>
                </a:solidFill>
                <a:latin typeface="Open Sans"/>
                <a:ea typeface="Open Sans"/>
                <a:cs typeface="Open Sans"/>
                <a:sym typeface="Open Sans"/>
              </a:rPr>
              <a:t> Dashboards within Scottish Power Complaints</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Subsequently required to lead the team and manage deliverables including assessing Goodwill reporting and ombudsman risk</a:t>
            </a:r>
            <a:endParaRPr sz="900"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dirty="0">
                <a:solidFill>
                  <a:srgbClr val="000000"/>
                </a:solidFill>
                <a:latin typeface="Open Sans"/>
                <a:ea typeface="Open Sans"/>
                <a:cs typeface="Open Sans"/>
                <a:sym typeface="Open Sans"/>
              </a:rPr>
              <a:t>Supply Chain Decarbonisation Suite</a:t>
            </a:r>
            <a:endParaRPr dirty="0"/>
          </a:p>
          <a:p>
            <a:pPr marL="0" lvl="0" indent="0" algn="l" rtl="0">
              <a:lnSpc>
                <a:spcPct val="90000"/>
              </a:lnSpc>
              <a:spcBef>
                <a:spcPts val="0"/>
              </a:spcBef>
              <a:spcAft>
                <a:spcPts val="0"/>
              </a:spcAft>
              <a:buClr>
                <a:schemeClr val="dk1"/>
              </a:buClr>
              <a:buSzPts val="900"/>
              <a:buNone/>
            </a:pPr>
            <a:endParaRPr sz="900" b="1" u="sng" dirty="0">
              <a:solidFill>
                <a:srgbClr val="000000"/>
              </a:solidFill>
              <a:latin typeface="Open Sans"/>
              <a:ea typeface="Open Sans"/>
              <a:cs typeface="Open Sans"/>
              <a:sym typeface="Open Sans"/>
            </a:endParaRPr>
          </a:p>
          <a:p>
            <a:pPr marL="171450" lvl="0" indent="-171450" algn="l" rtl="0">
              <a:lnSpc>
                <a:spcPct val="90000"/>
              </a:lnSpc>
              <a:spcBef>
                <a:spcPts val="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Leading teams of data scientists to build Gen AI solutions focussing on enhancing Sustainability processes by reducing manual effort by circa 90%</a:t>
            </a:r>
            <a:endParaRPr sz="900" b="1"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dirty="0">
                <a:solidFill>
                  <a:srgbClr val="000000"/>
                </a:solidFill>
                <a:latin typeface="Open Sans"/>
                <a:ea typeface="Open Sans"/>
                <a:cs typeface="Open Sans"/>
                <a:sym typeface="Open Sans"/>
              </a:rPr>
              <a:t>Lloyds Banking Group</a:t>
            </a:r>
            <a:endParaRPr dirty="0"/>
          </a:p>
          <a:p>
            <a:pPr marL="0" lvl="0" indent="0" algn="l" rtl="0">
              <a:lnSpc>
                <a:spcPct val="90000"/>
              </a:lnSpc>
              <a:spcBef>
                <a:spcPts val="600"/>
              </a:spcBef>
              <a:spcAft>
                <a:spcPts val="0"/>
              </a:spcAft>
              <a:buClr>
                <a:srgbClr val="000000"/>
              </a:buClr>
              <a:buSzPts val="900"/>
              <a:buNone/>
            </a:pPr>
            <a:r>
              <a:rPr lang="en-GB" sz="900" b="1" dirty="0">
                <a:solidFill>
                  <a:srgbClr val="000000"/>
                </a:solidFill>
                <a:latin typeface="Open Sans"/>
                <a:ea typeface="Open Sans"/>
                <a:cs typeface="Open Sans"/>
                <a:sym typeface="Open Sans"/>
              </a:rPr>
              <a:t>Project 2</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Directing development of Power BI dashboards to report on board level metrics</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Regular communication with board level personnel, leading demonstrations and revisiting project scope </a:t>
            </a:r>
            <a:endParaRPr dirty="0"/>
          </a:p>
          <a:p>
            <a:pPr marL="0" lvl="0" indent="0" algn="l" rtl="0">
              <a:lnSpc>
                <a:spcPct val="90000"/>
              </a:lnSpc>
              <a:spcBef>
                <a:spcPts val="600"/>
              </a:spcBef>
              <a:spcAft>
                <a:spcPts val="0"/>
              </a:spcAft>
              <a:buClr>
                <a:srgbClr val="000000"/>
              </a:buClr>
              <a:buSzPts val="900"/>
              <a:buNone/>
            </a:pPr>
            <a:r>
              <a:rPr lang="en-GB" sz="900" b="1" dirty="0">
                <a:solidFill>
                  <a:srgbClr val="000000"/>
                </a:solidFill>
                <a:latin typeface="Open Sans"/>
                <a:ea typeface="Open Sans"/>
                <a:cs typeface="Open Sans"/>
                <a:sym typeface="Open Sans"/>
              </a:rPr>
              <a:t>Project 1</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Development of data quality dashboards in Tableau</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Leading production of developed product and training for handover</a:t>
            </a:r>
            <a:endParaRPr sz="900"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dirty="0">
                <a:solidFill>
                  <a:srgbClr val="000000"/>
                </a:solidFill>
                <a:latin typeface="Open Sans"/>
                <a:ea typeface="Open Sans"/>
                <a:cs typeface="Open Sans"/>
                <a:sym typeface="Open Sans"/>
              </a:rPr>
              <a:t>UK Health Security Agency</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Supporting the UKHSA with the covid-19 pandemic </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Assisting the Head of Visualisation on key strategic planning and helping direct the team</a:t>
            </a:r>
            <a:endParaRPr dirty="0"/>
          </a:p>
          <a:p>
            <a:pPr marL="171450" lvl="0" indent="-171450" algn="l" rtl="0">
              <a:lnSpc>
                <a:spcPct val="90000"/>
              </a:lnSpc>
              <a:spcBef>
                <a:spcPts val="600"/>
              </a:spcBef>
              <a:spcAft>
                <a:spcPts val="0"/>
              </a:spcAft>
              <a:buClr>
                <a:srgbClr val="000000"/>
              </a:buClr>
              <a:buSzPts val="900"/>
              <a:buFont typeface="Arial"/>
              <a:buChar char="•"/>
            </a:pPr>
            <a:r>
              <a:rPr lang="en-GB" sz="900" dirty="0">
                <a:solidFill>
                  <a:srgbClr val="000000"/>
                </a:solidFill>
                <a:latin typeface="Open Sans"/>
                <a:ea typeface="Open Sans"/>
                <a:cs typeface="Open Sans"/>
                <a:sym typeface="Open Sans"/>
              </a:rPr>
              <a:t>Undertaking and directing on dashboard development and delivering marketing and training sessions and artefacts to upskill the business in Qlik Sense</a:t>
            </a:r>
            <a:endParaRPr sz="900"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None/>
            </a:pPr>
            <a:endParaRPr sz="900" dirty="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900"/>
              <a:buNone/>
            </a:pPr>
            <a:endParaRPr sz="900" dirty="0">
              <a:solidFill>
                <a:srgbClr val="000000"/>
              </a:solidFill>
              <a:latin typeface="Arial"/>
              <a:ea typeface="Arial"/>
              <a:cs typeface="Arial"/>
              <a:sym typeface="Arial"/>
            </a:endParaRPr>
          </a:p>
        </p:txBody>
      </p:sp>
      <p:sp>
        <p:nvSpPr>
          <p:cNvPr id="138" name="Google Shape;138;g3aa6806b005_0_0"/>
          <p:cNvSpPr txBox="1"/>
          <p:nvPr/>
        </p:nvSpPr>
        <p:spPr>
          <a:xfrm>
            <a:off x="10508974" y="6467061"/>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39" name="Google Shape;139;g3aa6806b005_0_0"/>
          <p:cNvCxnSpPr/>
          <p:nvPr/>
        </p:nvCxnSpPr>
        <p:spPr>
          <a:xfrm>
            <a:off x="415639" y="3187378"/>
            <a:ext cx="2043000" cy="0"/>
          </a:xfrm>
          <a:prstGeom prst="straightConnector1">
            <a:avLst/>
          </a:prstGeom>
          <a:noFill/>
          <a:ln w="12700" cap="flat" cmpd="sng">
            <a:solidFill>
              <a:schemeClr val="lt1">
                <a:alpha val="49800"/>
              </a:schemeClr>
            </a:solidFill>
            <a:prstDash val="solid"/>
            <a:miter lim="800000"/>
            <a:headEnd type="none" w="sm" len="sm"/>
            <a:tailEnd type="none" w="sm" len="sm"/>
          </a:ln>
        </p:spPr>
      </p:cxnSp>
      <p:pic>
        <p:nvPicPr>
          <p:cNvPr id="140" name="Google Shape;140;g3aa6806b005_0_0"/>
          <p:cNvPicPr preferRelativeResize="0"/>
          <p:nvPr/>
        </p:nvPicPr>
        <p:blipFill rotWithShape="1">
          <a:blip r:embed="rId4">
            <a:alphaModFix/>
          </a:blip>
          <a:srcRect t="6491" b="6491"/>
          <a:stretch/>
        </p:blipFill>
        <p:spPr>
          <a:xfrm>
            <a:off x="308781" y="279563"/>
            <a:ext cx="1831800" cy="1831800"/>
          </a:xfrm>
          <a:prstGeom prst="flowChartConnector">
            <a:avLst/>
          </a:prstGeom>
          <a:noFill/>
          <a:ln>
            <a:noFill/>
          </a:ln>
        </p:spPr>
      </p:pic>
      <p:cxnSp>
        <p:nvCxnSpPr>
          <p:cNvPr id="141" name="Google Shape;141;g3aa6806b005_0_0"/>
          <p:cNvCxnSpPr>
            <a:stCxn id="142" idx="4"/>
          </p:cNvCxnSpPr>
          <p:nvPr/>
        </p:nvCxnSpPr>
        <p:spPr>
          <a:xfrm>
            <a:off x="3014098" y="1318168"/>
            <a:ext cx="0" cy="4194600"/>
          </a:xfrm>
          <a:prstGeom prst="straightConnector1">
            <a:avLst/>
          </a:prstGeom>
          <a:noFill/>
          <a:ln w="57150" cap="flat" cmpd="sng">
            <a:solidFill>
              <a:srgbClr val="002060"/>
            </a:solidFill>
            <a:prstDash val="solid"/>
            <a:miter lim="800000"/>
            <a:headEnd type="none" w="sm" len="sm"/>
            <a:tailEnd type="none" w="sm" len="sm"/>
          </a:ln>
        </p:spPr>
      </p:cxnSp>
      <p:sp>
        <p:nvSpPr>
          <p:cNvPr id="142" name="Google Shape;142;g3aa6806b005_0_0"/>
          <p:cNvSpPr/>
          <p:nvPr/>
        </p:nvSpPr>
        <p:spPr>
          <a:xfrm>
            <a:off x="2933398" y="1156768"/>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3" name="Google Shape;143;g3aa6806b005_0_0"/>
          <p:cNvSpPr/>
          <p:nvPr/>
        </p:nvSpPr>
        <p:spPr>
          <a:xfrm>
            <a:off x="2940249" y="2052762"/>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4" name="Google Shape;144;g3aa6806b005_0_0"/>
          <p:cNvSpPr/>
          <p:nvPr/>
        </p:nvSpPr>
        <p:spPr>
          <a:xfrm>
            <a:off x="2933398" y="4673665"/>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5" name="Google Shape;145;g3aa6806b005_0_0"/>
          <p:cNvSpPr/>
          <p:nvPr/>
        </p:nvSpPr>
        <p:spPr>
          <a:xfrm>
            <a:off x="2931112" y="2712804"/>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6" name="Google Shape;146;g3aa6806b005_0_0"/>
          <p:cNvSpPr/>
          <p:nvPr/>
        </p:nvSpPr>
        <p:spPr>
          <a:xfrm>
            <a:off x="2931112" y="3276593"/>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47" name="Google Shape;147;g3aa6806b005_0_0"/>
          <p:cNvCxnSpPr/>
          <p:nvPr/>
        </p:nvCxnSpPr>
        <p:spPr>
          <a:xfrm rot="10800000">
            <a:off x="10204604" y="1054000"/>
            <a:ext cx="0" cy="5245200"/>
          </a:xfrm>
          <a:prstGeom prst="straightConnector1">
            <a:avLst/>
          </a:prstGeom>
          <a:noFill/>
          <a:ln w="9525" cap="flat" cmpd="sng">
            <a:solidFill>
              <a:srgbClr val="002060">
                <a:alpha val="80000"/>
              </a:srgbClr>
            </a:solidFill>
            <a:prstDash val="dot"/>
            <a:miter lim="800000"/>
            <a:headEnd type="none" w="sm" len="sm"/>
            <a:tailEnd type="none" w="sm" len="sm"/>
          </a:ln>
        </p:spPr>
      </p:cxnSp>
      <p:sp>
        <p:nvSpPr>
          <p:cNvPr id="148" name="Google Shape;148;g3aa6806b005_0_0"/>
          <p:cNvSpPr txBox="1"/>
          <p:nvPr/>
        </p:nvSpPr>
        <p:spPr>
          <a:xfrm>
            <a:off x="3162950" y="5513300"/>
            <a:ext cx="7041600" cy="1150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600"/>
              </a:spcBef>
              <a:spcAft>
                <a:spcPts val="0"/>
              </a:spcAft>
              <a:buClr>
                <a:schemeClr val="dk1"/>
              </a:buClr>
              <a:buSzPts val="1100"/>
              <a:buFont typeface="Arial"/>
              <a:buNone/>
            </a:pPr>
            <a:r>
              <a:rPr lang="en-GB" b="1" dirty="0">
                <a:solidFill>
                  <a:srgbClr val="002060"/>
                </a:solidFill>
                <a:latin typeface="Open Sans"/>
                <a:ea typeface="Open Sans"/>
                <a:cs typeface="Open Sans"/>
                <a:sym typeface="Open Sans"/>
              </a:rPr>
              <a:t>MyBigClub.com - Founder</a:t>
            </a:r>
            <a:r>
              <a:rPr lang="en-GB" sz="900" dirty="0">
                <a:solidFill>
                  <a:schemeClr val="dk1"/>
                </a:solidFill>
                <a:latin typeface="Open Sans"/>
                <a:ea typeface="Open Sans"/>
                <a:cs typeface="Open Sans"/>
                <a:sym typeface="Open Sans"/>
              </a:rPr>
              <a:t> </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u="sng" dirty="0">
                <a:solidFill>
                  <a:schemeClr val="hlink"/>
                </a:solidFill>
                <a:latin typeface="Open Sans"/>
                <a:ea typeface="Open Sans"/>
                <a:cs typeface="Open Sans"/>
                <a:sym typeface="Open Sans"/>
                <a:hlinkClick r:id="rId5"/>
              </a:rPr>
              <a:t>MyBigClub.com</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dirty="0">
                <a:solidFill>
                  <a:schemeClr val="dk1"/>
                </a:solidFill>
                <a:latin typeface="Open Sans"/>
                <a:ea typeface="Open Sans"/>
                <a:cs typeface="Open Sans"/>
                <a:sym typeface="Open Sans"/>
              </a:rPr>
              <a:t> • In addition to my established career I have recently led the creation of a website the compares football clubs</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dirty="0">
                <a:solidFill>
                  <a:schemeClr val="dk1"/>
                </a:solidFill>
                <a:latin typeface="Open Sans"/>
                <a:ea typeface="Open Sans"/>
                <a:cs typeface="Open Sans"/>
                <a:sym typeface="Open Sans"/>
              </a:rPr>
              <a:t> • The website aims to answer the much debated question of which club is the biggest, currently focussing on English football</a:t>
            </a:r>
            <a:endParaRPr sz="900" dirty="0">
              <a:solidFill>
                <a:schemeClr val="dk1"/>
              </a:solidFill>
              <a:latin typeface="Open Sans"/>
              <a:ea typeface="Open Sans"/>
              <a:cs typeface="Open Sans"/>
              <a:sym typeface="Open Sans"/>
            </a:endParaRPr>
          </a:p>
        </p:txBody>
      </p:sp>
      <p:pic>
        <p:nvPicPr>
          <p:cNvPr id="149" name="Google Shape;149;g3aa6806b005_0_0"/>
          <p:cNvPicPr preferRelativeResize="0"/>
          <p:nvPr/>
        </p:nvPicPr>
        <p:blipFill>
          <a:blip r:embed="rId6">
            <a:alphaModFix/>
          </a:blip>
          <a:stretch>
            <a:fillRect/>
          </a:stretch>
        </p:blipFill>
        <p:spPr>
          <a:xfrm>
            <a:off x="2890925" y="5540275"/>
            <a:ext cx="395024" cy="331051"/>
          </a:xfrm>
          <a:prstGeom prst="rect">
            <a:avLst/>
          </a:prstGeom>
          <a:noFill/>
          <a:ln>
            <a:noFill/>
          </a:ln>
        </p:spPr>
      </p:pic>
      <p:cxnSp>
        <p:nvCxnSpPr>
          <p:cNvPr id="150" name="Google Shape;150;g3aa6806b005_0_0"/>
          <p:cNvCxnSpPr/>
          <p:nvPr/>
        </p:nvCxnSpPr>
        <p:spPr>
          <a:xfrm>
            <a:off x="3642525" y="5574960"/>
            <a:ext cx="6165900" cy="0"/>
          </a:xfrm>
          <a:prstGeom prst="straightConnector1">
            <a:avLst/>
          </a:prstGeom>
          <a:noFill/>
          <a:ln w="12700" cap="flat" cmpd="sng">
            <a:solidFill>
              <a:srgbClr val="002060">
                <a:alpha val="49800"/>
              </a:srgbClr>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4D8A1-1726-B9D4-DA90-88D742EE6A5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01FEDA7-648A-8150-B238-539B30BB0AF3}"/>
              </a:ext>
            </a:extLst>
          </p:cNvPr>
          <p:cNvSpPr>
            <a:spLocks noGrp="1"/>
          </p:cNvSpPr>
          <p:nvPr>
            <p:ph idx="1"/>
          </p:nvPr>
        </p:nvSpPr>
        <p:spPr/>
        <p:txBody>
          <a:bodyPr>
            <a:normAutofit fontScale="25000" lnSpcReduction="20000"/>
          </a:bodyPr>
          <a:lstStyle/>
          <a:p>
            <a:pPr marL="0" lvl="0" indent="0">
              <a:lnSpc>
                <a:spcPct val="80000"/>
              </a:lnSpc>
              <a:spcBef>
                <a:spcPts val="0"/>
              </a:spcBef>
              <a:buClr>
                <a:srgbClr val="002060"/>
              </a:buClr>
              <a:buSzPts val="1400"/>
              <a:buNone/>
            </a:pPr>
            <a:r>
              <a:rPr lang="en-GB" sz="4800" b="1" dirty="0">
                <a:solidFill>
                  <a:srgbClr val="002060"/>
                </a:solidFill>
                <a:latin typeface="Open Sans"/>
                <a:ea typeface="Open Sans"/>
                <a:cs typeface="Open Sans"/>
                <a:sym typeface="Open Sans"/>
              </a:rPr>
              <a:t>Selected Experience</a:t>
            </a:r>
          </a:p>
          <a:p>
            <a:pPr marL="0" lvl="0" indent="0">
              <a:lnSpc>
                <a:spcPct val="80000"/>
              </a:lnSpc>
              <a:spcBef>
                <a:spcPts val="0"/>
              </a:spcBef>
              <a:buClr>
                <a:srgbClr val="002060"/>
              </a:buClr>
              <a:buSzPts val="1400"/>
              <a:buNone/>
            </a:pPr>
            <a:r>
              <a:rPr lang="en-GB" b="1" dirty="0">
                <a:solidFill>
                  <a:srgbClr val="002060"/>
                </a:solidFill>
                <a:latin typeface="Open Sans"/>
                <a:ea typeface="Open Sans"/>
                <a:cs typeface="Open Sans"/>
                <a:sym typeface="Open Sans"/>
              </a:rPr>
              <a:t>The following projects were undertaken during my time working for Accenture as a Data Manager / Consultant</a:t>
            </a:r>
          </a:p>
          <a:p>
            <a:pPr marL="0" lvl="0" indent="0">
              <a:lnSpc>
                <a:spcPct val="80000"/>
              </a:lnSpc>
              <a:spcBef>
                <a:spcPts val="0"/>
              </a:spcBef>
              <a:buClr>
                <a:srgbClr val="002060"/>
              </a:buClr>
              <a:buSzPts val="1400"/>
              <a:buNone/>
            </a:pPr>
            <a:endParaRPr lang="en-GB" b="1" dirty="0">
              <a:solidFill>
                <a:srgbClr val="002060"/>
              </a:solidFill>
              <a:latin typeface="Open Sans"/>
              <a:ea typeface="Open Sans"/>
              <a:cs typeface="Open Sans"/>
              <a:sym typeface="Open Sans"/>
            </a:endParaRPr>
          </a:p>
          <a:p>
            <a:pPr marL="0" lvl="0" indent="0">
              <a:spcBef>
                <a:spcPts val="450"/>
              </a:spcBef>
              <a:buClr>
                <a:srgbClr val="000000"/>
              </a:buClr>
              <a:buSzPts val="900"/>
              <a:buNone/>
            </a:pPr>
            <a:r>
              <a:rPr lang="en-GB" b="1" u="sng" dirty="0">
                <a:solidFill>
                  <a:srgbClr val="000000"/>
                </a:solidFill>
                <a:latin typeface="Open Sans"/>
                <a:ea typeface="Open Sans"/>
                <a:cs typeface="Open Sans"/>
                <a:sym typeface="Open Sans"/>
              </a:rPr>
              <a:t>NHSE / Palantir</a:t>
            </a:r>
            <a:endParaRPr lang="en-GB" dirty="0"/>
          </a:p>
          <a:p>
            <a:pPr marL="0" lvl="0" indent="0">
              <a:spcBef>
                <a:spcPts val="0"/>
              </a:spcBef>
              <a:buClr>
                <a:schemeClr val="dk1"/>
              </a:buClr>
              <a:buSzPts val="900"/>
              <a:buNone/>
            </a:pPr>
            <a:endParaRPr lang="en-GB" b="1" u="sng" dirty="0">
              <a:solidFill>
                <a:srgbClr val="000000"/>
              </a:solidFill>
              <a:latin typeface="Open Sans"/>
              <a:ea typeface="Open Sans"/>
              <a:cs typeface="Open Sans"/>
              <a:sym typeface="Open Sans"/>
            </a:endParaRPr>
          </a:p>
          <a:p>
            <a:pPr marL="171450" lvl="0" indent="-171450">
              <a:spcBef>
                <a:spcPts val="0"/>
              </a:spcBef>
              <a:buClr>
                <a:srgbClr val="000000"/>
              </a:buClr>
              <a:buSzPts val="900"/>
              <a:buFont typeface="Arial"/>
              <a:buChar char="•"/>
            </a:pPr>
            <a:r>
              <a:rPr lang="en-GB" dirty="0">
                <a:solidFill>
                  <a:srgbClr val="000000"/>
                </a:solidFill>
                <a:latin typeface="Open Sans"/>
                <a:ea typeface="Open Sans"/>
                <a:cs typeface="Open Sans"/>
                <a:sym typeface="Open Sans"/>
              </a:rPr>
              <a:t>Working with Palantir to support report migration for the NHSE, specifically a Foundry Workshop dashboard highlighting patient waiting times</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In addition to dashboard development, I also took on business analysis tasks, supported data engineering, led team meetings and demoed to NHSE leadership </a:t>
            </a:r>
          </a:p>
          <a:p>
            <a:pPr marL="0" lvl="0" indent="0">
              <a:spcBef>
                <a:spcPts val="600"/>
              </a:spcBef>
              <a:buClr>
                <a:srgbClr val="000000"/>
              </a:buClr>
              <a:buSzPts val="900"/>
              <a:buNone/>
            </a:pPr>
            <a:r>
              <a:rPr lang="en-GB" b="1" u="sng" dirty="0">
                <a:solidFill>
                  <a:srgbClr val="000000"/>
                </a:solidFill>
                <a:latin typeface="Open Sans"/>
                <a:ea typeface="Open Sans"/>
                <a:cs typeface="Open Sans"/>
                <a:sym typeface="Open Sans"/>
              </a:rPr>
              <a:t>Scottish Power</a:t>
            </a:r>
            <a:endParaRPr lang="en-GB" dirty="0"/>
          </a:p>
          <a:p>
            <a:pPr marL="0" lvl="0" indent="0">
              <a:spcBef>
                <a:spcPts val="0"/>
              </a:spcBef>
              <a:buClr>
                <a:schemeClr val="dk1"/>
              </a:buClr>
              <a:buSzPts val="900"/>
              <a:buNone/>
            </a:pPr>
            <a:endParaRPr lang="en-GB" b="1" u="sng" dirty="0">
              <a:solidFill>
                <a:srgbClr val="000000"/>
              </a:solidFill>
              <a:latin typeface="Open Sans"/>
              <a:ea typeface="Open Sans"/>
              <a:cs typeface="Open Sans"/>
              <a:sym typeface="Open Sans"/>
            </a:endParaRPr>
          </a:p>
          <a:p>
            <a:pPr marL="171450" lvl="0" indent="-171450">
              <a:spcBef>
                <a:spcPts val="0"/>
              </a:spcBef>
              <a:buClr>
                <a:srgbClr val="000000"/>
              </a:buClr>
              <a:buSzPts val="900"/>
              <a:buFont typeface="Arial"/>
              <a:buChar char="•"/>
            </a:pPr>
            <a:r>
              <a:rPr lang="en-GB" dirty="0">
                <a:solidFill>
                  <a:srgbClr val="000000"/>
                </a:solidFill>
                <a:latin typeface="Open Sans"/>
                <a:ea typeface="Open Sans"/>
                <a:cs typeface="Open Sans"/>
                <a:sym typeface="Open Sans"/>
              </a:rPr>
              <a:t>Initially came into the team as a Visualisation expert to help build </a:t>
            </a:r>
            <a:r>
              <a:rPr lang="en-GB" dirty="0" err="1">
                <a:solidFill>
                  <a:srgbClr val="000000"/>
                </a:solidFill>
                <a:latin typeface="Open Sans"/>
                <a:ea typeface="Open Sans"/>
                <a:cs typeface="Open Sans"/>
                <a:sym typeface="Open Sans"/>
              </a:rPr>
              <a:t>PowerBI</a:t>
            </a:r>
            <a:r>
              <a:rPr lang="en-GB" dirty="0">
                <a:solidFill>
                  <a:srgbClr val="000000"/>
                </a:solidFill>
                <a:latin typeface="Open Sans"/>
                <a:ea typeface="Open Sans"/>
                <a:cs typeface="Open Sans"/>
                <a:sym typeface="Open Sans"/>
              </a:rPr>
              <a:t> Dashboards within Scottish Power Complaints</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Subsequently required to lead the team and manage deliverables including assessing Goodwill reporting and ombudsman risk</a:t>
            </a:r>
          </a:p>
          <a:p>
            <a:pPr marL="0" lvl="0" indent="0">
              <a:spcBef>
                <a:spcPts val="600"/>
              </a:spcBef>
              <a:buClr>
                <a:srgbClr val="000000"/>
              </a:buClr>
              <a:buSzPts val="900"/>
              <a:buNone/>
            </a:pPr>
            <a:r>
              <a:rPr lang="en-GB" b="1" u="sng" dirty="0">
                <a:solidFill>
                  <a:srgbClr val="000000"/>
                </a:solidFill>
                <a:latin typeface="Open Sans"/>
                <a:ea typeface="Open Sans"/>
                <a:cs typeface="Open Sans"/>
                <a:sym typeface="Open Sans"/>
              </a:rPr>
              <a:t>Supply Chain Decarbonisation Suite</a:t>
            </a:r>
            <a:endParaRPr lang="en-GB" dirty="0"/>
          </a:p>
          <a:p>
            <a:pPr marL="0" lvl="0" indent="0">
              <a:spcBef>
                <a:spcPts val="0"/>
              </a:spcBef>
              <a:buClr>
                <a:schemeClr val="dk1"/>
              </a:buClr>
              <a:buSzPts val="900"/>
              <a:buNone/>
            </a:pPr>
            <a:endParaRPr lang="en-GB" b="1" u="sng" dirty="0">
              <a:solidFill>
                <a:srgbClr val="000000"/>
              </a:solidFill>
              <a:latin typeface="Open Sans"/>
              <a:ea typeface="Open Sans"/>
              <a:cs typeface="Open Sans"/>
              <a:sym typeface="Open Sans"/>
            </a:endParaRPr>
          </a:p>
          <a:p>
            <a:pPr marL="171450" lvl="0" indent="-171450">
              <a:spcBef>
                <a:spcPts val="0"/>
              </a:spcBef>
              <a:buClr>
                <a:srgbClr val="000000"/>
              </a:buClr>
              <a:buSzPts val="900"/>
              <a:buFont typeface="Arial"/>
              <a:buChar char="•"/>
            </a:pPr>
            <a:r>
              <a:rPr lang="en-GB" dirty="0">
                <a:solidFill>
                  <a:srgbClr val="000000"/>
                </a:solidFill>
                <a:latin typeface="Open Sans"/>
                <a:ea typeface="Open Sans"/>
                <a:cs typeface="Open Sans"/>
                <a:sym typeface="Open Sans"/>
              </a:rPr>
              <a:t>Leading teams of data scientists to build Gen AI solutions focussing on enhancing Sustainability processes by reducing manual effort by circa 90%</a:t>
            </a:r>
            <a:endParaRPr lang="en-GB" b="1" dirty="0">
              <a:solidFill>
                <a:srgbClr val="000000"/>
              </a:solidFill>
              <a:latin typeface="Open Sans"/>
              <a:ea typeface="Open Sans"/>
              <a:cs typeface="Open Sans"/>
              <a:sym typeface="Open Sans"/>
            </a:endParaRPr>
          </a:p>
          <a:p>
            <a:pPr marL="0" lvl="0" indent="0">
              <a:spcBef>
                <a:spcPts val="600"/>
              </a:spcBef>
              <a:buClr>
                <a:srgbClr val="000000"/>
              </a:buClr>
              <a:buSzPts val="900"/>
              <a:buNone/>
            </a:pPr>
            <a:r>
              <a:rPr lang="en-GB" b="1" u="sng" dirty="0">
                <a:solidFill>
                  <a:srgbClr val="000000"/>
                </a:solidFill>
                <a:latin typeface="Open Sans"/>
                <a:ea typeface="Open Sans"/>
                <a:cs typeface="Open Sans"/>
                <a:sym typeface="Open Sans"/>
              </a:rPr>
              <a:t>Lloyds Banking Group</a:t>
            </a:r>
            <a:endParaRPr lang="en-GB" dirty="0"/>
          </a:p>
          <a:p>
            <a:pPr marL="0" lvl="0" indent="0">
              <a:spcBef>
                <a:spcPts val="600"/>
              </a:spcBef>
              <a:buClr>
                <a:srgbClr val="000000"/>
              </a:buClr>
              <a:buSzPts val="900"/>
              <a:buNone/>
            </a:pPr>
            <a:r>
              <a:rPr lang="en-GB" b="1" dirty="0">
                <a:solidFill>
                  <a:srgbClr val="000000"/>
                </a:solidFill>
                <a:latin typeface="Open Sans"/>
                <a:ea typeface="Open Sans"/>
                <a:cs typeface="Open Sans"/>
                <a:sym typeface="Open Sans"/>
              </a:rPr>
              <a:t>Project 2</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Directing development of Power BI dashboards to report on board level metrics</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Regular communication with board level personnel, leading demonstrations and revisiting project scope </a:t>
            </a:r>
            <a:endParaRPr lang="en-GB" dirty="0"/>
          </a:p>
          <a:p>
            <a:pPr marL="0" lvl="0" indent="0">
              <a:spcBef>
                <a:spcPts val="600"/>
              </a:spcBef>
              <a:buClr>
                <a:srgbClr val="000000"/>
              </a:buClr>
              <a:buSzPts val="900"/>
              <a:buNone/>
            </a:pPr>
            <a:r>
              <a:rPr lang="en-GB" b="1" dirty="0">
                <a:solidFill>
                  <a:srgbClr val="000000"/>
                </a:solidFill>
                <a:latin typeface="Open Sans"/>
                <a:ea typeface="Open Sans"/>
                <a:cs typeface="Open Sans"/>
                <a:sym typeface="Open Sans"/>
              </a:rPr>
              <a:t>Project 1</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Development of data quality dashboards in Tableau</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Leading production of developed product and training for handover</a:t>
            </a:r>
          </a:p>
          <a:p>
            <a:pPr marL="0" lvl="0" indent="0">
              <a:spcBef>
                <a:spcPts val="600"/>
              </a:spcBef>
              <a:buClr>
                <a:srgbClr val="000000"/>
              </a:buClr>
              <a:buSzPts val="900"/>
              <a:buNone/>
            </a:pPr>
            <a:r>
              <a:rPr lang="en-GB" b="1" u="sng" dirty="0">
                <a:solidFill>
                  <a:srgbClr val="000000"/>
                </a:solidFill>
                <a:latin typeface="Open Sans"/>
                <a:ea typeface="Open Sans"/>
                <a:cs typeface="Open Sans"/>
                <a:sym typeface="Open Sans"/>
              </a:rPr>
              <a:t>UK Health Security Agency</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Supporting the UKHSA with the covid-19 pandemic </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Assisting the Head of Visualisation on key strategic planning and helping direct the team</a:t>
            </a:r>
            <a:endParaRPr lang="en-GB" dirty="0"/>
          </a:p>
          <a:p>
            <a:pPr marL="171450" lvl="0" indent="-171450">
              <a:spcBef>
                <a:spcPts val="600"/>
              </a:spcBef>
              <a:buClr>
                <a:srgbClr val="000000"/>
              </a:buClr>
              <a:buSzPts val="900"/>
              <a:buFont typeface="Arial"/>
              <a:buChar char="•"/>
            </a:pPr>
            <a:r>
              <a:rPr lang="en-GB" dirty="0">
                <a:solidFill>
                  <a:srgbClr val="000000"/>
                </a:solidFill>
                <a:latin typeface="Open Sans"/>
                <a:ea typeface="Open Sans"/>
                <a:cs typeface="Open Sans"/>
                <a:sym typeface="Open Sans"/>
              </a:rPr>
              <a:t>Undertaking and directing on dashboard development and delivering marketing and training sessions and artefacts to upskill the business in Qlik Sense</a:t>
            </a:r>
          </a:p>
          <a:p>
            <a:pPr marL="0" lvl="0" indent="0">
              <a:spcBef>
                <a:spcPts val="600"/>
              </a:spcBef>
              <a:buNone/>
            </a:pPr>
            <a:endParaRPr lang="en-GB" dirty="0">
              <a:solidFill>
                <a:srgbClr val="000000"/>
              </a:solidFill>
              <a:latin typeface="Open Sans"/>
              <a:ea typeface="Open Sans"/>
              <a:cs typeface="Open Sans"/>
              <a:sym typeface="Open Sans"/>
            </a:endParaRPr>
          </a:p>
          <a:p>
            <a:pPr marL="0" lvl="0" indent="0">
              <a:spcBef>
                <a:spcPts val="600"/>
              </a:spcBef>
              <a:buClr>
                <a:schemeClr val="dk1"/>
              </a:buClr>
              <a:buSzPts val="900"/>
              <a:buNone/>
            </a:pPr>
            <a:endParaRPr lang="en-GB" dirty="0">
              <a:solidFill>
                <a:srgbClr val="000000"/>
              </a:solidFill>
              <a:latin typeface="Arial"/>
              <a:ea typeface="Arial"/>
              <a:cs typeface="Arial"/>
              <a:sym typeface="Arial"/>
            </a:endParaRPr>
          </a:p>
          <a:p>
            <a:r>
              <a:rPr lang="en-GB" dirty="0"/>
              <a:t>Game Creation</a:t>
            </a:r>
          </a:p>
          <a:p>
            <a:r>
              <a:rPr lang="en-GB" dirty="0"/>
              <a:t>MBC</a:t>
            </a:r>
          </a:p>
        </p:txBody>
      </p:sp>
      <p:sp>
        <p:nvSpPr>
          <p:cNvPr id="4" name="Footer Placeholder 3">
            <a:extLst>
              <a:ext uri="{FF2B5EF4-FFF2-40B4-BE49-F238E27FC236}">
                <a16:creationId xmlns:a16="http://schemas.microsoft.com/office/drawing/2014/main" id="{9FAB997D-136A-85A3-418A-706D4919273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E93EB19-0A4C-7AEC-A544-A58A5AA74319}"/>
              </a:ext>
            </a:extLst>
          </p:cNvPr>
          <p:cNvSpPr>
            <a:spLocks noGrp="1"/>
          </p:cNvSpPr>
          <p:nvPr>
            <p:ph type="sldNum" sz="quarter" idx="12"/>
          </p:nvPr>
        </p:nvSpPr>
        <p:spPr/>
        <p:txBody>
          <a:bodyPr/>
          <a:lstStyle/>
          <a:p>
            <a:fld id="{714307E8-CB61-451B-A64E-BA502D37BB8A}" type="slidenum">
              <a:rPr lang="en-GB" smtClean="0"/>
              <a:t>5</a:t>
            </a:fld>
            <a:endParaRPr lang="en-GB"/>
          </a:p>
        </p:txBody>
      </p:sp>
    </p:spTree>
    <p:extLst>
      <p:ext uri="{BB962C8B-B14F-4D97-AF65-F5344CB8AC3E}">
        <p14:creationId xmlns:p14="http://schemas.microsoft.com/office/powerpoint/2010/main" val="3851229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A1B701F8-1D94-F0BB-0577-81D0C0FCC0D5}"/>
            </a:ext>
          </a:extLst>
        </p:cNvPr>
        <p:cNvGrpSpPr/>
        <p:nvPr/>
      </p:nvGrpSpPr>
      <p:grpSpPr>
        <a:xfrm>
          <a:off x="0" y="0"/>
          <a:ext cx="0" cy="0"/>
          <a:chOff x="0" y="0"/>
          <a:chExt cx="0" cy="0"/>
        </a:xfrm>
      </p:grpSpPr>
      <p:sp>
        <p:nvSpPr>
          <p:cNvPr id="132" name="Google Shape;132;g3aa6806b005_0_0">
            <a:extLst>
              <a:ext uri="{FF2B5EF4-FFF2-40B4-BE49-F238E27FC236}">
                <a16:creationId xmlns:a16="http://schemas.microsoft.com/office/drawing/2014/main" id="{E4353E12-2E4A-C5B4-9978-2AF30120AC08}"/>
              </a:ext>
            </a:extLst>
          </p:cNvPr>
          <p:cNvSpPr/>
          <p:nvPr/>
        </p:nvSpPr>
        <p:spPr>
          <a:xfrm>
            <a:off x="0" y="0"/>
            <a:ext cx="12192000" cy="6858000"/>
          </a:xfrm>
          <a:prstGeom prst="rect">
            <a:avLst/>
          </a:prstGeom>
          <a:gradFill>
            <a:gsLst>
              <a:gs pos="0">
                <a:srgbClr val="EFF7FC"/>
              </a:gs>
              <a:gs pos="8000">
                <a:srgbClr val="EFF7FC"/>
              </a:gs>
              <a:gs pos="89000">
                <a:srgbClr val="002060">
                  <a:alpha val="0"/>
                </a:srgbClr>
              </a:gs>
              <a:gs pos="100000">
                <a:srgbClr val="002060">
                  <a:alpha val="0"/>
                </a:srgbClr>
              </a:gs>
            </a:gsLst>
            <a:path path="circle">
              <a:fillToRect l="50000" t="50000" r="50000" b="50000"/>
            </a:path>
            <a:tileRect/>
          </a:gradFill>
          <a:ln w="19050" cap="flat" cmpd="sng">
            <a:solidFill>
              <a:schemeClr val="accent3">
                <a:alpha val="588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g3aa6806b005_0_0">
            <a:extLst>
              <a:ext uri="{FF2B5EF4-FFF2-40B4-BE49-F238E27FC236}">
                <a16:creationId xmlns:a16="http://schemas.microsoft.com/office/drawing/2014/main" id="{80890EA8-9CBE-1293-B35D-38DAEB72FF7F}"/>
              </a:ext>
            </a:extLst>
          </p:cNvPr>
          <p:cNvSpPr/>
          <p:nvPr/>
        </p:nvSpPr>
        <p:spPr>
          <a:xfrm>
            <a:off x="-9225" y="0"/>
            <a:ext cx="2829600" cy="6858000"/>
          </a:xfrm>
          <a:prstGeom prst="rect">
            <a:avLst/>
          </a:prstGeom>
          <a:solidFill>
            <a:srgbClr val="002060"/>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g3aa6806b005_0_0">
            <a:extLst>
              <a:ext uri="{FF2B5EF4-FFF2-40B4-BE49-F238E27FC236}">
                <a16:creationId xmlns:a16="http://schemas.microsoft.com/office/drawing/2014/main" id="{EED6B075-9F75-5888-202F-FA2D8D81B03D}"/>
              </a:ext>
            </a:extLst>
          </p:cNvPr>
          <p:cNvSpPr txBox="1"/>
          <p:nvPr/>
        </p:nvSpPr>
        <p:spPr>
          <a:xfrm>
            <a:off x="3014100" y="67450"/>
            <a:ext cx="7109100" cy="7440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2060"/>
              </a:buClr>
              <a:buSzPts val="3200"/>
              <a:buFont typeface="Arial Black"/>
              <a:buNone/>
            </a:pPr>
            <a:r>
              <a:rPr lang="en-GB" sz="3200" b="1" i="0" u="none" strike="noStrike" cap="none">
                <a:solidFill>
                  <a:srgbClr val="002060"/>
                </a:solidFill>
                <a:latin typeface="Arial Black"/>
                <a:ea typeface="Arial Black"/>
                <a:cs typeface="Arial Black"/>
                <a:sym typeface="Arial Black"/>
              </a:rPr>
              <a:t>Tom Morgan </a:t>
            </a:r>
            <a:r>
              <a:rPr lang="en-GB" u="sng">
                <a:solidFill>
                  <a:srgbClr val="002060"/>
                </a:solidFill>
                <a:hlinkClick r:id="rId3">
                  <a:extLst>
                    <a:ext uri="{A12FA001-AC4F-418D-AE19-62706E023703}">
                      <ahyp:hlinkClr xmlns:ahyp="http://schemas.microsoft.com/office/drawing/2018/hyperlinkcolor" val="tx"/>
                    </a:ext>
                  </a:extLst>
                </a:hlinkClick>
              </a:rPr>
              <a:t>t.morgan17@hotmail.co.uk</a:t>
            </a:r>
            <a:endParaRPr/>
          </a:p>
          <a:p>
            <a:pPr marL="0" marR="0" lvl="0" indent="0" algn="l" rtl="0">
              <a:lnSpc>
                <a:spcPct val="80000"/>
              </a:lnSpc>
              <a:spcBef>
                <a:spcPts val="0"/>
              </a:spcBef>
              <a:spcAft>
                <a:spcPts val="0"/>
              </a:spcAft>
              <a:buClr>
                <a:srgbClr val="002060"/>
              </a:buClr>
              <a:buSzPts val="1400"/>
              <a:buFont typeface="Arial"/>
              <a:buNone/>
            </a:pPr>
            <a:endParaRPr sz="1400" b="0" i="0" u="none" strike="noStrike" cap="none">
              <a:solidFill>
                <a:srgbClr val="002060"/>
              </a:solidFill>
              <a:latin typeface="Arial"/>
              <a:ea typeface="Arial"/>
              <a:cs typeface="Arial"/>
              <a:sym typeface="Arial"/>
            </a:endParaRPr>
          </a:p>
          <a:p>
            <a:pPr marL="0" marR="0" lvl="0" indent="0" algn="l" rtl="0">
              <a:lnSpc>
                <a:spcPct val="80000"/>
              </a:lnSpc>
              <a:spcBef>
                <a:spcPts val="0"/>
              </a:spcBef>
              <a:spcAft>
                <a:spcPts val="0"/>
              </a:spcAft>
              <a:buClr>
                <a:schemeClr val="accent1"/>
              </a:buClr>
              <a:buSzPts val="3200"/>
              <a:buFont typeface="Play"/>
              <a:buNone/>
            </a:pPr>
            <a:endParaRPr sz="3200" b="1" i="0" u="none" strike="noStrike" cap="none">
              <a:solidFill>
                <a:srgbClr val="002060"/>
              </a:solidFill>
              <a:latin typeface="Arial Black"/>
              <a:ea typeface="Arial Black"/>
              <a:cs typeface="Arial Black"/>
              <a:sym typeface="Arial Black"/>
            </a:endParaRPr>
          </a:p>
        </p:txBody>
      </p:sp>
      <p:sp>
        <p:nvSpPr>
          <p:cNvPr id="135" name="Google Shape;135;g3aa6806b005_0_0">
            <a:extLst>
              <a:ext uri="{FF2B5EF4-FFF2-40B4-BE49-F238E27FC236}">
                <a16:creationId xmlns:a16="http://schemas.microsoft.com/office/drawing/2014/main" id="{82036F7E-BFAB-4B47-7559-40454E08C9E9}"/>
              </a:ext>
            </a:extLst>
          </p:cNvPr>
          <p:cNvSpPr txBox="1">
            <a:spLocks noGrp="1"/>
          </p:cNvSpPr>
          <p:nvPr>
            <p:ph type="body" idx="1"/>
          </p:nvPr>
        </p:nvSpPr>
        <p:spPr>
          <a:xfrm>
            <a:off x="45675" y="2362200"/>
            <a:ext cx="2713200" cy="3813300"/>
          </a:xfrm>
          <a:prstGeom prst="rect">
            <a:avLst/>
          </a:prstGeom>
          <a:noFill/>
          <a:ln>
            <a:noFill/>
          </a:ln>
        </p:spPr>
        <p:txBody>
          <a:bodyPr spcFirstLastPara="1" wrap="square" lIns="0" tIns="0" rIns="0" bIns="0" anchor="t" anchorCtr="0">
            <a:noAutofit/>
          </a:bodyPr>
          <a:lstStyle/>
          <a:p>
            <a:pPr marL="0" lvl="0" indent="0" algn="ctr" rtl="0">
              <a:lnSpc>
                <a:spcPct val="80000"/>
              </a:lnSpc>
              <a:spcBef>
                <a:spcPts val="0"/>
              </a:spcBef>
              <a:spcAft>
                <a:spcPts val="0"/>
              </a:spcAft>
              <a:buClr>
                <a:schemeClr val="lt1"/>
              </a:buClr>
              <a:buSzPts val="900"/>
              <a:buNone/>
            </a:pPr>
            <a:r>
              <a:rPr lang="en-GB" sz="900" b="1">
                <a:solidFill>
                  <a:schemeClr val="lt1"/>
                </a:solidFill>
                <a:latin typeface="Open Sans"/>
                <a:ea typeface="Open Sans"/>
                <a:cs typeface="Open Sans"/>
                <a:sym typeface="Open Sans"/>
              </a:rPr>
              <a:t>Professional Background</a:t>
            </a:r>
            <a:endParaRPr/>
          </a:p>
          <a:p>
            <a:pPr marL="0" lvl="0" indent="0" algn="ctr" rtl="0">
              <a:lnSpc>
                <a:spcPct val="90000"/>
              </a:lnSpc>
              <a:spcBef>
                <a:spcPts val="1050"/>
              </a:spcBef>
              <a:spcAft>
                <a:spcPts val="0"/>
              </a:spcAft>
              <a:buClr>
                <a:schemeClr val="lt1"/>
              </a:buClr>
              <a:buSzPts val="900"/>
              <a:buNone/>
            </a:pPr>
            <a:r>
              <a:rPr lang="en-GB" sz="900" b="1">
                <a:solidFill>
                  <a:schemeClr val="lt1"/>
                </a:solidFill>
                <a:latin typeface="Open Sans"/>
                <a:ea typeface="Open Sans"/>
                <a:cs typeface="Open Sans"/>
                <a:sym typeface="Open Sans"/>
              </a:rPr>
              <a:t>A data solutions and development professional with 9+ years’ experience, passionate about visualisation and AI to facilitate and accelerate data driven decision making.</a:t>
            </a:r>
            <a:endParaRPr/>
          </a:p>
          <a:p>
            <a:pPr marL="0" lvl="0" indent="0" algn="ctr" rtl="0">
              <a:lnSpc>
                <a:spcPct val="90000"/>
              </a:lnSpc>
              <a:spcBef>
                <a:spcPts val="1200"/>
              </a:spcBef>
              <a:spcAft>
                <a:spcPts val="0"/>
              </a:spcAft>
              <a:buClr>
                <a:schemeClr val="lt1"/>
              </a:buClr>
              <a:buSzPts val="900"/>
              <a:buFont typeface="Arial"/>
              <a:buNone/>
            </a:pPr>
            <a:r>
              <a:rPr lang="en-GB" sz="900">
                <a:solidFill>
                  <a:schemeClr val="lt1"/>
                </a:solidFill>
                <a:latin typeface="Open Sans"/>
                <a:ea typeface="Open Sans"/>
                <a:cs typeface="Open Sans"/>
                <a:sym typeface="Open Sans"/>
              </a:rPr>
              <a:t>I have extensive experience in scoping, designing, directing, developing and demonstrating dashboard creation across various tools. I also have experience in I have directed development of Gen AI solutions, as well as founding and leading development of a football website.</a:t>
            </a:r>
            <a:endParaRPr/>
          </a:p>
          <a:p>
            <a:pPr marL="0" lvl="0" indent="0" algn="ctr" rtl="0">
              <a:spcBef>
                <a:spcPts val="1200"/>
              </a:spcBef>
              <a:spcAft>
                <a:spcPts val="0"/>
              </a:spcAft>
              <a:buClr>
                <a:schemeClr val="lt1"/>
              </a:buClr>
              <a:buSzPts val="900"/>
              <a:buNone/>
            </a:pPr>
            <a:r>
              <a:rPr lang="en-GB" sz="900">
                <a:solidFill>
                  <a:schemeClr val="lt1"/>
                </a:solidFill>
                <a:latin typeface="Open Sans"/>
                <a:ea typeface="Open Sans"/>
                <a:cs typeface="Open Sans"/>
                <a:sym typeface="Open Sans"/>
              </a:rPr>
              <a:t>In addition to my technical knowledge, I can both engage with key stakeholders to understand the desired outcome and manage other developers to achieve this. Examples of this include creating data quality tools, advanced prototypes and Gen AI data extraction capabilities.</a:t>
            </a:r>
            <a:endParaRPr/>
          </a:p>
          <a:p>
            <a:pPr marL="0" lvl="0" indent="0" algn="l" rtl="0">
              <a:lnSpc>
                <a:spcPct val="90000"/>
              </a:lnSpc>
              <a:spcBef>
                <a:spcPts val="1200"/>
              </a:spcBef>
              <a:spcAft>
                <a:spcPts val="0"/>
              </a:spcAft>
              <a:buClr>
                <a:schemeClr val="lt1"/>
              </a:buClr>
              <a:buSzPts val="900"/>
              <a:buNone/>
            </a:pPr>
            <a:endParaRPr sz="600">
              <a:solidFill>
                <a:schemeClr val="lt1"/>
              </a:solidFill>
              <a:latin typeface="Arial"/>
              <a:ea typeface="Arial"/>
              <a:cs typeface="Arial"/>
              <a:sym typeface="Arial"/>
            </a:endParaRPr>
          </a:p>
        </p:txBody>
      </p:sp>
      <p:sp>
        <p:nvSpPr>
          <p:cNvPr id="136" name="Google Shape;136;g3aa6806b005_0_0">
            <a:extLst>
              <a:ext uri="{FF2B5EF4-FFF2-40B4-BE49-F238E27FC236}">
                <a16:creationId xmlns:a16="http://schemas.microsoft.com/office/drawing/2014/main" id="{591CE3CB-DAB2-C06E-658B-B60AFDDD5AF5}"/>
              </a:ext>
            </a:extLst>
          </p:cNvPr>
          <p:cNvSpPr txBox="1">
            <a:spLocks noGrp="1"/>
          </p:cNvSpPr>
          <p:nvPr>
            <p:ph type="body" idx="2"/>
          </p:nvPr>
        </p:nvSpPr>
        <p:spPr>
          <a:xfrm>
            <a:off x="10272032" y="731519"/>
            <a:ext cx="1844700" cy="5983200"/>
          </a:xfrm>
          <a:prstGeom prst="rect">
            <a:avLst/>
          </a:prstGeom>
          <a:solidFill>
            <a:schemeClr val="lt1">
              <a:alpha val="0"/>
            </a:schemeClr>
          </a:solidFill>
          <a:ln>
            <a:noFill/>
          </a:ln>
        </p:spPr>
        <p:txBody>
          <a:bodyPr spcFirstLastPara="1" wrap="square" lIns="0" tIns="0" rIns="0" bIns="0" anchor="t" anchorCtr="0">
            <a:normAutofit/>
          </a:bodyPr>
          <a:lstStyle/>
          <a:p>
            <a:pPr marL="0" lvl="0" indent="0" algn="ctr" rtl="0">
              <a:lnSpc>
                <a:spcPct val="90000"/>
              </a:lnSpc>
              <a:spcBef>
                <a:spcPts val="0"/>
              </a:spcBef>
              <a:spcAft>
                <a:spcPts val="0"/>
              </a:spcAft>
              <a:buClr>
                <a:srgbClr val="002060"/>
              </a:buClr>
              <a:buSzPts val="1200"/>
              <a:buNone/>
            </a:pPr>
            <a:r>
              <a:rPr lang="en-GB" sz="1200" b="1">
                <a:solidFill>
                  <a:srgbClr val="002060"/>
                </a:solidFill>
                <a:latin typeface="Open Sans"/>
                <a:ea typeface="Open Sans"/>
                <a:cs typeface="Open Sans"/>
                <a:sym typeface="Open Sans"/>
              </a:rPr>
              <a:t>Functional Skills</a:t>
            </a:r>
            <a:endParaRPr/>
          </a:p>
          <a:p>
            <a:pPr marL="99449" lvl="0" indent="-48649" algn="ctr" rtl="0">
              <a:lnSpc>
                <a:spcPct val="90000"/>
              </a:lnSpc>
              <a:spcBef>
                <a:spcPts val="200"/>
              </a:spcBef>
              <a:spcAft>
                <a:spcPts val="0"/>
              </a:spcAft>
              <a:buClr>
                <a:schemeClr val="dk1"/>
              </a:buClr>
              <a:buSzPts val="800"/>
              <a:buFont typeface="NTR"/>
              <a:buNone/>
            </a:pPr>
            <a:endParaRPr sz="100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Data Visualisation</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Data Analytics</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Stakeholder Management</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Information Design</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Technical Leading</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Generative AI</a:t>
            </a:r>
            <a:endParaRPr/>
          </a:p>
          <a:p>
            <a:pPr marL="0" lvl="0" indent="0" algn="ctr" rtl="0">
              <a:lnSpc>
                <a:spcPct val="90000"/>
              </a:lnSpc>
              <a:spcBef>
                <a:spcPts val="200"/>
              </a:spcBef>
              <a:spcAft>
                <a:spcPts val="0"/>
              </a:spcAft>
              <a:buClr>
                <a:schemeClr val="dk1"/>
              </a:buClr>
              <a:buSzPts val="800"/>
              <a:buNone/>
            </a:pPr>
            <a:endParaRPr sz="1000">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a:solidFill>
                  <a:srgbClr val="002060"/>
                </a:solidFill>
                <a:latin typeface="Open Sans"/>
                <a:ea typeface="Open Sans"/>
                <a:cs typeface="Open Sans"/>
                <a:sym typeface="Open Sans"/>
              </a:rPr>
              <a:t>Technical Skills</a:t>
            </a:r>
            <a:endParaRPr/>
          </a:p>
          <a:p>
            <a:pPr marL="0" lvl="0" indent="0" algn="ctr" rtl="0">
              <a:lnSpc>
                <a:spcPct val="90000"/>
              </a:lnSpc>
              <a:spcBef>
                <a:spcPts val="200"/>
              </a:spcBef>
              <a:spcAft>
                <a:spcPts val="0"/>
              </a:spcAft>
              <a:buClr>
                <a:schemeClr val="dk1"/>
              </a:buClr>
              <a:buSzPts val="1200"/>
              <a:buNone/>
            </a:pPr>
            <a:endParaRPr sz="1200" b="1">
              <a:solidFill>
                <a:srgbClr val="A100FF"/>
              </a:solidFill>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Tableau</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Power BI</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Qlik Sense</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Workshop</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SQL</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Python</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HTML</a:t>
            </a:r>
            <a:endParaRPr/>
          </a:p>
          <a:p>
            <a:pPr marL="0" lvl="0" indent="0" algn="ctr" rtl="0">
              <a:lnSpc>
                <a:spcPct val="90000"/>
              </a:lnSpc>
              <a:spcBef>
                <a:spcPts val="200"/>
              </a:spcBef>
              <a:spcAft>
                <a:spcPts val="0"/>
              </a:spcAft>
              <a:buClr>
                <a:schemeClr val="dk1"/>
              </a:buClr>
              <a:buSzPts val="1200"/>
              <a:buNone/>
            </a:pPr>
            <a:endParaRPr sz="1200" b="1">
              <a:solidFill>
                <a:schemeClr val="accent1"/>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a:solidFill>
                  <a:srgbClr val="002060"/>
                </a:solidFill>
                <a:latin typeface="Open Sans"/>
                <a:ea typeface="Open Sans"/>
                <a:cs typeface="Open Sans"/>
                <a:sym typeface="Open Sans"/>
              </a:rPr>
              <a:t>Industry Experience</a:t>
            </a:r>
            <a:endParaRPr/>
          </a:p>
          <a:p>
            <a:pPr marL="0" lvl="0" indent="0" algn="ctr" rtl="0">
              <a:lnSpc>
                <a:spcPct val="90000"/>
              </a:lnSpc>
              <a:spcBef>
                <a:spcPts val="200"/>
              </a:spcBef>
              <a:spcAft>
                <a:spcPts val="0"/>
              </a:spcAft>
              <a:buClr>
                <a:schemeClr val="dk1"/>
              </a:buClr>
              <a:buSzPts val="720"/>
              <a:buNone/>
            </a:pPr>
            <a:endParaRPr sz="90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Health</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Retail</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Financial Services</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Sustainability</a:t>
            </a:r>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Energy</a:t>
            </a:r>
            <a:endParaRPr/>
          </a:p>
          <a:p>
            <a:pPr marL="0" lvl="0" indent="0" algn="ctr" rtl="0">
              <a:lnSpc>
                <a:spcPct val="90000"/>
              </a:lnSpc>
              <a:spcBef>
                <a:spcPts val="200"/>
              </a:spcBef>
              <a:spcAft>
                <a:spcPts val="0"/>
              </a:spcAft>
              <a:buClr>
                <a:schemeClr val="dk1"/>
              </a:buClr>
              <a:buSzPts val="800"/>
              <a:buNone/>
            </a:pPr>
            <a:endParaRPr sz="1000">
              <a:solidFill>
                <a:srgbClr val="000000"/>
              </a:solidFill>
              <a:latin typeface="Open Sans"/>
              <a:ea typeface="Open Sans"/>
              <a:cs typeface="Open Sans"/>
              <a:sym typeface="Open Sans"/>
            </a:endParaRPr>
          </a:p>
          <a:p>
            <a:pPr marL="0" lvl="0" indent="0" algn="ctr" rtl="0">
              <a:lnSpc>
                <a:spcPct val="90000"/>
              </a:lnSpc>
              <a:spcBef>
                <a:spcPts val="200"/>
              </a:spcBef>
              <a:spcAft>
                <a:spcPts val="0"/>
              </a:spcAft>
              <a:buClr>
                <a:srgbClr val="002060"/>
              </a:buClr>
              <a:buSzPts val="1200"/>
              <a:buNone/>
            </a:pPr>
            <a:r>
              <a:rPr lang="en-GB" sz="1200" b="1">
                <a:solidFill>
                  <a:srgbClr val="002060"/>
                </a:solidFill>
                <a:latin typeface="Open Sans"/>
                <a:ea typeface="Open Sans"/>
                <a:cs typeface="Open Sans"/>
                <a:sym typeface="Open Sans"/>
              </a:rPr>
              <a:t>Education</a:t>
            </a:r>
            <a:endParaRPr/>
          </a:p>
          <a:p>
            <a:pPr marL="0" lvl="0" indent="0" algn="ctr" rtl="0">
              <a:lnSpc>
                <a:spcPct val="90000"/>
              </a:lnSpc>
              <a:spcBef>
                <a:spcPts val="200"/>
              </a:spcBef>
              <a:spcAft>
                <a:spcPts val="0"/>
              </a:spcAft>
              <a:buClr>
                <a:schemeClr val="dk1"/>
              </a:buClr>
              <a:buSzPts val="720"/>
              <a:buNone/>
            </a:pPr>
            <a:endParaRPr sz="90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BSc Mathematics, Loughborough University</a:t>
            </a:r>
            <a:endParaRPr/>
          </a:p>
          <a:p>
            <a:pPr marL="0" lvl="0" indent="0" algn="ctr" rtl="0">
              <a:lnSpc>
                <a:spcPct val="90000"/>
              </a:lnSpc>
              <a:spcBef>
                <a:spcPts val="200"/>
              </a:spcBef>
              <a:spcAft>
                <a:spcPts val="0"/>
              </a:spcAft>
              <a:buClr>
                <a:schemeClr val="dk1"/>
              </a:buClr>
              <a:buSzPts val="720"/>
              <a:buNone/>
            </a:pPr>
            <a:endParaRPr sz="900">
              <a:latin typeface="Open Sans"/>
              <a:ea typeface="Open Sans"/>
              <a:cs typeface="Open Sans"/>
              <a:sym typeface="Open Sans"/>
            </a:endParaRPr>
          </a:p>
          <a:p>
            <a:pPr marL="0" lvl="0" indent="0" algn="ctr" rtl="0">
              <a:lnSpc>
                <a:spcPct val="90000"/>
              </a:lnSpc>
              <a:spcBef>
                <a:spcPts val="200"/>
              </a:spcBef>
              <a:spcAft>
                <a:spcPts val="0"/>
              </a:spcAft>
              <a:buClr>
                <a:schemeClr val="dk1"/>
              </a:buClr>
              <a:buSzPts val="720"/>
              <a:buNone/>
            </a:pPr>
            <a:r>
              <a:rPr lang="en-GB" sz="900">
                <a:latin typeface="Open Sans"/>
                <a:ea typeface="Open Sans"/>
                <a:cs typeface="Open Sans"/>
                <a:sym typeface="Open Sans"/>
              </a:rPr>
              <a:t>MSc Financial Economics, University of Leicester</a:t>
            </a:r>
            <a:endParaRPr/>
          </a:p>
          <a:p>
            <a:pPr marL="0" lvl="0" indent="0" algn="l" rtl="0">
              <a:lnSpc>
                <a:spcPct val="90000"/>
              </a:lnSpc>
              <a:spcBef>
                <a:spcPts val="200"/>
              </a:spcBef>
              <a:spcAft>
                <a:spcPts val="0"/>
              </a:spcAft>
              <a:buClr>
                <a:schemeClr val="dk1"/>
              </a:buClr>
              <a:buSzPts val="720"/>
              <a:buNone/>
            </a:pPr>
            <a:endParaRPr sz="900">
              <a:latin typeface="Arial"/>
              <a:ea typeface="Arial"/>
              <a:cs typeface="Arial"/>
              <a:sym typeface="Arial"/>
            </a:endParaRPr>
          </a:p>
        </p:txBody>
      </p:sp>
      <p:sp>
        <p:nvSpPr>
          <p:cNvPr id="137" name="Google Shape;137;g3aa6806b005_0_0">
            <a:extLst>
              <a:ext uri="{FF2B5EF4-FFF2-40B4-BE49-F238E27FC236}">
                <a16:creationId xmlns:a16="http://schemas.microsoft.com/office/drawing/2014/main" id="{7470205F-043A-8688-5B92-FF39C6B057CA}"/>
              </a:ext>
            </a:extLst>
          </p:cNvPr>
          <p:cNvSpPr txBox="1">
            <a:spLocks noGrp="1"/>
          </p:cNvSpPr>
          <p:nvPr>
            <p:ph type="body" idx="4"/>
          </p:nvPr>
        </p:nvSpPr>
        <p:spPr>
          <a:xfrm>
            <a:off x="3162950" y="731525"/>
            <a:ext cx="7015500" cy="47817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rgbClr val="002060"/>
              </a:buClr>
              <a:buSzPts val="1400"/>
              <a:buNone/>
            </a:pPr>
            <a:r>
              <a:rPr lang="en-GB" sz="1400" b="1">
                <a:solidFill>
                  <a:srgbClr val="002060"/>
                </a:solidFill>
                <a:latin typeface="Open Sans"/>
                <a:ea typeface="Open Sans"/>
                <a:cs typeface="Open Sans"/>
                <a:sym typeface="Open Sans"/>
              </a:rPr>
              <a:t>Selected Experience</a:t>
            </a:r>
            <a:endParaRPr sz="1400" b="1">
              <a:solidFill>
                <a:srgbClr val="002060"/>
              </a:solidFill>
              <a:latin typeface="Open Sans"/>
              <a:ea typeface="Open Sans"/>
              <a:cs typeface="Open Sans"/>
              <a:sym typeface="Open Sans"/>
            </a:endParaRPr>
          </a:p>
          <a:p>
            <a:pPr marL="0" lvl="0" indent="0" algn="l" rtl="0">
              <a:lnSpc>
                <a:spcPct val="80000"/>
              </a:lnSpc>
              <a:spcBef>
                <a:spcPts val="0"/>
              </a:spcBef>
              <a:spcAft>
                <a:spcPts val="0"/>
              </a:spcAft>
              <a:buClr>
                <a:srgbClr val="002060"/>
              </a:buClr>
              <a:buSzPts val="1400"/>
              <a:buNone/>
            </a:pPr>
            <a:r>
              <a:rPr lang="en-GB" sz="900" b="1">
                <a:solidFill>
                  <a:srgbClr val="002060"/>
                </a:solidFill>
                <a:latin typeface="Open Sans"/>
                <a:ea typeface="Open Sans"/>
                <a:cs typeface="Open Sans"/>
                <a:sym typeface="Open Sans"/>
              </a:rPr>
              <a:t>The following projects were undertaken during my time working for Accenture as a Data Manager / Consultant</a:t>
            </a:r>
            <a:endParaRPr sz="900" b="1">
              <a:solidFill>
                <a:srgbClr val="002060"/>
              </a:solidFill>
              <a:latin typeface="Open Sans"/>
              <a:ea typeface="Open Sans"/>
              <a:cs typeface="Open Sans"/>
              <a:sym typeface="Open Sans"/>
            </a:endParaRPr>
          </a:p>
          <a:p>
            <a:pPr marL="0" lvl="0" indent="0" algn="l" rtl="0">
              <a:lnSpc>
                <a:spcPct val="80000"/>
              </a:lnSpc>
              <a:spcBef>
                <a:spcPts val="0"/>
              </a:spcBef>
              <a:spcAft>
                <a:spcPts val="0"/>
              </a:spcAft>
              <a:buClr>
                <a:srgbClr val="002060"/>
              </a:buClr>
              <a:buSzPts val="1400"/>
              <a:buNone/>
            </a:pPr>
            <a:endParaRPr sz="900" b="1">
              <a:solidFill>
                <a:srgbClr val="002060"/>
              </a:solidFill>
              <a:latin typeface="Open Sans"/>
              <a:ea typeface="Open Sans"/>
              <a:cs typeface="Open Sans"/>
              <a:sym typeface="Open Sans"/>
            </a:endParaRPr>
          </a:p>
          <a:p>
            <a:pPr marL="0" lvl="0" indent="0" algn="l" rtl="0">
              <a:lnSpc>
                <a:spcPct val="90000"/>
              </a:lnSpc>
              <a:spcBef>
                <a:spcPts val="450"/>
              </a:spcBef>
              <a:spcAft>
                <a:spcPts val="0"/>
              </a:spcAft>
              <a:buClr>
                <a:srgbClr val="000000"/>
              </a:buClr>
              <a:buSzPts val="900"/>
              <a:buNone/>
            </a:pPr>
            <a:r>
              <a:rPr lang="en-GB" sz="900" b="1" u="sng">
                <a:solidFill>
                  <a:srgbClr val="000000"/>
                </a:solidFill>
                <a:latin typeface="Open Sans"/>
                <a:ea typeface="Open Sans"/>
                <a:cs typeface="Open Sans"/>
                <a:sym typeface="Open Sans"/>
              </a:rPr>
              <a:t>NHSE / Palantir</a:t>
            </a:r>
            <a:endParaRPr/>
          </a:p>
          <a:p>
            <a:pPr marL="0" lvl="0" indent="0" algn="l" rtl="0">
              <a:lnSpc>
                <a:spcPct val="90000"/>
              </a:lnSpc>
              <a:spcBef>
                <a:spcPts val="0"/>
              </a:spcBef>
              <a:spcAft>
                <a:spcPts val="0"/>
              </a:spcAft>
              <a:buClr>
                <a:schemeClr val="dk1"/>
              </a:buClr>
              <a:buSzPts val="900"/>
              <a:buNone/>
            </a:pPr>
            <a:endParaRPr sz="900" b="1" u="sng">
              <a:solidFill>
                <a:srgbClr val="000000"/>
              </a:solidFill>
              <a:latin typeface="Open Sans"/>
              <a:ea typeface="Open Sans"/>
              <a:cs typeface="Open Sans"/>
              <a:sym typeface="Open Sans"/>
            </a:endParaRPr>
          </a:p>
          <a:p>
            <a:pPr marL="171450" lvl="0" indent="-171450" algn="l" rtl="0">
              <a:lnSpc>
                <a:spcPct val="90000"/>
              </a:lnSpc>
              <a:spcBef>
                <a:spcPts val="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Working with Palantir to support report migration for the NHSE, specifically a Foundry Workshop dashboard highlighting patient waiting times</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In addition to dashboard development, I also took on business analysis tasks, supported data engineering, led team meetings and demoed to NHSE leadership </a:t>
            </a:r>
            <a:endParaRPr sz="90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a:solidFill>
                  <a:srgbClr val="000000"/>
                </a:solidFill>
                <a:latin typeface="Open Sans"/>
                <a:ea typeface="Open Sans"/>
                <a:cs typeface="Open Sans"/>
                <a:sym typeface="Open Sans"/>
              </a:rPr>
              <a:t>Scottish Power</a:t>
            </a:r>
            <a:endParaRPr/>
          </a:p>
          <a:p>
            <a:pPr marL="0" lvl="0" indent="0" algn="l" rtl="0">
              <a:lnSpc>
                <a:spcPct val="90000"/>
              </a:lnSpc>
              <a:spcBef>
                <a:spcPts val="0"/>
              </a:spcBef>
              <a:spcAft>
                <a:spcPts val="0"/>
              </a:spcAft>
              <a:buClr>
                <a:schemeClr val="dk1"/>
              </a:buClr>
              <a:buSzPts val="900"/>
              <a:buNone/>
            </a:pPr>
            <a:endParaRPr sz="900" b="1" u="sng">
              <a:solidFill>
                <a:srgbClr val="000000"/>
              </a:solidFill>
              <a:latin typeface="Open Sans"/>
              <a:ea typeface="Open Sans"/>
              <a:cs typeface="Open Sans"/>
              <a:sym typeface="Open Sans"/>
            </a:endParaRPr>
          </a:p>
          <a:p>
            <a:pPr marL="171450" lvl="0" indent="-171450" algn="l" rtl="0">
              <a:lnSpc>
                <a:spcPct val="90000"/>
              </a:lnSpc>
              <a:spcBef>
                <a:spcPts val="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Initially came into the team as a Visualisation expert to help build PowerBI Dashboards within Scottish Power Complaints</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Subsequently required to lead the team and manage deliverables including assessing Goodwill reporting and ombudsman risk</a:t>
            </a:r>
            <a:endParaRPr sz="90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a:solidFill>
                  <a:srgbClr val="000000"/>
                </a:solidFill>
                <a:latin typeface="Open Sans"/>
                <a:ea typeface="Open Sans"/>
                <a:cs typeface="Open Sans"/>
                <a:sym typeface="Open Sans"/>
              </a:rPr>
              <a:t>Supply Chain Decarbonisation Suite</a:t>
            </a:r>
            <a:endParaRPr/>
          </a:p>
          <a:p>
            <a:pPr marL="0" lvl="0" indent="0" algn="l" rtl="0">
              <a:lnSpc>
                <a:spcPct val="90000"/>
              </a:lnSpc>
              <a:spcBef>
                <a:spcPts val="0"/>
              </a:spcBef>
              <a:spcAft>
                <a:spcPts val="0"/>
              </a:spcAft>
              <a:buClr>
                <a:schemeClr val="dk1"/>
              </a:buClr>
              <a:buSzPts val="900"/>
              <a:buNone/>
            </a:pPr>
            <a:endParaRPr sz="900" b="1" u="sng">
              <a:solidFill>
                <a:srgbClr val="000000"/>
              </a:solidFill>
              <a:latin typeface="Open Sans"/>
              <a:ea typeface="Open Sans"/>
              <a:cs typeface="Open Sans"/>
              <a:sym typeface="Open Sans"/>
            </a:endParaRPr>
          </a:p>
          <a:p>
            <a:pPr marL="171450" lvl="0" indent="-171450" algn="l" rtl="0">
              <a:lnSpc>
                <a:spcPct val="90000"/>
              </a:lnSpc>
              <a:spcBef>
                <a:spcPts val="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Leading teams of data scientists to build Gen AI solutions focussing on enhancing Sustainability processes by reducing manual effort by circa 90%</a:t>
            </a:r>
            <a:endParaRPr sz="900" b="1">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a:solidFill>
                  <a:srgbClr val="000000"/>
                </a:solidFill>
                <a:latin typeface="Open Sans"/>
                <a:ea typeface="Open Sans"/>
                <a:cs typeface="Open Sans"/>
                <a:sym typeface="Open Sans"/>
              </a:rPr>
              <a:t>Lloyds Banking Group</a:t>
            </a:r>
            <a:endParaRPr/>
          </a:p>
          <a:p>
            <a:pPr marL="0" lvl="0" indent="0" algn="l" rtl="0">
              <a:lnSpc>
                <a:spcPct val="90000"/>
              </a:lnSpc>
              <a:spcBef>
                <a:spcPts val="600"/>
              </a:spcBef>
              <a:spcAft>
                <a:spcPts val="0"/>
              </a:spcAft>
              <a:buClr>
                <a:srgbClr val="000000"/>
              </a:buClr>
              <a:buSzPts val="900"/>
              <a:buNone/>
            </a:pPr>
            <a:r>
              <a:rPr lang="en-GB" sz="900" b="1">
                <a:solidFill>
                  <a:srgbClr val="000000"/>
                </a:solidFill>
                <a:latin typeface="Open Sans"/>
                <a:ea typeface="Open Sans"/>
                <a:cs typeface="Open Sans"/>
                <a:sym typeface="Open Sans"/>
              </a:rPr>
              <a:t>Project 2</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Directing development of Power BI dashboards to report on board level metrics</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Regular communication with board level personnel, leading demonstrations and revisiting project scope </a:t>
            </a:r>
            <a:endParaRPr/>
          </a:p>
          <a:p>
            <a:pPr marL="0" lvl="0" indent="0" algn="l" rtl="0">
              <a:lnSpc>
                <a:spcPct val="90000"/>
              </a:lnSpc>
              <a:spcBef>
                <a:spcPts val="600"/>
              </a:spcBef>
              <a:spcAft>
                <a:spcPts val="0"/>
              </a:spcAft>
              <a:buClr>
                <a:srgbClr val="000000"/>
              </a:buClr>
              <a:buSzPts val="900"/>
              <a:buNone/>
            </a:pPr>
            <a:r>
              <a:rPr lang="en-GB" sz="900" b="1">
                <a:solidFill>
                  <a:srgbClr val="000000"/>
                </a:solidFill>
                <a:latin typeface="Open Sans"/>
                <a:ea typeface="Open Sans"/>
                <a:cs typeface="Open Sans"/>
                <a:sym typeface="Open Sans"/>
              </a:rPr>
              <a:t>Project 1</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Development of data quality dashboards in Tableau</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Leading production of developed product and training for handover</a:t>
            </a:r>
            <a:endParaRPr sz="90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rgbClr val="000000"/>
              </a:buClr>
              <a:buSzPts val="900"/>
              <a:buNone/>
            </a:pPr>
            <a:r>
              <a:rPr lang="en-GB" sz="900" b="1" u="sng">
                <a:solidFill>
                  <a:srgbClr val="000000"/>
                </a:solidFill>
                <a:latin typeface="Open Sans"/>
                <a:ea typeface="Open Sans"/>
                <a:cs typeface="Open Sans"/>
                <a:sym typeface="Open Sans"/>
              </a:rPr>
              <a:t>UK Health Security Agency</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Supporting the UKHSA with the covid-19 pandemic </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Assisting the Head of Visualisation on key strategic planning and helping direct the team</a:t>
            </a:r>
            <a:endParaRPr/>
          </a:p>
          <a:p>
            <a:pPr marL="171450" lvl="0" indent="-171450" algn="l" rtl="0">
              <a:lnSpc>
                <a:spcPct val="90000"/>
              </a:lnSpc>
              <a:spcBef>
                <a:spcPts val="600"/>
              </a:spcBef>
              <a:spcAft>
                <a:spcPts val="0"/>
              </a:spcAft>
              <a:buClr>
                <a:srgbClr val="000000"/>
              </a:buClr>
              <a:buSzPts val="900"/>
              <a:buFont typeface="Arial"/>
              <a:buChar char="•"/>
            </a:pPr>
            <a:r>
              <a:rPr lang="en-GB" sz="900">
                <a:solidFill>
                  <a:srgbClr val="000000"/>
                </a:solidFill>
                <a:latin typeface="Open Sans"/>
                <a:ea typeface="Open Sans"/>
                <a:cs typeface="Open Sans"/>
                <a:sym typeface="Open Sans"/>
              </a:rPr>
              <a:t>Undertaking and directing on dashboard development and delivering marketing and training sessions and artefacts to upskill the business in Qlik Sense</a:t>
            </a:r>
            <a:endParaRPr sz="90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None/>
            </a:pPr>
            <a:endParaRPr sz="900">
              <a:solidFill>
                <a:srgbClr val="000000"/>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900"/>
              <a:buNone/>
            </a:pPr>
            <a:endParaRPr sz="900">
              <a:solidFill>
                <a:srgbClr val="000000"/>
              </a:solidFill>
              <a:latin typeface="Arial"/>
              <a:ea typeface="Arial"/>
              <a:cs typeface="Arial"/>
              <a:sym typeface="Arial"/>
            </a:endParaRPr>
          </a:p>
        </p:txBody>
      </p:sp>
      <p:sp>
        <p:nvSpPr>
          <p:cNvPr id="138" name="Google Shape;138;g3aa6806b005_0_0">
            <a:extLst>
              <a:ext uri="{FF2B5EF4-FFF2-40B4-BE49-F238E27FC236}">
                <a16:creationId xmlns:a16="http://schemas.microsoft.com/office/drawing/2014/main" id="{84FE2232-0367-82FF-A133-68805F6FD148}"/>
              </a:ext>
            </a:extLst>
          </p:cNvPr>
          <p:cNvSpPr txBox="1"/>
          <p:nvPr/>
        </p:nvSpPr>
        <p:spPr>
          <a:xfrm>
            <a:off x="10508974" y="6467061"/>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39" name="Google Shape;139;g3aa6806b005_0_0">
            <a:extLst>
              <a:ext uri="{FF2B5EF4-FFF2-40B4-BE49-F238E27FC236}">
                <a16:creationId xmlns:a16="http://schemas.microsoft.com/office/drawing/2014/main" id="{7B1DB93C-DB38-422C-7270-6D8E091C99B9}"/>
              </a:ext>
            </a:extLst>
          </p:cNvPr>
          <p:cNvCxnSpPr/>
          <p:nvPr/>
        </p:nvCxnSpPr>
        <p:spPr>
          <a:xfrm>
            <a:off x="415639" y="3187378"/>
            <a:ext cx="2043000" cy="0"/>
          </a:xfrm>
          <a:prstGeom prst="straightConnector1">
            <a:avLst/>
          </a:prstGeom>
          <a:noFill/>
          <a:ln w="12700" cap="flat" cmpd="sng">
            <a:solidFill>
              <a:schemeClr val="lt1">
                <a:alpha val="49800"/>
              </a:schemeClr>
            </a:solidFill>
            <a:prstDash val="solid"/>
            <a:miter lim="800000"/>
            <a:headEnd type="none" w="sm" len="sm"/>
            <a:tailEnd type="none" w="sm" len="sm"/>
          </a:ln>
        </p:spPr>
      </p:cxnSp>
      <p:pic>
        <p:nvPicPr>
          <p:cNvPr id="140" name="Google Shape;140;g3aa6806b005_0_0">
            <a:extLst>
              <a:ext uri="{FF2B5EF4-FFF2-40B4-BE49-F238E27FC236}">
                <a16:creationId xmlns:a16="http://schemas.microsoft.com/office/drawing/2014/main" id="{33D58B19-8356-C418-DCAE-B2872AB07590}"/>
              </a:ext>
            </a:extLst>
          </p:cNvPr>
          <p:cNvPicPr preferRelativeResize="0"/>
          <p:nvPr/>
        </p:nvPicPr>
        <p:blipFill rotWithShape="1">
          <a:blip r:embed="rId4">
            <a:alphaModFix/>
          </a:blip>
          <a:srcRect t="6491" b="6491"/>
          <a:stretch/>
        </p:blipFill>
        <p:spPr>
          <a:xfrm>
            <a:off x="308781" y="279563"/>
            <a:ext cx="1831800" cy="1831800"/>
          </a:xfrm>
          <a:prstGeom prst="flowChartConnector">
            <a:avLst/>
          </a:prstGeom>
          <a:noFill/>
          <a:ln>
            <a:noFill/>
          </a:ln>
        </p:spPr>
      </p:pic>
      <p:cxnSp>
        <p:nvCxnSpPr>
          <p:cNvPr id="141" name="Google Shape;141;g3aa6806b005_0_0">
            <a:extLst>
              <a:ext uri="{FF2B5EF4-FFF2-40B4-BE49-F238E27FC236}">
                <a16:creationId xmlns:a16="http://schemas.microsoft.com/office/drawing/2014/main" id="{FD6AA594-5701-D62E-FDDE-F1B1AE06D2C3}"/>
              </a:ext>
            </a:extLst>
          </p:cNvPr>
          <p:cNvCxnSpPr>
            <a:stCxn id="142" idx="4"/>
          </p:cNvCxnSpPr>
          <p:nvPr/>
        </p:nvCxnSpPr>
        <p:spPr>
          <a:xfrm>
            <a:off x="3014098" y="1318168"/>
            <a:ext cx="0" cy="4194600"/>
          </a:xfrm>
          <a:prstGeom prst="straightConnector1">
            <a:avLst/>
          </a:prstGeom>
          <a:noFill/>
          <a:ln w="57150" cap="flat" cmpd="sng">
            <a:solidFill>
              <a:srgbClr val="002060"/>
            </a:solidFill>
            <a:prstDash val="solid"/>
            <a:miter lim="800000"/>
            <a:headEnd type="none" w="sm" len="sm"/>
            <a:tailEnd type="none" w="sm" len="sm"/>
          </a:ln>
        </p:spPr>
      </p:cxnSp>
      <p:sp>
        <p:nvSpPr>
          <p:cNvPr id="142" name="Google Shape;142;g3aa6806b005_0_0">
            <a:extLst>
              <a:ext uri="{FF2B5EF4-FFF2-40B4-BE49-F238E27FC236}">
                <a16:creationId xmlns:a16="http://schemas.microsoft.com/office/drawing/2014/main" id="{9AF59BF4-D35F-2AF2-C1B9-23B3A1902191}"/>
              </a:ext>
            </a:extLst>
          </p:cNvPr>
          <p:cNvSpPr/>
          <p:nvPr/>
        </p:nvSpPr>
        <p:spPr>
          <a:xfrm>
            <a:off x="2933398" y="1156768"/>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3" name="Google Shape;143;g3aa6806b005_0_0">
            <a:extLst>
              <a:ext uri="{FF2B5EF4-FFF2-40B4-BE49-F238E27FC236}">
                <a16:creationId xmlns:a16="http://schemas.microsoft.com/office/drawing/2014/main" id="{8DFFC50E-FB08-EA8D-578B-527FAB770D36}"/>
              </a:ext>
            </a:extLst>
          </p:cNvPr>
          <p:cNvSpPr/>
          <p:nvPr/>
        </p:nvSpPr>
        <p:spPr>
          <a:xfrm>
            <a:off x="2940249" y="2052762"/>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4" name="Google Shape;144;g3aa6806b005_0_0">
            <a:extLst>
              <a:ext uri="{FF2B5EF4-FFF2-40B4-BE49-F238E27FC236}">
                <a16:creationId xmlns:a16="http://schemas.microsoft.com/office/drawing/2014/main" id="{04F9F0BA-F336-8F65-FEBF-6D38658A5A08}"/>
              </a:ext>
            </a:extLst>
          </p:cNvPr>
          <p:cNvSpPr/>
          <p:nvPr/>
        </p:nvSpPr>
        <p:spPr>
          <a:xfrm>
            <a:off x="2933398" y="4673665"/>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5" name="Google Shape;145;g3aa6806b005_0_0">
            <a:extLst>
              <a:ext uri="{FF2B5EF4-FFF2-40B4-BE49-F238E27FC236}">
                <a16:creationId xmlns:a16="http://schemas.microsoft.com/office/drawing/2014/main" id="{6CE1A647-6C91-900A-1108-8D8AAAE265B7}"/>
              </a:ext>
            </a:extLst>
          </p:cNvPr>
          <p:cNvSpPr/>
          <p:nvPr/>
        </p:nvSpPr>
        <p:spPr>
          <a:xfrm>
            <a:off x="2931112" y="2712804"/>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6" name="Google Shape;146;g3aa6806b005_0_0">
            <a:extLst>
              <a:ext uri="{FF2B5EF4-FFF2-40B4-BE49-F238E27FC236}">
                <a16:creationId xmlns:a16="http://schemas.microsoft.com/office/drawing/2014/main" id="{F4D55290-F2E6-B7B4-BA73-38B5CDA92661}"/>
              </a:ext>
            </a:extLst>
          </p:cNvPr>
          <p:cNvSpPr/>
          <p:nvPr/>
        </p:nvSpPr>
        <p:spPr>
          <a:xfrm>
            <a:off x="2931112" y="3276593"/>
            <a:ext cx="161400" cy="161400"/>
          </a:xfrm>
          <a:prstGeom prst="ellipse">
            <a:avLst/>
          </a:prstGeom>
          <a:solidFill>
            <a:schemeClr val="lt1"/>
          </a:solidFill>
          <a:ln w="571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147" name="Google Shape;147;g3aa6806b005_0_0">
            <a:extLst>
              <a:ext uri="{FF2B5EF4-FFF2-40B4-BE49-F238E27FC236}">
                <a16:creationId xmlns:a16="http://schemas.microsoft.com/office/drawing/2014/main" id="{D687142F-CF34-DA9C-CAA4-8F8D8C2ABB8B}"/>
              </a:ext>
            </a:extLst>
          </p:cNvPr>
          <p:cNvCxnSpPr/>
          <p:nvPr/>
        </p:nvCxnSpPr>
        <p:spPr>
          <a:xfrm rot="10800000">
            <a:off x="10204604" y="1054000"/>
            <a:ext cx="0" cy="5245200"/>
          </a:xfrm>
          <a:prstGeom prst="straightConnector1">
            <a:avLst/>
          </a:prstGeom>
          <a:noFill/>
          <a:ln w="9525" cap="flat" cmpd="sng">
            <a:solidFill>
              <a:srgbClr val="002060">
                <a:alpha val="80000"/>
              </a:srgbClr>
            </a:solidFill>
            <a:prstDash val="dot"/>
            <a:miter lim="800000"/>
            <a:headEnd type="none" w="sm" len="sm"/>
            <a:tailEnd type="none" w="sm" len="sm"/>
          </a:ln>
        </p:spPr>
      </p:cxnSp>
      <p:sp>
        <p:nvSpPr>
          <p:cNvPr id="148" name="Google Shape;148;g3aa6806b005_0_0">
            <a:extLst>
              <a:ext uri="{FF2B5EF4-FFF2-40B4-BE49-F238E27FC236}">
                <a16:creationId xmlns:a16="http://schemas.microsoft.com/office/drawing/2014/main" id="{00F40025-99E1-96E8-71CE-84A9F0E6B889}"/>
              </a:ext>
            </a:extLst>
          </p:cNvPr>
          <p:cNvSpPr txBox="1"/>
          <p:nvPr/>
        </p:nvSpPr>
        <p:spPr>
          <a:xfrm>
            <a:off x="3162950" y="5513300"/>
            <a:ext cx="7041600" cy="1150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600"/>
              </a:spcBef>
              <a:spcAft>
                <a:spcPts val="0"/>
              </a:spcAft>
              <a:buClr>
                <a:schemeClr val="dk1"/>
              </a:buClr>
              <a:buSzPts val="1100"/>
              <a:buFont typeface="Arial"/>
              <a:buNone/>
            </a:pPr>
            <a:r>
              <a:rPr lang="en-GB" b="1" dirty="0">
                <a:solidFill>
                  <a:srgbClr val="002060"/>
                </a:solidFill>
                <a:latin typeface="Open Sans"/>
                <a:ea typeface="Open Sans"/>
                <a:cs typeface="Open Sans"/>
                <a:sym typeface="Open Sans"/>
              </a:rPr>
              <a:t>MyBigClub.com - Founder</a:t>
            </a:r>
            <a:r>
              <a:rPr lang="en-GB" sz="900" dirty="0">
                <a:solidFill>
                  <a:schemeClr val="dk1"/>
                </a:solidFill>
                <a:latin typeface="Open Sans"/>
                <a:ea typeface="Open Sans"/>
                <a:cs typeface="Open Sans"/>
                <a:sym typeface="Open Sans"/>
              </a:rPr>
              <a:t> </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u="sng" dirty="0">
                <a:solidFill>
                  <a:schemeClr val="hlink"/>
                </a:solidFill>
                <a:latin typeface="Open Sans"/>
                <a:ea typeface="Open Sans"/>
                <a:cs typeface="Open Sans"/>
                <a:sym typeface="Open Sans"/>
                <a:hlinkClick r:id="rId5"/>
              </a:rPr>
              <a:t>MyBigClub.com</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dirty="0">
                <a:solidFill>
                  <a:schemeClr val="dk1"/>
                </a:solidFill>
                <a:latin typeface="Open Sans"/>
                <a:ea typeface="Open Sans"/>
                <a:cs typeface="Open Sans"/>
                <a:sym typeface="Open Sans"/>
              </a:rPr>
              <a:t> • In addition to my established career I have recently led the creation of a website the compares football clubs</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dirty="0">
                <a:solidFill>
                  <a:schemeClr val="dk1"/>
                </a:solidFill>
                <a:latin typeface="Open Sans"/>
                <a:ea typeface="Open Sans"/>
                <a:cs typeface="Open Sans"/>
                <a:sym typeface="Open Sans"/>
              </a:rPr>
              <a:t> • The website aims to answer the much debated question of which club is the biggest, currently focussing on English football</a:t>
            </a:r>
            <a:endParaRPr sz="900" dirty="0">
              <a:solidFill>
                <a:schemeClr val="dk1"/>
              </a:solidFill>
              <a:latin typeface="Open Sans"/>
              <a:ea typeface="Open Sans"/>
              <a:cs typeface="Open Sans"/>
              <a:sym typeface="Open Sans"/>
            </a:endParaRPr>
          </a:p>
          <a:p>
            <a:pPr marL="0" lvl="0" indent="0" algn="l" rtl="0">
              <a:lnSpc>
                <a:spcPct val="90000"/>
              </a:lnSpc>
              <a:spcBef>
                <a:spcPts val="600"/>
              </a:spcBef>
              <a:spcAft>
                <a:spcPts val="0"/>
              </a:spcAft>
              <a:buClr>
                <a:schemeClr val="dk1"/>
              </a:buClr>
              <a:buSzPts val="1100"/>
              <a:buFont typeface="Arial"/>
              <a:buNone/>
            </a:pPr>
            <a:r>
              <a:rPr lang="en-GB" sz="900" dirty="0">
                <a:solidFill>
                  <a:schemeClr val="dk1"/>
                </a:solidFill>
                <a:latin typeface="Open Sans"/>
                <a:ea typeface="Open Sans"/>
                <a:cs typeface="Open Sans"/>
                <a:sym typeface="Open Sans"/>
              </a:rPr>
              <a:t> • The objective of the website is to engage users globally to the scale that advertisers and investors will seek to attach themselves to the site</a:t>
            </a:r>
            <a:endParaRPr sz="2800" dirty="0">
              <a:solidFill>
                <a:schemeClr val="dk1"/>
              </a:solidFill>
            </a:endParaRPr>
          </a:p>
        </p:txBody>
      </p:sp>
      <p:pic>
        <p:nvPicPr>
          <p:cNvPr id="149" name="Google Shape;149;g3aa6806b005_0_0">
            <a:extLst>
              <a:ext uri="{FF2B5EF4-FFF2-40B4-BE49-F238E27FC236}">
                <a16:creationId xmlns:a16="http://schemas.microsoft.com/office/drawing/2014/main" id="{5C1A07E2-934C-A540-3D94-248149B36FE1}"/>
              </a:ext>
            </a:extLst>
          </p:cNvPr>
          <p:cNvPicPr preferRelativeResize="0"/>
          <p:nvPr/>
        </p:nvPicPr>
        <p:blipFill>
          <a:blip r:embed="rId6">
            <a:alphaModFix/>
          </a:blip>
          <a:stretch>
            <a:fillRect/>
          </a:stretch>
        </p:blipFill>
        <p:spPr>
          <a:xfrm>
            <a:off x="2890925" y="5540275"/>
            <a:ext cx="395024" cy="331051"/>
          </a:xfrm>
          <a:prstGeom prst="rect">
            <a:avLst/>
          </a:prstGeom>
          <a:noFill/>
          <a:ln>
            <a:noFill/>
          </a:ln>
        </p:spPr>
      </p:pic>
      <p:cxnSp>
        <p:nvCxnSpPr>
          <p:cNvPr id="150" name="Google Shape;150;g3aa6806b005_0_0">
            <a:extLst>
              <a:ext uri="{FF2B5EF4-FFF2-40B4-BE49-F238E27FC236}">
                <a16:creationId xmlns:a16="http://schemas.microsoft.com/office/drawing/2014/main" id="{3487A96B-D604-84ED-F164-85A36D530BB7}"/>
              </a:ext>
            </a:extLst>
          </p:cNvPr>
          <p:cNvCxnSpPr/>
          <p:nvPr/>
        </p:nvCxnSpPr>
        <p:spPr>
          <a:xfrm>
            <a:off x="3642525" y="5574960"/>
            <a:ext cx="6165900" cy="0"/>
          </a:xfrm>
          <a:prstGeom prst="straightConnector1">
            <a:avLst/>
          </a:prstGeom>
          <a:noFill/>
          <a:ln w="12700" cap="flat" cmpd="sng">
            <a:solidFill>
              <a:srgbClr val="002060">
                <a:alpha val="49800"/>
              </a:srgbClr>
            </a:solidFill>
            <a:prstDash val="solid"/>
            <a:round/>
            <a:headEnd type="none" w="sm" len="sm"/>
            <a:tailEnd type="none" w="sm" len="sm"/>
          </a:ln>
        </p:spPr>
      </p:cxnSp>
    </p:spTree>
    <p:extLst>
      <p:ext uri="{BB962C8B-B14F-4D97-AF65-F5344CB8AC3E}">
        <p14:creationId xmlns:p14="http://schemas.microsoft.com/office/powerpoint/2010/main" val="313837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p:nvPr/>
        </p:nvSpPr>
        <p:spPr>
          <a:xfrm>
            <a:off x="0" y="0"/>
            <a:ext cx="12192000" cy="6858000"/>
          </a:xfrm>
          <a:prstGeom prst="rect">
            <a:avLst/>
          </a:prstGeom>
          <a:gradFill>
            <a:gsLst>
              <a:gs pos="0">
                <a:srgbClr val="EFF7FC"/>
              </a:gs>
              <a:gs pos="8000">
                <a:srgbClr val="EFF7FC"/>
              </a:gs>
              <a:gs pos="89000">
                <a:srgbClr val="002060">
                  <a:alpha val="0"/>
                </a:srgbClr>
              </a:gs>
              <a:gs pos="100000">
                <a:srgbClr val="002060">
                  <a:alpha val="0"/>
                </a:srgbClr>
              </a:gs>
            </a:gsLst>
            <a:path path="circle">
              <a:fillToRect l="50000" t="50000" r="50000" b="50000"/>
            </a:path>
            <a:tileRect/>
          </a:gradFill>
          <a:ln w="14300" cap="flat" cmpd="sng">
            <a:solidFill>
              <a:schemeClr val="accent3">
                <a:alpha val="5880"/>
              </a:schemeClr>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62" name="Google Shape;62;p14"/>
          <p:cNvSpPr/>
          <p:nvPr/>
        </p:nvSpPr>
        <p:spPr>
          <a:xfrm>
            <a:off x="-9237" y="1"/>
            <a:ext cx="2880000" cy="6858000"/>
          </a:xfrm>
          <a:prstGeom prst="rect">
            <a:avLst/>
          </a:prstGeom>
          <a:solidFill>
            <a:srgbClr val="002060"/>
          </a:solidFill>
          <a:ln w="14300" cap="flat" cmpd="sng">
            <a:solidFill>
              <a:srgbClr val="082836"/>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63" name="Google Shape;63;p14"/>
          <p:cNvSpPr txBox="1"/>
          <p:nvPr/>
        </p:nvSpPr>
        <p:spPr>
          <a:xfrm>
            <a:off x="2933400" y="67467"/>
            <a:ext cx="7329600" cy="744000"/>
          </a:xfrm>
          <a:prstGeom prst="rect">
            <a:avLst/>
          </a:prstGeom>
          <a:noFill/>
          <a:ln>
            <a:noFill/>
          </a:ln>
        </p:spPr>
        <p:txBody>
          <a:bodyPr spcFirstLastPara="1" wrap="square" lIns="91433" tIns="45700" rIns="91433" bIns="45700" anchor="t" anchorCtr="0">
            <a:noAutofit/>
          </a:bodyPr>
          <a:lstStyle/>
          <a:p>
            <a:pPr>
              <a:lnSpc>
                <a:spcPct val="80000"/>
              </a:lnSpc>
              <a:buClr>
                <a:srgbClr val="002060"/>
              </a:buClr>
              <a:buSzPts val="2400"/>
            </a:pPr>
            <a:r>
              <a:rPr lang="en-GB" sz="3200" b="1">
                <a:solidFill>
                  <a:srgbClr val="002060"/>
                </a:solidFill>
                <a:latin typeface="Arial Black"/>
                <a:ea typeface="Arial Black"/>
                <a:cs typeface="Arial Black"/>
                <a:sym typeface="Arial Black"/>
              </a:rPr>
              <a:t>Tom Morgan </a:t>
            </a:r>
            <a:endParaRPr sz="1467"/>
          </a:p>
          <a:p>
            <a:pPr>
              <a:lnSpc>
                <a:spcPct val="80000"/>
              </a:lnSpc>
              <a:buClr>
                <a:srgbClr val="002060"/>
              </a:buClr>
              <a:buSzPts val="1100"/>
            </a:pPr>
            <a:r>
              <a:rPr lang="en-GB" sz="1467">
                <a:solidFill>
                  <a:srgbClr val="002060"/>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t.morgan17@hotmail.co.uk</a:t>
            </a:r>
            <a:endParaRPr sz="1467">
              <a:solidFill>
                <a:srgbClr val="002060"/>
              </a:solidFill>
              <a:latin typeface="Arial"/>
              <a:ea typeface="Arial"/>
              <a:cs typeface="Arial"/>
              <a:sym typeface="Arial"/>
            </a:endParaRPr>
          </a:p>
          <a:p>
            <a:pPr>
              <a:lnSpc>
                <a:spcPct val="80000"/>
              </a:lnSpc>
              <a:buClr>
                <a:schemeClr val="accent1"/>
              </a:buClr>
              <a:buSzPts val="2400"/>
            </a:pPr>
            <a:endParaRPr sz="3200" b="1">
              <a:solidFill>
                <a:srgbClr val="002060"/>
              </a:solidFill>
              <a:latin typeface="Arial Black"/>
              <a:ea typeface="Arial Black"/>
              <a:cs typeface="Arial Black"/>
              <a:sym typeface="Arial Black"/>
            </a:endParaRPr>
          </a:p>
        </p:txBody>
      </p:sp>
      <p:sp>
        <p:nvSpPr>
          <p:cNvPr id="64" name="Google Shape;64;p14"/>
          <p:cNvSpPr txBox="1">
            <a:spLocks noGrp="1"/>
          </p:cNvSpPr>
          <p:nvPr>
            <p:ph type="body" idx="1"/>
          </p:nvPr>
        </p:nvSpPr>
        <p:spPr>
          <a:xfrm>
            <a:off x="166581" y="2362203"/>
            <a:ext cx="2683200" cy="3813200"/>
          </a:xfrm>
          <a:prstGeom prst="rect">
            <a:avLst/>
          </a:prstGeom>
          <a:noFill/>
          <a:ln>
            <a:noFill/>
          </a:ln>
        </p:spPr>
        <p:txBody>
          <a:bodyPr spcFirstLastPara="1" vert="horz" wrap="square" lIns="0" tIns="0" rIns="0" bIns="0" rtlCol="0" anchor="t" anchorCtr="0">
            <a:noAutofit/>
          </a:bodyPr>
          <a:lstStyle/>
          <a:p>
            <a:pPr marL="0" indent="0" algn="ctr">
              <a:lnSpc>
                <a:spcPct val="80000"/>
              </a:lnSpc>
              <a:buClr>
                <a:schemeClr val="lt1"/>
              </a:buClr>
              <a:buSzPts val="700"/>
            </a:pPr>
            <a:r>
              <a:rPr lang="en-GB" sz="933" b="1">
                <a:solidFill>
                  <a:schemeClr val="lt1"/>
                </a:solidFill>
                <a:latin typeface="Open Sans"/>
                <a:ea typeface="Open Sans"/>
                <a:cs typeface="Open Sans"/>
                <a:sym typeface="Open Sans"/>
              </a:rPr>
              <a:t>Professional Background</a:t>
            </a:r>
            <a:endParaRPr/>
          </a:p>
          <a:p>
            <a:pPr marL="0" indent="0" algn="ctr">
              <a:spcBef>
                <a:spcPts val="1067"/>
              </a:spcBef>
              <a:buClr>
                <a:schemeClr val="lt1"/>
              </a:buClr>
              <a:buSzPts val="700"/>
            </a:pPr>
            <a:r>
              <a:rPr lang="en-GB" sz="933" b="1">
                <a:solidFill>
                  <a:schemeClr val="lt1"/>
                </a:solidFill>
                <a:latin typeface="Open Sans"/>
                <a:ea typeface="Open Sans"/>
                <a:cs typeface="Open Sans"/>
                <a:sym typeface="Open Sans"/>
              </a:rPr>
              <a:t>A data solutions and development professional with 9+ years’ experience, passionate about visualisation and AI to facilitate and accelerate data driven decision making.</a:t>
            </a:r>
            <a:endParaRPr/>
          </a:p>
          <a:p>
            <a:pPr marL="0" indent="0" algn="ctr">
              <a:spcBef>
                <a:spcPts val="1200"/>
              </a:spcBef>
              <a:buClr>
                <a:schemeClr val="lt1"/>
              </a:buClr>
              <a:buSzPts val="700"/>
            </a:pPr>
            <a:r>
              <a:rPr lang="en-GB" sz="933">
                <a:solidFill>
                  <a:schemeClr val="lt1"/>
                </a:solidFill>
                <a:latin typeface="Open Sans"/>
                <a:ea typeface="Open Sans"/>
                <a:cs typeface="Open Sans"/>
                <a:sym typeface="Open Sans"/>
              </a:rPr>
              <a:t>I have extensive experience in scoping, designing, directing, developing and demonstrating dashboard creation across various tools. I also have experience in I have directed development of Gen AI solutions.</a:t>
            </a:r>
            <a:endParaRPr sz="933">
              <a:solidFill>
                <a:schemeClr val="lt1"/>
              </a:solidFill>
              <a:latin typeface="Open Sans"/>
              <a:ea typeface="Open Sans"/>
              <a:cs typeface="Open Sans"/>
              <a:sym typeface="Open Sans"/>
            </a:endParaRPr>
          </a:p>
          <a:p>
            <a:pPr marL="0" indent="0" algn="ctr">
              <a:spcBef>
                <a:spcPts val="1600"/>
              </a:spcBef>
              <a:buClr>
                <a:schemeClr val="lt1"/>
              </a:buClr>
              <a:buSzPts val="700"/>
            </a:pPr>
            <a:r>
              <a:rPr lang="en-GB" sz="933">
                <a:solidFill>
                  <a:schemeClr val="lt1"/>
                </a:solidFill>
                <a:latin typeface="Open Sans"/>
                <a:ea typeface="Open Sans"/>
                <a:cs typeface="Open Sans"/>
                <a:sym typeface="Open Sans"/>
              </a:rPr>
              <a:t>In addition to my technical knowledge, I can both engage with key stakeholders to understand the desired outcome, and manage other developers to achieve this. Examples of this include creating data quality tools, advanced prototypes and Gen AI data extraction capabilities.</a:t>
            </a:r>
            <a:endParaRPr/>
          </a:p>
          <a:p>
            <a:pPr marL="0" indent="0">
              <a:spcBef>
                <a:spcPts val="1600"/>
              </a:spcBef>
              <a:buClr>
                <a:schemeClr val="lt1"/>
              </a:buClr>
              <a:buSzPts val="700"/>
            </a:pPr>
            <a:endParaRPr sz="667">
              <a:solidFill>
                <a:schemeClr val="lt1"/>
              </a:solidFill>
            </a:endParaRPr>
          </a:p>
        </p:txBody>
      </p:sp>
      <p:sp>
        <p:nvSpPr>
          <p:cNvPr id="65" name="Google Shape;65;p14"/>
          <p:cNvSpPr txBox="1">
            <a:spLocks noGrp="1"/>
          </p:cNvSpPr>
          <p:nvPr>
            <p:ph type="body" idx="2"/>
          </p:nvPr>
        </p:nvSpPr>
        <p:spPr>
          <a:xfrm>
            <a:off x="10272032" y="731519"/>
            <a:ext cx="1844800" cy="5983200"/>
          </a:xfrm>
          <a:prstGeom prst="rect">
            <a:avLst/>
          </a:prstGeom>
          <a:solidFill>
            <a:schemeClr val="lt1">
              <a:alpha val="0"/>
            </a:schemeClr>
          </a:solidFill>
          <a:ln>
            <a:noFill/>
          </a:ln>
        </p:spPr>
        <p:txBody>
          <a:bodyPr spcFirstLastPara="1" vert="horz" wrap="square" lIns="0" tIns="0" rIns="0" bIns="0" rtlCol="0" anchor="t" anchorCtr="0">
            <a:normAutofit/>
          </a:bodyPr>
          <a:lstStyle/>
          <a:p>
            <a:pPr marL="0" indent="0" algn="ctr">
              <a:buClr>
                <a:srgbClr val="002060"/>
              </a:buClr>
              <a:buSzPts val="900"/>
            </a:pPr>
            <a:r>
              <a:rPr lang="en-GB" sz="1200" b="1">
                <a:solidFill>
                  <a:srgbClr val="002060"/>
                </a:solidFill>
                <a:latin typeface="Open Sans"/>
                <a:ea typeface="Open Sans"/>
                <a:cs typeface="Open Sans"/>
                <a:sym typeface="Open Sans"/>
              </a:rPr>
              <a:t>Functional Skills</a:t>
            </a:r>
            <a:endParaRPr/>
          </a:p>
          <a:p>
            <a:pPr marL="101597" indent="-50799" algn="ctr">
              <a:spcBef>
                <a:spcPts val="267"/>
              </a:spcBef>
              <a:buSzPts val="600"/>
            </a:pPr>
            <a:endParaRPr>
              <a:latin typeface="Open Sans"/>
              <a:ea typeface="Open Sans"/>
              <a:cs typeface="Open Sans"/>
              <a:sym typeface="Open Sans"/>
            </a:endParaRPr>
          </a:p>
          <a:p>
            <a:pPr marL="0" indent="0" algn="ctr">
              <a:spcBef>
                <a:spcPts val="267"/>
              </a:spcBef>
              <a:buSzPts val="500"/>
            </a:pPr>
            <a:r>
              <a:rPr lang="en-GB" sz="933">
                <a:latin typeface="Open Sans"/>
                <a:ea typeface="Open Sans"/>
                <a:cs typeface="Open Sans"/>
                <a:sym typeface="Open Sans"/>
              </a:rPr>
              <a:t>Data Visualisation</a:t>
            </a:r>
            <a:endParaRPr/>
          </a:p>
          <a:p>
            <a:pPr marL="0" indent="0" algn="ctr">
              <a:spcBef>
                <a:spcPts val="267"/>
              </a:spcBef>
              <a:buSzPts val="500"/>
            </a:pPr>
            <a:r>
              <a:rPr lang="en-GB" sz="933">
                <a:latin typeface="Open Sans"/>
                <a:ea typeface="Open Sans"/>
                <a:cs typeface="Open Sans"/>
                <a:sym typeface="Open Sans"/>
              </a:rPr>
              <a:t>Data Analytics</a:t>
            </a:r>
            <a:endParaRPr/>
          </a:p>
          <a:p>
            <a:pPr marL="0" indent="0" algn="ctr">
              <a:spcBef>
                <a:spcPts val="267"/>
              </a:spcBef>
              <a:buSzPts val="500"/>
            </a:pPr>
            <a:r>
              <a:rPr lang="en-GB" sz="933">
                <a:latin typeface="Open Sans"/>
                <a:ea typeface="Open Sans"/>
                <a:cs typeface="Open Sans"/>
                <a:sym typeface="Open Sans"/>
              </a:rPr>
              <a:t>Stakeholder Management</a:t>
            </a:r>
            <a:endParaRPr/>
          </a:p>
          <a:p>
            <a:pPr marL="0" indent="0" algn="ctr">
              <a:spcBef>
                <a:spcPts val="267"/>
              </a:spcBef>
              <a:buSzPts val="500"/>
            </a:pPr>
            <a:r>
              <a:rPr lang="en-GB" sz="933">
                <a:latin typeface="Open Sans"/>
                <a:ea typeface="Open Sans"/>
                <a:cs typeface="Open Sans"/>
                <a:sym typeface="Open Sans"/>
              </a:rPr>
              <a:t>Information Design</a:t>
            </a:r>
            <a:endParaRPr/>
          </a:p>
          <a:p>
            <a:pPr marL="0" indent="0" algn="ctr">
              <a:spcBef>
                <a:spcPts val="267"/>
              </a:spcBef>
              <a:buSzPts val="500"/>
            </a:pPr>
            <a:r>
              <a:rPr lang="en-GB" sz="933">
                <a:latin typeface="Open Sans"/>
                <a:ea typeface="Open Sans"/>
                <a:cs typeface="Open Sans"/>
                <a:sym typeface="Open Sans"/>
              </a:rPr>
              <a:t>Technical Leading</a:t>
            </a:r>
            <a:endParaRPr/>
          </a:p>
          <a:p>
            <a:pPr marL="0" indent="0" algn="ctr">
              <a:spcBef>
                <a:spcPts val="267"/>
              </a:spcBef>
              <a:buSzPts val="500"/>
            </a:pPr>
            <a:r>
              <a:rPr lang="en-GB" sz="933">
                <a:latin typeface="Open Sans"/>
                <a:ea typeface="Open Sans"/>
                <a:cs typeface="Open Sans"/>
                <a:sym typeface="Open Sans"/>
              </a:rPr>
              <a:t>Generative AI</a:t>
            </a:r>
            <a:endParaRPr/>
          </a:p>
          <a:p>
            <a:pPr marL="0" indent="0" algn="ctr">
              <a:spcBef>
                <a:spcPts val="267"/>
              </a:spcBef>
              <a:buSzPts val="600"/>
            </a:pPr>
            <a:endParaRPr>
              <a:latin typeface="Open Sans"/>
              <a:ea typeface="Open Sans"/>
              <a:cs typeface="Open Sans"/>
              <a:sym typeface="Open Sans"/>
            </a:endParaRPr>
          </a:p>
          <a:p>
            <a:pPr marL="0" indent="0" algn="ctr">
              <a:spcBef>
                <a:spcPts val="267"/>
              </a:spcBef>
              <a:buClr>
                <a:srgbClr val="002060"/>
              </a:buClr>
              <a:buSzPts val="900"/>
            </a:pPr>
            <a:r>
              <a:rPr lang="en-GB" sz="1200" b="1">
                <a:solidFill>
                  <a:srgbClr val="002060"/>
                </a:solidFill>
                <a:latin typeface="Open Sans"/>
                <a:ea typeface="Open Sans"/>
                <a:cs typeface="Open Sans"/>
                <a:sym typeface="Open Sans"/>
              </a:rPr>
              <a:t>Technical Skills</a:t>
            </a:r>
            <a:endParaRPr/>
          </a:p>
          <a:p>
            <a:pPr marL="0" indent="0" algn="ctr">
              <a:spcBef>
                <a:spcPts val="267"/>
              </a:spcBef>
              <a:buSzPts val="900"/>
            </a:pPr>
            <a:endParaRPr sz="1200" b="1">
              <a:solidFill>
                <a:srgbClr val="A100FF"/>
              </a:solidFill>
              <a:latin typeface="Open Sans"/>
              <a:ea typeface="Open Sans"/>
              <a:cs typeface="Open Sans"/>
              <a:sym typeface="Open Sans"/>
            </a:endParaRPr>
          </a:p>
          <a:p>
            <a:pPr marL="0" indent="0" algn="ctr">
              <a:spcBef>
                <a:spcPts val="267"/>
              </a:spcBef>
              <a:buSzPts val="500"/>
            </a:pPr>
            <a:r>
              <a:rPr lang="en-GB" sz="933">
                <a:latin typeface="Open Sans"/>
                <a:ea typeface="Open Sans"/>
                <a:cs typeface="Open Sans"/>
                <a:sym typeface="Open Sans"/>
              </a:rPr>
              <a:t>Tableau</a:t>
            </a:r>
            <a:endParaRPr/>
          </a:p>
          <a:p>
            <a:pPr marL="0" indent="0" algn="ctr">
              <a:spcBef>
                <a:spcPts val="267"/>
              </a:spcBef>
              <a:buSzPts val="500"/>
            </a:pPr>
            <a:r>
              <a:rPr lang="en-GB" sz="933">
                <a:latin typeface="Open Sans"/>
                <a:ea typeface="Open Sans"/>
                <a:cs typeface="Open Sans"/>
                <a:sym typeface="Open Sans"/>
              </a:rPr>
              <a:t>Power BI</a:t>
            </a:r>
            <a:endParaRPr/>
          </a:p>
          <a:p>
            <a:pPr marL="0" indent="0" algn="ctr">
              <a:spcBef>
                <a:spcPts val="267"/>
              </a:spcBef>
              <a:buSzPts val="500"/>
            </a:pPr>
            <a:r>
              <a:rPr lang="en-GB" sz="933">
                <a:latin typeface="Open Sans"/>
                <a:ea typeface="Open Sans"/>
                <a:cs typeface="Open Sans"/>
                <a:sym typeface="Open Sans"/>
              </a:rPr>
              <a:t>Qlik Sense</a:t>
            </a:r>
            <a:endParaRPr/>
          </a:p>
          <a:p>
            <a:pPr marL="0" indent="0" algn="ctr">
              <a:spcBef>
                <a:spcPts val="267"/>
              </a:spcBef>
              <a:buSzPts val="500"/>
            </a:pPr>
            <a:r>
              <a:rPr lang="en-GB" sz="933">
                <a:latin typeface="Open Sans"/>
                <a:ea typeface="Open Sans"/>
                <a:cs typeface="Open Sans"/>
                <a:sym typeface="Open Sans"/>
              </a:rPr>
              <a:t>Workshop</a:t>
            </a:r>
            <a:endParaRPr/>
          </a:p>
          <a:p>
            <a:pPr marL="0" indent="0" algn="ctr">
              <a:spcBef>
                <a:spcPts val="267"/>
              </a:spcBef>
              <a:buSzPts val="500"/>
            </a:pPr>
            <a:r>
              <a:rPr lang="en-GB" sz="933">
                <a:latin typeface="Open Sans"/>
                <a:ea typeface="Open Sans"/>
                <a:cs typeface="Open Sans"/>
                <a:sym typeface="Open Sans"/>
              </a:rPr>
              <a:t>SQL</a:t>
            </a:r>
            <a:endParaRPr/>
          </a:p>
          <a:p>
            <a:pPr marL="0" indent="0" algn="ctr">
              <a:spcBef>
                <a:spcPts val="267"/>
              </a:spcBef>
              <a:buSzPts val="500"/>
            </a:pPr>
            <a:r>
              <a:rPr lang="en-GB" sz="933">
                <a:latin typeface="Open Sans"/>
                <a:ea typeface="Open Sans"/>
                <a:cs typeface="Open Sans"/>
                <a:sym typeface="Open Sans"/>
              </a:rPr>
              <a:t>Python</a:t>
            </a:r>
            <a:endParaRPr/>
          </a:p>
          <a:p>
            <a:pPr marL="0" indent="0" algn="ctr">
              <a:spcBef>
                <a:spcPts val="267"/>
              </a:spcBef>
              <a:buSzPts val="500"/>
            </a:pPr>
            <a:r>
              <a:rPr lang="en-GB" sz="933">
                <a:latin typeface="Open Sans"/>
                <a:ea typeface="Open Sans"/>
                <a:cs typeface="Open Sans"/>
                <a:sym typeface="Open Sans"/>
              </a:rPr>
              <a:t>HTML</a:t>
            </a:r>
            <a:endParaRPr/>
          </a:p>
          <a:p>
            <a:pPr marL="0" indent="0" algn="ctr">
              <a:spcBef>
                <a:spcPts val="267"/>
              </a:spcBef>
              <a:buSzPts val="900"/>
            </a:pPr>
            <a:endParaRPr sz="1200" b="1">
              <a:solidFill>
                <a:schemeClr val="accent1"/>
              </a:solidFill>
              <a:latin typeface="Open Sans"/>
              <a:ea typeface="Open Sans"/>
              <a:cs typeface="Open Sans"/>
              <a:sym typeface="Open Sans"/>
            </a:endParaRPr>
          </a:p>
          <a:p>
            <a:pPr marL="0" indent="0" algn="ctr">
              <a:spcBef>
                <a:spcPts val="267"/>
              </a:spcBef>
              <a:buClr>
                <a:srgbClr val="002060"/>
              </a:buClr>
              <a:buSzPts val="900"/>
            </a:pPr>
            <a:r>
              <a:rPr lang="en-GB" sz="1200" b="1">
                <a:solidFill>
                  <a:srgbClr val="002060"/>
                </a:solidFill>
                <a:latin typeface="Open Sans"/>
                <a:ea typeface="Open Sans"/>
                <a:cs typeface="Open Sans"/>
                <a:sym typeface="Open Sans"/>
              </a:rPr>
              <a:t>Industry Experience</a:t>
            </a:r>
            <a:endParaRPr/>
          </a:p>
          <a:p>
            <a:pPr marL="0" indent="0" algn="ctr">
              <a:spcBef>
                <a:spcPts val="267"/>
              </a:spcBef>
              <a:buSzPts val="500"/>
            </a:pPr>
            <a:endParaRPr sz="933">
              <a:latin typeface="Open Sans"/>
              <a:ea typeface="Open Sans"/>
              <a:cs typeface="Open Sans"/>
              <a:sym typeface="Open Sans"/>
            </a:endParaRPr>
          </a:p>
          <a:p>
            <a:pPr marL="0" indent="0" algn="ctr">
              <a:spcBef>
                <a:spcPts val="267"/>
              </a:spcBef>
              <a:buSzPts val="500"/>
            </a:pPr>
            <a:r>
              <a:rPr lang="en-GB" sz="933">
                <a:latin typeface="Open Sans"/>
                <a:ea typeface="Open Sans"/>
                <a:cs typeface="Open Sans"/>
                <a:sym typeface="Open Sans"/>
              </a:rPr>
              <a:t>Health</a:t>
            </a:r>
            <a:endParaRPr/>
          </a:p>
          <a:p>
            <a:pPr marL="0" indent="0" algn="ctr">
              <a:spcBef>
                <a:spcPts val="267"/>
              </a:spcBef>
              <a:buSzPts val="500"/>
            </a:pPr>
            <a:r>
              <a:rPr lang="en-GB" sz="933">
                <a:latin typeface="Open Sans"/>
                <a:ea typeface="Open Sans"/>
                <a:cs typeface="Open Sans"/>
                <a:sym typeface="Open Sans"/>
              </a:rPr>
              <a:t>Retail</a:t>
            </a:r>
            <a:endParaRPr/>
          </a:p>
          <a:p>
            <a:pPr marL="0" indent="0" algn="ctr">
              <a:spcBef>
                <a:spcPts val="267"/>
              </a:spcBef>
              <a:buSzPts val="500"/>
            </a:pPr>
            <a:r>
              <a:rPr lang="en-GB" sz="933">
                <a:latin typeface="Open Sans"/>
                <a:ea typeface="Open Sans"/>
                <a:cs typeface="Open Sans"/>
                <a:sym typeface="Open Sans"/>
              </a:rPr>
              <a:t>Financial Services</a:t>
            </a:r>
            <a:endParaRPr/>
          </a:p>
          <a:p>
            <a:pPr marL="0" indent="0" algn="ctr">
              <a:spcBef>
                <a:spcPts val="267"/>
              </a:spcBef>
              <a:buSzPts val="500"/>
            </a:pPr>
            <a:r>
              <a:rPr lang="en-GB" sz="933">
                <a:latin typeface="Open Sans"/>
                <a:ea typeface="Open Sans"/>
                <a:cs typeface="Open Sans"/>
                <a:sym typeface="Open Sans"/>
              </a:rPr>
              <a:t>Sustainability</a:t>
            </a:r>
            <a:endParaRPr/>
          </a:p>
          <a:p>
            <a:pPr marL="0" indent="0" algn="ctr">
              <a:spcBef>
                <a:spcPts val="267"/>
              </a:spcBef>
              <a:buSzPts val="500"/>
            </a:pPr>
            <a:r>
              <a:rPr lang="en-GB" sz="933">
                <a:latin typeface="Open Sans"/>
                <a:ea typeface="Open Sans"/>
                <a:cs typeface="Open Sans"/>
                <a:sym typeface="Open Sans"/>
              </a:rPr>
              <a:t>Energy</a:t>
            </a:r>
            <a:endParaRPr/>
          </a:p>
          <a:p>
            <a:pPr marL="0" indent="0" algn="ctr">
              <a:spcBef>
                <a:spcPts val="267"/>
              </a:spcBef>
              <a:buSzPts val="600"/>
            </a:pPr>
            <a:endParaRPr>
              <a:solidFill>
                <a:srgbClr val="000000"/>
              </a:solidFill>
              <a:latin typeface="Open Sans"/>
              <a:ea typeface="Open Sans"/>
              <a:cs typeface="Open Sans"/>
              <a:sym typeface="Open Sans"/>
            </a:endParaRPr>
          </a:p>
          <a:p>
            <a:pPr marL="0" indent="0" algn="ctr">
              <a:spcBef>
                <a:spcPts val="267"/>
              </a:spcBef>
              <a:buClr>
                <a:srgbClr val="002060"/>
              </a:buClr>
              <a:buSzPts val="900"/>
            </a:pPr>
            <a:r>
              <a:rPr lang="en-GB" sz="1200" b="1">
                <a:solidFill>
                  <a:srgbClr val="002060"/>
                </a:solidFill>
                <a:latin typeface="Open Sans"/>
                <a:ea typeface="Open Sans"/>
                <a:cs typeface="Open Sans"/>
                <a:sym typeface="Open Sans"/>
              </a:rPr>
              <a:t>Education</a:t>
            </a:r>
            <a:endParaRPr/>
          </a:p>
          <a:p>
            <a:pPr marL="0" indent="0" algn="ctr">
              <a:spcBef>
                <a:spcPts val="267"/>
              </a:spcBef>
              <a:buSzPts val="500"/>
            </a:pPr>
            <a:endParaRPr sz="933">
              <a:latin typeface="Open Sans"/>
              <a:ea typeface="Open Sans"/>
              <a:cs typeface="Open Sans"/>
              <a:sym typeface="Open Sans"/>
            </a:endParaRPr>
          </a:p>
          <a:p>
            <a:pPr marL="0" indent="0" algn="ctr">
              <a:spcBef>
                <a:spcPts val="267"/>
              </a:spcBef>
              <a:buSzPts val="500"/>
            </a:pPr>
            <a:r>
              <a:rPr lang="en-GB" sz="933">
                <a:latin typeface="Open Sans"/>
                <a:ea typeface="Open Sans"/>
                <a:cs typeface="Open Sans"/>
                <a:sym typeface="Open Sans"/>
              </a:rPr>
              <a:t>BSc Mathematics, Loughborough University</a:t>
            </a:r>
            <a:endParaRPr/>
          </a:p>
          <a:p>
            <a:pPr marL="0" indent="0" algn="ctr">
              <a:spcBef>
                <a:spcPts val="267"/>
              </a:spcBef>
              <a:buSzPts val="500"/>
            </a:pPr>
            <a:endParaRPr sz="933">
              <a:latin typeface="Open Sans"/>
              <a:ea typeface="Open Sans"/>
              <a:cs typeface="Open Sans"/>
              <a:sym typeface="Open Sans"/>
            </a:endParaRPr>
          </a:p>
          <a:p>
            <a:pPr marL="0" indent="0" algn="ctr">
              <a:spcBef>
                <a:spcPts val="267"/>
              </a:spcBef>
              <a:buSzPts val="500"/>
            </a:pPr>
            <a:r>
              <a:rPr lang="en-GB" sz="933">
                <a:latin typeface="Open Sans"/>
                <a:ea typeface="Open Sans"/>
                <a:cs typeface="Open Sans"/>
                <a:sym typeface="Open Sans"/>
              </a:rPr>
              <a:t>MSc Financial Economics, University of Leicester</a:t>
            </a:r>
            <a:endParaRPr/>
          </a:p>
          <a:p>
            <a:pPr marL="0" indent="0">
              <a:spcBef>
                <a:spcPts val="267"/>
              </a:spcBef>
              <a:buSzPts val="500"/>
            </a:pPr>
            <a:endParaRPr sz="933">
              <a:latin typeface="Arial"/>
              <a:ea typeface="Arial"/>
              <a:cs typeface="Arial"/>
              <a:sym typeface="Arial"/>
            </a:endParaRPr>
          </a:p>
        </p:txBody>
      </p:sp>
      <p:sp>
        <p:nvSpPr>
          <p:cNvPr id="66" name="Google Shape;66;p14"/>
          <p:cNvSpPr txBox="1">
            <a:spLocks noGrp="1"/>
          </p:cNvSpPr>
          <p:nvPr>
            <p:ph type="body" idx="4"/>
          </p:nvPr>
        </p:nvSpPr>
        <p:spPr>
          <a:xfrm>
            <a:off x="3176133" y="927967"/>
            <a:ext cx="7002400" cy="4789200"/>
          </a:xfrm>
          <a:prstGeom prst="rect">
            <a:avLst/>
          </a:prstGeom>
          <a:noFill/>
          <a:ln>
            <a:noFill/>
          </a:ln>
        </p:spPr>
        <p:txBody>
          <a:bodyPr spcFirstLastPara="1" vert="horz" wrap="square" lIns="0" tIns="0" rIns="0" bIns="0" rtlCol="0" anchor="t" anchorCtr="0">
            <a:noAutofit/>
          </a:bodyPr>
          <a:lstStyle/>
          <a:p>
            <a:pPr marL="0" indent="0">
              <a:lnSpc>
                <a:spcPct val="80000"/>
              </a:lnSpc>
              <a:buClr>
                <a:srgbClr val="002060"/>
              </a:buClr>
              <a:buSzPts val="1400"/>
            </a:pPr>
            <a:r>
              <a:rPr lang="en-GB" sz="1333" b="1">
                <a:solidFill>
                  <a:srgbClr val="002060"/>
                </a:solidFill>
                <a:latin typeface="Open Sans"/>
                <a:ea typeface="Open Sans"/>
                <a:cs typeface="Open Sans"/>
                <a:sym typeface="Open Sans"/>
              </a:rPr>
              <a:t>Selected Experience</a:t>
            </a:r>
            <a:endParaRPr sz="1333" b="1">
              <a:solidFill>
                <a:srgbClr val="002060"/>
              </a:solidFill>
              <a:latin typeface="Open Sans"/>
              <a:ea typeface="Open Sans"/>
              <a:cs typeface="Open Sans"/>
              <a:sym typeface="Open Sans"/>
            </a:endParaRPr>
          </a:p>
          <a:p>
            <a:pPr marL="0" indent="0">
              <a:lnSpc>
                <a:spcPct val="80000"/>
              </a:lnSpc>
              <a:buClr>
                <a:srgbClr val="002060"/>
              </a:buClr>
              <a:buSzPts val="1400"/>
            </a:pPr>
            <a:r>
              <a:rPr lang="en-GB" sz="933" b="1">
                <a:solidFill>
                  <a:srgbClr val="002060"/>
                </a:solidFill>
                <a:latin typeface="Open Sans"/>
                <a:ea typeface="Open Sans"/>
                <a:cs typeface="Open Sans"/>
                <a:sym typeface="Open Sans"/>
              </a:rPr>
              <a:t>The following projects were undertaken during my time working for Accenture as a Data Manager / Consultant</a:t>
            </a:r>
            <a:endParaRPr sz="933" b="1">
              <a:solidFill>
                <a:srgbClr val="002060"/>
              </a:solidFill>
              <a:latin typeface="Open Sans"/>
              <a:ea typeface="Open Sans"/>
              <a:cs typeface="Open Sans"/>
              <a:sym typeface="Open Sans"/>
            </a:endParaRPr>
          </a:p>
          <a:p>
            <a:pPr marL="0" indent="0">
              <a:lnSpc>
                <a:spcPct val="80000"/>
              </a:lnSpc>
              <a:buClr>
                <a:srgbClr val="002060"/>
              </a:buClr>
              <a:buSzPts val="1400"/>
            </a:pPr>
            <a:endParaRPr sz="933" b="1">
              <a:solidFill>
                <a:srgbClr val="002060"/>
              </a:solidFill>
              <a:latin typeface="Open Sans"/>
              <a:ea typeface="Open Sans"/>
              <a:cs typeface="Open Sans"/>
              <a:sym typeface="Open Sans"/>
            </a:endParaRPr>
          </a:p>
          <a:p>
            <a:pPr marL="0" indent="0">
              <a:spcBef>
                <a:spcPts val="600"/>
              </a:spcBef>
              <a:buSzPts val="900"/>
            </a:pPr>
            <a:r>
              <a:rPr lang="en-GB" sz="933" b="1" u="sng">
                <a:latin typeface="Open Sans"/>
                <a:ea typeface="Open Sans"/>
                <a:cs typeface="Open Sans"/>
                <a:sym typeface="Open Sans"/>
              </a:rPr>
              <a:t>NHSE / Palantir</a:t>
            </a:r>
            <a:endParaRPr sz="1133"/>
          </a:p>
          <a:p>
            <a:pPr marL="0" indent="0">
              <a:buSzPts val="900"/>
            </a:pPr>
            <a:endParaRPr sz="933" b="1" u="sng">
              <a:latin typeface="Open Sans"/>
              <a:ea typeface="Open Sans"/>
              <a:cs typeface="Open Sans"/>
              <a:sym typeface="Open Sans"/>
            </a:endParaRPr>
          </a:p>
          <a:p>
            <a:pPr marL="228594" indent="-211661">
              <a:buSzPts val="700"/>
              <a:buChar char="•"/>
            </a:pPr>
            <a:r>
              <a:rPr lang="en-GB" sz="933">
                <a:latin typeface="Open Sans"/>
                <a:ea typeface="Open Sans"/>
                <a:cs typeface="Open Sans"/>
                <a:sym typeface="Open Sans"/>
              </a:rPr>
              <a:t>Working with Palantir to support report migration for the NHSE, specifically a Foundry Workshop dashboard highlighting patient waiting times</a:t>
            </a:r>
            <a:endParaRPr sz="1133"/>
          </a:p>
          <a:p>
            <a:pPr marL="228594" indent="-211661">
              <a:spcBef>
                <a:spcPts val="800"/>
              </a:spcBef>
              <a:buSzPts val="700"/>
              <a:buChar char="•"/>
            </a:pPr>
            <a:r>
              <a:rPr lang="en-GB" sz="933">
                <a:latin typeface="Open Sans"/>
                <a:ea typeface="Open Sans"/>
                <a:cs typeface="Open Sans"/>
                <a:sym typeface="Open Sans"/>
              </a:rPr>
              <a:t>In addition to dashboard development, I also took on business analysis tasks, supported data engineering, led team meetings and demoed to NHSE leadership </a:t>
            </a:r>
            <a:endParaRPr sz="933">
              <a:latin typeface="Open Sans"/>
              <a:ea typeface="Open Sans"/>
              <a:cs typeface="Open Sans"/>
              <a:sym typeface="Open Sans"/>
            </a:endParaRPr>
          </a:p>
          <a:p>
            <a:pPr marL="0" indent="0">
              <a:spcBef>
                <a:spcPts val="800"/>
              </a:spcBef>
              <a:buSzPts val="900"/>
            </a:pPr>
            <a:r>
              <a:rPr lang="en-GB" sz="933" b="1" u="sng">
                <a:latin typeface="Open Sans"/>
                <a:ea typeface="Open Sans"/>
                <a:cs typeface="Open Sans"/>
                <a:sym typeface="Open Sans"/>
              </a:rPr>
              <a:t>Scottish Power</a:t>
            </a:r>
            <a:endParaRPr sz="1133"/>
          </a:p>
          <a:p>
            <a:pPr marL="0" indent="0">
              <a:buSzPts val="900"/>
            </a:pPr>
            <a:endParaRPr sz="933" b="1" u="sng">
              <a:latin typeface="Open Sans"/>
              <a:ea typeface="Open Sans"/>
              <a:cs typeface="Open Sans"/>
              <a:sym typeface="Open Sans"/>
            </a:endParaRPr>
          </a:p>
          <a:p>
            <a:pPr marL="228594" indent="-211661">
              <a:buSzPts val="700"/>
              <a:buChar char="•"/>
            </a:pPr>
            <a:r>
              <a:rPr lang="en-GB" sz="933">
                <a:latin typeface="Open Sans"/>
                <a:ea typeface="Open Sans"/>
                <a:cs typeface="Open Sans"/>
                <a:sym typeface="Open Sans"/>
              </a:rPr>
              <a:t>Initially came into the team as a Visualisation expert to help build PowerBI Dashboards within Scottish Power Complaints</a:t>
            </a:r>
            <a:endParaRPr sz="1133"/>
          </a:p>
          <a:p>
            <a:pPr marL="228594" indent="-211661">
              <a:spcBef>
                <a:spcPts val="800"/>
              </a:spcBef>
              <a:buSzPts val="700"/>
              <a:buChar char="•"/>
            </a:pPr>
            <a:r>
              <a:rPr lang="en-GB" sz="933">
                <a:latin typeface="Open Sans"/>
                <a:ea typeface="Open Sans"/>
                <a:cs typeface="Open Sans"/>
                <a:sym typeface="Open Sans"/>
              </a:rPr>
              <a:t>Subsequently required to lead the team and manage deliverables including assessing Goodwill reporting and ombudsman risk</a:t>
            </a:r>
            <a:endParaRPr sz="933">
              <a:latin typeface="Open Sans"/>
              <a:ea typeface="Open Sans"/>
              <a:cs typeface="Open Sans"/>
              <a:sym typeface="Open Sans"/>
            </a:endParaRPr>
          </a:p>
          <a:p>
            <a:pPr marL="0" indent="0">
              <a:spcBef>
                <a:spcPts val="800"/>
              </a:spcBef>
              <a:buSzPts val="900"/>
            </a:pPr>
            <a:r>
              <a:rPr lang="en-GB" sz="933" b="1" u="sng">
                <a:latin typeface="Open Sans"/>
                <a:ea typeface="Open Sans"/>
                <a:cs typeface="Open Sans"/>
                <a:sym typeface="Open Sans"/>
              </a:rPr>
              <a:t>Supply Chain Decarbonisation Suite</a:t>
            </a:r>
            <a:endParaRPr sz="1133"/>
          </a:p>
          <a:p>
            <a:pPr marL="0" indent="0">
              <a:buSzPts val="900"/>
            </a:pPr>
            <a:endParaRPr sz="933" b="1" u="sng">
              <a:latin typeface="Open Sans"/>
              <a:ea typeface="Open Sans"/>
              <a:cs typeface="Open Sans"/>
              <a:sym typeface="Open Sans"/>
            </a:endParaRPr>
          </a:p>
          <a:p>
            <a:pPr marL="228594" indent="-211661">
              <a:buSzPts val="700"/>
              <a:buChar char="•"/>
            </a:pPr>
            <a:r>
              <a:rPr lang="en-GB" sz="933">
                <a:latin typeface="Open Sans"/>
                <a:ea typeface="Open Sans"/>
                <a:cs typeface="Open Sans"/>
                <a:sym typeface="Open Sans"/>
              </a:rPr>
              <a:t>Leading teams of data scientists to build Gen AI solutions focussing on enhancing Sustainability processes by reducing manual effort by circa 90%</a:t>
            </a:r>
            <a:endParaRPr sz="933">
              <a:latin typeface="Open Sans"/>
              <a:ea typeface="Open Sans"/>
              <a:cs typeface="Open Sans"/>
              <a:sym typeface="Open Sans"/>
            </a:endParaRPr>
          </a:p>
          <a:p>
            <a:pPr marL="0" indent="0">
              <a:spcBef>
                <a:spcPts val="800"/>
              </a:spcBef>
              <a:buSzPts val="900"/>
            </a:pPr>
            <a:r>
              <a:rPr lang="en-GB" sz="933" b="1" u="sng">
                <a:latin typeface="Open Sans"/>
                <a:ea typeface="Open Sans"/>
                <a:cs typeface="Open Sans"/>
                <a:sym typeface="Open Sans"/>
              </a:rPr>
              <a:t>Lloyds Banking Group</a:t>
            </a:r>
            <a:endParaRPr sz="1133"/>
          </a:p>
          <a:p>
            <a:pPr marL="0" indent="0">
              <a:spcBef>
                <a:spcPts val="800"/>
              </a:spcBef>
              <a:buSzPts val="900"/>
            </a:pPr>
            <a:r>
              <a:rPr lang="en-GB" sz="933" b="1">
                <a:latin typeface="Open Sans"/>
                <a:ea typeface="Open Sans"/>
                <a:cs typeface="Open Sans"/>
                <a:sym typeface="Open Sans"/>
              </a:rPr>
              <a:t>Project 2</a:t>
            </a:r>
            <a:endParaRPr sz="1133"/>
          </a:p>
          <a:p>
            <a:pPr marL="228594" indent="-211661">
              <a:spcBef>
                <a:spcPts val="800"/>
              </a:spcBef>
              <a:buSzPts val="700"/>
              <a:buChar char="•"/>
            </a:pPr>
            <a:r>
              <a:rPr lang="en-GB" sz="933">
                <a:latin typeface="Open Sans"/>
                <a:ea typeface="Open Sans"/>
                <a:cs typeface="Open Sans"/>
                <a:sym typeface="Open Sans"/>
              </a:rPr>
              <a:t>Directing development of Power BI dashboards to report on board level metrics</a:t>
            </a:r>
            <a:endParaRPr sz="1133"/>
          </a:p>
          <a:p>
            <a:pPr marL="228594" indent="-211661">
              <a:spcBef>
                <a:spcPts val="800"/>
              </a:spcBef>
              <a:buSzPts val="700"/>
              <a:buChar char="•"/>
            </a:pPr>
            <a:r>
              <a:rPr lang="en-GB" sz="933">
                <a:latin typeface="Open Sans"/>
                <a:ea typeface="Open Sans"/>
                <a:cs typeface="Open Sans"/>
                <a:sym typeface="Open Sans"/>
              </a:rPr>
              <a:t>Regular communication with board level personnel, leading demonstrations and revisiting project scope </a:t>
            </a:r>
            <a:endParaRPr sz="1133"/>
          </a:p>
          <a:p>
            <a:pPr marL="0" indent="0">
              <a:spcBef>
                <a:spcPts val="800"/>
              </a:spcBef>
              <a:buSzPts val="900"/>
            </a:pPr>
            <a:r>
              <a:rPr lang="en-GB" sz="933" b="1">
                <a:latin typeface="Open Sans"/>
                <a:ea typeface="Open Sans"/>
                <a:cs typeface="Open Sans"/>
                <a:sym typeface="Open Sans"/>
              </a:rPr>
              <a:t>Project 1</a:t>
            </a:r>
            <a:endParaRPr sz="1133"/>
          </a:p>
          <a:p>
            <a:pPr marL="228594" indent="-211661">
              <a:spcBef>
                <a:spcPts val="800"/>
              </a:spcBef>
              <a:buSzPts val="700"/>
              <a:buChar char="•"/>
            </a:pPr>
            <a:r>
              <a:rPr lang="en-GB" sz="933">
                <a:latin typeface="Open Sans"/>
                <a:ea typeface="Open Sans"/>
                <a:cs typeface="Open Sans"/>
                <a:sym typeface="Open Sans"/>
              </a:rPr>
              <a:t>Development of data quality dashboards in Tableau</a:t>
            </a:r>
            <a:endParaRPr sz="1133"/>
          </a:p>
          <a:p>
            <a:pPr marL="228594" indent="-211661">
              <a:spcBef>
                <a:spcPts val="800"/>
              </a:spcBef>
              <a:buSzPts val="700"/>
              <a:buChar char="•"/>
            </a:pPr>
            <a:r>
              <a:rPr lang="en-GB" sz="933">
                <a:latin typeface="Open Sans"/>
                <a:ea typeface="Open Sans"/>
                <a:cs typeface="Open Sans"/>
                <a:sym typeface="Open Sans"/>
              </a:rPr>
              <a:t>Leading production of developed product and training for handover</a:t>
            </a:r>
            <a:endParaRPr sz="933">
              <a:latin typeface="Open Sans"/>
              <a:ea typeface="Open Sans"/>
              <a:cs typeface="Open Sans"/>
              <a:sym typeface="Open Sans"/>
            </a:endParaRPr>
          </a:p>
          <a:p>
            <a:pPr marL="0" indent="0">
              <a:spcBef>
                <a:spcPts val="800"/>
              </a:spcBef>
              <a:buSzPts val="900"/>
            </a:pPr>
            <a:r>
              <a:rPr lang="en-GB" sz="933" b="1" u="sng">
                <a:latin typeface="Open Sans"/>
                <a:ea typeface="Open Sans"/>
                <a:cs typeface="Open Sans"/>
                <a:sym typeface="Open Sans"/>
              </a:rPr>
              <a:t>UK Health Security Agency</a:t>
            </a:r>
            <a:endParaRPr sz="1133"/>
          </a:p>
          <a:p>
            <a:pPr marL="228594" indent="-211661">
              <a:spcBef>
                <a:spcPts val="800"/>
              </a:spcBef>
              <a:buSzPts val="700"/>
              <a:buChar char="•"/>
            </a:pPr>
            <a:r>
              <a:rPr lang="en-GB" sz="933">
                <a:latin typeface="Open Sans"/>
                <a:ea typeface="Open Sans"/>
                <a:cs typeface="Open Sans"/>
                <a:sym typeface="Open Sans"/>
              </a:rPr>
              <a:t>Supporting the UKHSA with the covid-19 pandemic </a:t>
            </a:r>
            <a:endParaRPr sz="1133"/>
          </a:p>
          <a:p>
            <a:pPr marL="228594" indent="-211661">
              <a:spcBef>
                <a:spcPts val="800"/>
              </a:spcBef>
              <a:buSzPts val="700"/>
              <a:buChar char="•"/>
            </a:pPr>
            <a:r>
              <a:rPr lang="en-GB" sz="933">
                <a:latin typeface="Open Sans"/>
                <a:ea typeface="Open Sans"/>
                <a:cs typeface="Open Sans"/>
                <a:sym typeface="Open Sans"/>
              </a:rPr>
              <a:t>Assisting the Head of Visualisation on key strategic planning and helping direct the team</a:t>
            </a:r>
            <a:endParaRPr sz="1133"/>
          </a:p>
          <a:p>
            <a:pPr marL="228594" indent="-211661">
              <a:spcBef>
                <a:spcPts val="800"/>
              </a:spcBef>
              <a:buSzPts val="700"/>
              <a:buChar char="•"/>
            </a:pPr>
            <a:r>
              <a:rPr lang="en-GB" sz="933">
                <a:latin typeface="Open Sans"/>
                <a:ea typeface="Open Sans"/>
                <a:cs typeface="Open Sans"/>
                <a:sym typeface="Open Sans"/>
              </a:rPr>
              <a:t>Undertaking and directing on dashboard development and delivering marketing and training sessions and artefacts to upskill the business in Qlik Sense</a:t>
            </a:r>
            <a:endParaRPr sz="1133"/>
          </a:p>
          <a:p>
            <a:pPr marL="0" indent="0">
              <a:spcBef>
                <a:spcPts val="800"/>
              </a:spcBef>
              <a:buSzPts val="900"/>
            </a:pPr>
            <a:endParaRPr sz="667"/>
          </a:p>
          <a:p>
            <a:pPr marL="0" indent="0">
              <a:spcBef>
                <a:spcPts val="667"/>
              </a:spcBef>
              <a:buSzPts val="700"/>
            </a:pPr>
            <a:endParaRPr sz="400" b="1">
              <a:solidFill>
                <a:srgbClr val="002060"/>
              </a:solidFill>
              <a:latin typeface="Open Sans"/>
              <a:ea typeface="Open Sans"/>
              <a:cs typeface="Open Sans"/>
              <a:sym typeface="Open Sans"/>
            </a:endParaRPr>
          </a:p>
        </p:txBody>
      </p:sp>
      <p:sp>
        <p:nvSpPr>
          <p:cNvPr id="67" name="Google Shape;67;p14"/>
          <p:cNvSpPr txBox="1"/>
          <p:nvPr/>
        </p:nvSpPr>
        <p:spPr>
          <a:xfrm>
            <a:off x="10262795" y="1731981"/>
            <a:ext cx="914400" cy="914400"/>
          </a:xfrm>
          <a:prstGeom prst="rect">
            <a:avLst/>
          </a:prstGeom>
          <a:noFill/>
          <a:ln>
            <a:noFill/>
          </a:ln>
        </p:spPr>
        <p:txBody>
          <a:bodyPr spcFirstLastPara="1" wrap="square" lIns="0" tIns="0" rIns="0" bIns="0" anchor="t" anchorCtr="0">
            <a:normAutofit/>
          </a:bodyPr>
          <a:lstStyle/>
          <a:p>
            <a:pPr>
              <a:buClr>
                <a:schemeClr val="dk1"/>
              </a:buClr>
              <a:buSzPts val="1400"/>
            </a:pPr>
            <a:endParaRPr sz="1867">
              <a:solidFill>
                <a:srgbClr val="FFFFFF"/>
              </a:solidFill>
              <a:latin typeface="Arial"/>
              <a:ea typeface="Arial"/>
              <a:cs typeface="Arial"/>
              <a:sym typeface="Arial"/>
            </a:endParaRPr>
          </a:p>
        </p:txBody>
      </p:sp>
      <p:sp>
        <p:nvSpPr>
          <p:cNvPr id="68" name="Google Shape;68;p14"/>
          <p:cNvSpPr txBox="1"/>
          <p:nvPr/>
        </p:nvSpPr>
        <p:spPr>
          <a:xfrm>
            <a:off x="10508975" y="6467061"/>
            <a:ext cx="0" cy="0"/>
          </a:xfrm>
          <a:prstGeom prst="rect">
            <a:avLst/>
          </a:prstGeom>
          <a:noFill/>
          <a:ln>
            <a:noFill/>
          </a:ln>
        </p:spPr>
        <p:txBody>
          <a:bodyPr spcFirstLastPara="1" wrap="square" lIns="0" tIns="0" rIns="0" bIns="0" anchor="t" anchorCtr="0">
            <a:noAutofit/>
          </a:bodyPr>
          <a:lstStyle/>
          <a:p>
            <a:pPr>
              <a:buClr>
                <a:schemeClr val="dk1"/>
              </a:buClr>
              <a:buSzPts val="1400"/>
            </a:pPr>
            <a:endParaRPr sz="1867">
              <a:solidFill>
                <a:srgbClr val="FFFFFF"/>
              </a:solidFill>
              <a:latin typeface="Arial"/>
              <a:ea typeface="Arial"/>
              <a:cs typeface="Arial"/>
              <a:sym typeface="Arial"/>
            </a:endParaRPr>
          </a:p>
        </p:txBody>
      </p:sp>
      <p:cxnSp>
        <p:nvCxnSpPr>
          <p:cNvPr id="69" name="Google Shape;69;p14"/>
          <p:cNvCxnSpPr/>
          <p:nvPr/>
        </p:nvCxnSpPr>
        <p:spPr>
          <a:xfrm>
            <a:off x="415639" y="3324401"/>
            <a:ext cx="2043200" cy="0"/>
          </a:xfrm>
          <a:prstGeom prst="straightConnector1">
            <a:avLst/>
          </a:prstGeom>
          <a:noFill/>
          <a:ln w="9525" cap="flat" cmpd="sng">
            <a:solidFill>
              <a:schemeClr val="lt1">
                <a:alpha val="49800"/>
              </a:schemeClr>
            </a:solidFill>
            <a:prstDash val="solid"/>
            <a:miter lim="800000"/>
            <a:headEnd type="none" w="sm" len="sm"/>
            <a:tailEnd type="none" w="sm" len="sm"/>
          </a:ln>
        </p:spPr>
      </p:cxnSp>
      <p:pic>
        <p:nvPicPr>
          <p:cNvPr id="70" name="Google Shape;70;p14"/>
          <p:cNvPicPr preferRelativeResize="0"/>
          <p:nvPr/>
        </p:nvPicPr>
        <p:blipFill rotWithShape="1">
          <a:blip r:embed="rId4">
            <a:alphaModFix/>
          </a:blip>
          <a:srcRect t="6491" b="6491"/>
          <a:stretch/>
        </p:blipFill>
        <p:spPr>
          <a:xfrm>
            <a:off x="626807" y="226837"/>
            <a:ext cx="1832000" cy="1832000"/>
          </a:xfrm>
          <a:prstGeom prst="flowChartConnector">
            <a:avLst/>
          </a:prstGeom>
          <a:noFill/>
          <a:ln>
            <a:noFill/>
          </a:ln>
        </p:spPr>
      </p:pic>
      <p:cxnSp>
        <p:nvCxnSpPr>
          <p:cNvPr id="71" name="Google Shape;71;p14"/>
          <p:cNvCxnSpPr/>
          <p:nvPr/>
        </p:nvCxnSpPr>
        <p:spPr>
          <a:xfrm>
            <a:off x="3013999" y="1469179"/>
            <a:ext cx="0" cy="5393200"/>
          </a:xfrm>
          <a:prstGeom prst="straightConnector1">
            <a:avLst/>
          </a:prstGeom>
          <a:noFill/>
          <a:ln w="42875" cap="flat" cmpd="sng">
            <a:solidFill>
              <a:srgbClr val="002060"/>
            </a:solidFill>
            <a:prstDash val="solid"/>
            <a:miter lim="800000"/>
            <a:headEnd type="none" w="sm" len="sm"/>
            <a:tailEnd type="none" w="sm" len="sm"/>
          </a:ln>
        </p:spPr>
      </p:cxnSp>
      <p:sp>
        <p:nvSpPr>
          <p:cNvPr id="72" name="Google Shape;72;p14"/>
          <p:cNvSpPr/>
          <p:nvPr/>
        </p:nvSpPr>
        <p:spPr>
          <a:xfrm>
            <a:off x="2933399" y="1401279"/>
            <a:ext cx="161200" cy="161200"/>
          </a:xfrm>
          <a:prstGeom prst="ellipse">
            <a:avLst/>
          </a:prstGeom>
          <a:solidFill>
            <a:schemeClr val="lt1"/>
          </a:solidFill>
          <a:ln w="42875" cap="flat" cmpd="sng">
            <a:solidFill>
              <a:srgbClr val="002060"/>
            </a:solidFill>
            <a:prstDash val="solid"/>
            <a:miter lim="800000"/>
            <a:headEnd type="none" w="sm" len="sm"/>
            <a:tailEnd type="none" w="sm" len="sm"/>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Arial"/>
              <a:ea typeface="Arial"/>
              <a:cs typeface="Arial"/>
              <a:sym typeface="Arial"/>
            </a:endParaRPr>
          </a:p>
        </p:txBody>
      </p:sp>
      <p:sp>
        <p:nvSpPr>
          <p:cNvPr id="73" name="Google Shape;73;p14"/>
          <p:cNvSpPr/>
          <p:nvPr/>
        </p:nvSpPr>
        <p:spPr>
          <a:xfrm>
            <a:off x="2933399" y="2374759"/>
            <a:ext cx="161200" cy="161200"/>
          </a:xfrm>
          <a:prstGeom prst="ellipse">
            <a:avLst/>
          </a:prstGeom>
          <a:solidFill>
            <a:schemeClr val="lt1"/>
          </a:solidFill>
          <a:ln w="42875" cap="flat" cmpd="sng">
            <a:solidFill>
              <a:srgbClr val="002060"/>
            </a:solidFill>
            <a:prstDash val="solid"/>
            <a:miter lim="800000"/>
            <a:headEnd type="none" w="sm" len="sm"/>
            <a:tailEnd type="none" w="sm" len="sm"/>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Arial"/>
              <a:ea typeface="Arial"/>
              <a:cs typeface="Arial"/>
              <a:sym typeface="Arial"/>
            </a:endParaRPr>
          </a:p>
        </p:txBody>
      </p:sp>
      <p:sp>
        <p:nvSpPr>
          <p:cNvPr id="74" name="Google Shape;74;p14"/>
          <p:cNvSpPr/>
          <p:nvPr/>
        </p:nvSpPr>
        <p:spPr>
          <a:xfrm>
            <a:off x="2933399" y="5423891"/>
            <a:ext cx="161200" cy="161200"/>
          </a:xfrm>
          <a:prstGeom prst="ellipse">
            <a:avLst/>
          </a:prstGeom>
          <a:solidFill>
            <a:schemeClr val="lt1"/>
          </a:solidFill>
          <a:ln w="42875" cap="flat" cmpd="sng">
            <a:solidFill>
              <a:srgbClr val="002060"/>
            </a:solidFill>
            <a:prstDash val="solid"/>
            <a:miter lim="800000"/>
            <a:headEnd type="none" w="sm" len="sm"/>
            <a:tailEnd type="none" w="sm" len="sm"/>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Arial"/>
              <a:ea typeface="Arial"/>
              <a:cs typeface="Arial"/>
              <a:sym typeface="Arial"/>
            </a:endParaRPr>
          </a:p>
        </p:txBody>
      </p:sp>
      <p:sp>
        <p:nvSpPr>
          <p:cNvPr id="75" name="Google Shape;75;p14"/>
          <p:cNvSpPr/>
          <p:nvPr/>
        </p:nvSpPr>
        <p:spPr>
          <a:xfrm>
            <a:off x="2931112" y="3194611"/>
            <a:ext cx="161200" cy="161200"/>
          </a:xfrm>
          <a:prstGeom prst="ellipse">
            <a:avLst/>
          </a:prstGeom>
          <a:solidFill>
            <a:schemeClr val="lt1"/>
          </a:solidFill>
          <a:ln w="42875" cap="flat" cmpd="sng">
            <a:solidFill>
              <a:srgbClr val="002060"/>
            </a:solidFill>
            <a:prstDash val="solid"/>
            <a:miter lim="800000"/>
            <a:headEnd type="none" w="sm" len="sm"/>
            <a:tailEnd type="none" w="sm" len="sm"/>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Arial"/>
              <a:ea typeface="Arial"/>
              <a:cs typeface="Arial"/>
              <a:sym typeface="Arial"/>
            </a:endParaRPr>
          </a:p>
        </p:txBody>
      </p:sp>
      <p:sp>
        <p:nvSpPr>
          <p:cNvPr id="76" name="Google Shape;76;p14"/>
          <p:cNvSpPr/>
          <p:nvPr/>
        </p:nvSpPr>
        <p:spPr>
          <a:xfrm>
            <a:off x="2931112" y="3811363"/>
            <a:ext cx="161200" cy="161200"/>
          </a:xfrm>
          <a:prstGeom prst="ellipse">
            <a:avLst/>
          </a:prstGeom>
          <a:solidFill>
            <a:schemeClr val="lt1"/>
          </a:solidFill>
          <a:ln w="42875" cap="flat" cmpd="sng">
            <a:solidFill>
              <a:srgbClr val="002060"/>
            </a:solidFill>
            <a:prstDash val="solid"/>
            <a:miter lim="800000"/>
            <a:headEnd type="none" w="sm" len="sm"/>
            <a:tailEnd type="none" w="sm" len="sm"/>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Arial"/>
              <a:ea typeface="Arial"/>
              <a:cs typeface="Arial"/>
              <a:sym typeface="Arial"/>
            </a:endParaRPr>
          </a:p>
        </p:txBody>
      </p:sp>
      <p:cxnSp>
        <p:nvCxnSpPr>
          <p:cNvPr id="77" name="Google Shape;77;p14"/>
          <p:cNvCxnSpPr/>
          <p:nvPr/>
        </p:nvCxnSpPr>
        <p:spPr>
          <a:xfrm rot="10800000">
            <a:off x="10204604" y="1054000"/>
            <a:ext cx="0" cy="5245200"/>
          </a:xfrm>
          <a:prstGeom prst="straightConnector1">
            <a:avLst/>
          </a:prstGeom>
          <a:noFill/>
          <a:ln w="7150" cap="flat" cmpd="sng">
            <a:solidFill>
              <a:srgbClr val="002060">
                <a:alpha val="80000"/>
              </a:srgbClr>
            </a:solidFill>
            <a:prstDash val="dot"/>
            <a:miter lim="8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33F6310-BAC0-FD79-CDD7-6F1426475B11}"/>
              </a:ext>
            </a:extLst>
          </p:cNvPr>
          <p:cNvSpPr/>
          <p:nvPr/>
        </p:nvSpPr>
        <p:spPr>
          <a:xfrm>
            <a:off x="0" y="0"/>
            <a:ext cx="12192000" cy="6858000"/>
          </a:xfrm>
          <a:prstGeom prst="rect">
            <a:avLst/>
          </a:prstGeom>
          <a:gradFill flip="none" rotWithShape="1">
            <a:gsLst>
              <a:gs pos="8000">
                <a:schemeClr val="accent1">
                  <a:lumMod val="5000"/>
                  <a:lumOff val="95000"/>
                </a:schemeClr>
              </a:gs>
              <a:gs pos="89000">
                <a:srgbClr val="002060">
                  <a:alpha val="0"/>
                </a:srgbClr>
              </a:gs>
            </a:gsLst>
            <a:path path="circle">
              <a:fillToRect l="50000" t="50000" r="50000" b="50000"/>
            </a:path>
            <a:tileRect/>
          </a:gradFill>
          <a:ln>
            <a:solidFill>
              <a:schemeClr val="accent3">
                <a:alpha val="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71CF7FD2-4092-C2F0-3560-F5DE2912C8B8}"/>
              </a:ext>
            </a:extLst>
          </p:cNvPr>
          <p:cNvSpPr/>
          <p:nvPr/>
        </p:nvSpPr>
        <p:spPr>
          <a:xfrm>
            <a:off x="-9237" y="1"/>
            <a:ext cx="2890919"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4"/>
          <p:cNvSpPr txBox="1">
            <a:spLocks/>
          </p:cNvSpPr>
          <p:nvPr/>
        </p:nvSpPr>
        <p:spPr>
          <a:xfrm>
            <a:off x="2890919" y="67450"/>
            <a:ext cx="7371876" cy="743903"/>
          </a:xfrm>
          <a:prstGeom prst="rect">
            <a:avLst/>
          </a:prstGeom>
        </p:spPr>
        <p:txBody>
          <a:bodyPr>
            <a:noAutofit/>
          </a:bodyPr>
          <a:lstStyle>
            <a:lvl1pPr algn="l" defTabSz="685800" rtl="0" eaLnBrk="1" latinLnBrk="0" hangingPunct="1">
              <a:lnSpc>
                <a:spcPct val="80000"/>
              </a:lnSpc>
              <a:spcBef>
                <a:spcPct val="0"/>
              </a:spcBef>
              <a:buNone/>
              <a:defRPr sz="2400" kern="1200">
                <a:solidFill>
                  <a:schemeClr val="accent1"/>
                </a:solidFill>
                <a:latin typeface="+mj-lt"/>
                <a:ea typeface="+mj-ea"/>
                <a:cs typeface="+mj-cs"/>
              </a:defRPr>
            </a:lvl1pPr>
          </a:lstStyle>
          <a:p>
            <a:pPr>
              <a:defRPr/>
            </a:pPr>
            <a:r>
              <a:rPr kumimoji="0" lang="en-US" altLang="fi-FI" sz="3200" b="1" i="0" u="none" strike="noStrike" kern="1200" cap="none" spc="0" normalizeH="0" baseline="0" noProof="0" dirty="0">
                <a:ln>
                  <a:noFill/>
                </a:ln>
                <a:solidFill>
                  <a:srgbClr val="002060"/>
                </a:solidFill>
                <a:effectLst/>
                <a:uLnTx/>
                <a:uFillTx/>
                <a:latin typeface="Arial Black" panose="020B0604020202020204" pitchFamily="34" charset="0"/>
                <a:ea typeface="+mj-ea"/>
                <a:cs typeface="Arial Black" panose="020B0604020202020204" pitchFamily="34" charset="0"/>
              </a:rPr>
              <a:t>Tom Morgan </a:t>
            </a:r>
          </a:p>
          <a:p>
            <a:pPr>
              <a:defRPr/>
            </a:pPr>
            <a:r>
              <a:rPr lang="en-GB" sz="1400" dirty="0">
                <a:solidFill>
                  <a:srgbClr val="00206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t.morgan17@hotmail.co.uk</a:t>
            </a:r>
            <a:endParaRPr lang="en-GB" sz="1400" dirty="0">
              <a:solidFill>
                <a:srgbClr val="002060"/>
              </a:solidFill>
              <a:latin typeface="Arial" panose="020B0604020202020204" pitchFamily="34" charset="0"/>
              <a:cs typeface="Arial" panose="020B0604020202020204" pitchFamily="34" charset="0"/>
            </a:endParaRPr>
          </a:p>
          <a:p>
            <a:pPr marL="0" marR="0" lvl="0" indent="0" algn="l" defTabSz="685800" rtl="0" eaLnBrk="1" fontAlgn="auto" latinLnBrk="0" hangingPunct="1">
              <a:lnSpc>
                <a:spcPct val="80000"/>
              </a:lnSpc>
              <a:spcBef>
                <a:spcPct val="0"/>
              </a:spcBef>
              <a:spcAft>
                <a:spcPts val="0"/>
              </a:spcAft>
              <a:buClrTx/>
              <a:buSzTx/>
              <a:buFontTx/>
              <a:buNone/>
              <a:tabLst/>
              <a:defRPr/>
            </a:pPr>
            <a:endParaRPr kumimoji="0" lang="en-US" sz="3200" b="1" i="0" u="none" strike="noStrike" kern="1200" cap="none" spc="0" normalizeH="0" baseline="0" noProof="0" dirty="0">
              <a:ln>
                <a:noFill/>
              </a:ln>
              <a:solidFill>
                <a:srgbClr val="002060"/>
              </a:solidFill>
              <a:effectLst/>
              <a:uLnTx/>
              <a:uFillTx/>
              <a:latin typeface="Arial Black" panose="020B0604020202020204" pitchFamily="34" charset="0"/>
              <a:ea typeface="+mj-ea"/>
              <a:cs typeface="Arial Black" panose="020B0604020202020204" pitchFamily="34" charset="0"/>
            </a:endParaRPr>
          </a:p>
        </p:txBody>
      </p:sp>
      <p:sp>
        <p:nvSpPr>
          <p:cNvPr id="16" name="Content Placeholder 15"/>
          <p:cNvSpPr>
            <a:spLocks noGrp="1"/>
          </p:cNvSpPr>
          <p:nvPr>
            <p:ph idx="1"/>
          </p:nvPr>
        </p:nvSpPr>
        <p:spPr>
          <a:xfrm>
            <a:off x="166582" y="2362202"/>
            <a:ext cx="2683132" cy="3813174"/>
          </a:xfrm>
        </p:spPr>
        <p:txBody>
          <a:bodyPr>
            <a:noAutofit/>
          </a:bodyPr>
          <a:lstStyle/>
          <a:p>
            <a:pPr>
              <a:lnSpc>
                <a:spcPct val="80000"/>
              </a:lnSpc>
              <a:spcAft>
                <a:spcPts val="450"/>
              </a:spcAft>
            </a:pPr>
            <a:r>
              <a:rPr lang="en-GB" sz="900" b="1" dirty="0">
                <a:solidFill>
                  <a:schemeClr val="bg1"/>
                </a:solidFill>
                <a:latin typeface="Univers" panose="020B0503020202020204" pitchFamily="34" charset="0"/>
                <a:cs typeface="Arial" panose="020B0604020202020204" pitchFamily="34" charset="0"/>
              </a:rPr>
              <a:t>Professional Background</a:t>
            </a:r>
          </a:p>
          <a:p>
            <a:pPr>
              <a:spcBef>
                <a:spcPts val="600"/>
              </a:spcBef>
              <a:spcAft>
                <a:spcPts val="600"/>
              </a:spcAft>
            </a:pPr>
            <a:r>
              <a:rPr lang="en-GB" altLang="zh-CN" sz="900" b="1" dirty="0">
                <a:solidFill>
                  <a:schemeClr val="bg1"/>
                </a:solidFill>
                <a:latin typeface="Univers" panose="020B0503020202020204" pitchFamily="34" charset="0"/>
                <a:cs typeface="Arial" panose="020B0604020202020204" pitchFamily="34" charset="0"/>
                <a:sym typeface="+mn-lt"/>
              </a:rPr>
              <a:t>A data solutions and development professional with 9+ years’ experience, passionate about visualisation and AI to facilitate and accelerate data driven decision making.</a:t>
            </a:r>
          </a:p>
          <a:p>
            <a:pPr>
              <a:spcBef>
                <a:spcPts val="600"/>
              </a:spcBef>
              <a:spcAft>
                <a:spcPts val="600"/>
              </a:spcAft>
            </a:pPr>
            <a:r>
              <a:rPr lang="en-GB" altLang="zh-CN" sz="900" dirty="0">
                <a:solidFill>
                  <a:schemeClr val="bg1"/>
                </a:solidFill>
                <a:latin typeface="Univers" panose="020B0503020202020204" pitchFamily="34" charset="0"/>
                <a:cs typeface="Arial" panose="020B0604020202020204" pitchFamily="34" charset="0"/>
                <a:sym typeface="+mn-lt"/>
              </a:rPr>
              <a:t>I have extensive experience in scoping, designing, directing, developing and demonstrating dashboard creation across various tools. I also have experience in I have directed development of Gen AI solutions.</a:t>
            </a:r>
          </a:p>
          <a:p>
            <a:pPr>
              <a:spcBef>
                <a:spcPts val="600"/>
              </a:spcBef>
              <a:spcAft>
                <a:spcPts val="600"/>
              </a:spcAft>
            </a:pPr>
            <a:r>
              <a:rPr lang="en-GB" altLang="zh-CN" sz="900" dirty="0">
                <a:solidFill>
                  <a:schemeClr val="bg1"/>
                </a:solidFill>
                <a:latin typeface="Univers" panose="020B0503020202020204" pitchFamily="34" charset="0"/>
                <a:cs typeface="Arial" panose="020B0604020202020204" pitchFamily="34" charset="0"/>
                <a:sym typeface="+mn-lt"/>
              </a:rPr>
              <a:t>As well as my technical knowledge I can engage with key stakeholders to understand the desired outcome and lead other developers to achieve this. Examples of this include creating data quality tools, advanced prototypes and Gen AI data extraction capabilities.</a:t>
            </a:r>
          </a:p>
          <a:p>
            <a:pPr>
              <a:spcBef>
                <a:spcPts val="600"/>
              </a:spcBef>
              <a:spcAft>
                <a:spcPts val="600"/>
              </a:spcAft>
            </a:pPr>
            <a:r>
              <a:rPr lang="en-GB" altLang="zh-CN" sz="900" dirty="0">
                <a:solidFill>
                  <a:schemeClr val="bg1"/>
                </a:solidFill>
                <a:latin typeface="Verdana Pro" panose="020F0502020204030204" pitchFamily="34" charset="0"/>
                <a:cs typeface="Arial" panose="020B0604020202020204" pitchFamily="34" charset="0"/>
                <a:sym typeface="+mn-lt"/>
              </a:rPr>
              <a:t>I </a:t>
            </a:r>
          </a:p>
          <a:p>
            <a:pPr algn="just"/>
            <a:endParaRPr lang="en-GB" sz="600" dirty="0">
              <a:solidFill>
                <a:schemeClr val="bg1"/>
              </a:solidFill>
              <a:latin typeface="Verdana Pro" panose="020F0502020204030204" pitchFamily="34" charset="0"/>
              <a:cs typeface="Arial" panose="020B0604020202020204" pitchFamily="34" charset="0"/>
            </a:endParaRPr>
          </a:p>
        </p:txBody>
      </p:sp>
      <p:sp>
        <p:nvSpPr>
          <p:cNvPr id="17" name="Content Placeholder 16"/>
          <p:cNvSpPr>
            <a:spLocks noGrp="1"/>
          </p:cNvSpPr>
          <p:nvPr>
            <p:ph idx="13"/>
          </p:nvPr>
        </p:nvSpPr>
        <p:spPr>
          <a:xfrm>
            <a:off x="10272032" y="731519"/>
            <a:ext cx="1844653" cy="5983317"/>
          </a:xfrm>
          <a:solidFill>
            <a:schemeClr val="bg1">
              <a:alpha val="0"/>
            </a:schemeClr>
          </a:solidFill>
        </p:spPr>
        <p:txBody>
          <a:bodyPr>
            <a:normAutofit/>
          </a:bodyPr>
          <a:lstStyle/>
          <a:p>
            <a:pPr algn="ctr">
              <a:spcAft>
                <a:spcPts val="200"/>
              </a:spcAft>
            </a:pPr>
            <a:r>
              <a:rPr lang="en-GB" sz="1200" b="1" dirty="0">
                <a:solidFill>
                  <a:srgbClr val="002060"/>
                </a:solidFill>
                <a:latin typeface="Univers" panose="020B0503020202020204" pitchFamily="34" charset="0"/>
                <a:cs typeface="Arial Black" panose="020B0604020202020204" pitchFamily="34" charset="0"/>
              </a:rPr>
              <a:t>Functional Skills</a:t>
            </a:r>
          </a:p>
          <a:p>
            <a:pPr marL="99450" indent="-99450" algn="ctr">
              <a:spcAft>
                <a:spcPts val="200"/>
              </a:spcAft>
              <a:buSzPct val="80000"/>
              <a:buFont typeface="System Font Regular"/>
              <a:buChar char="●"/>
            </a:pPr>
            <a:endParaRPr lang="en-GB" sz="1000" dirty="0">
              <a:latin typeface="Univers" panose="020B0503020202020204" pitchFamily="34" charset="0"/>
              <a:cs typeface="Arial" panose="020B0604020202020204" pitchFamily="34" charset="0"/>
            </a:endParaRPr>
          </a:p>
          <a:p>
            <a:pPr algn="ctr">
              <a:spcAft>
                <a:spcPts val="200"/>
              </a:spcAft>
              <a:buSzPct val="80000"/>
            </a:pPr>
            <a:r>
              <a:rPr lang="en-GB" sz="900" dirty="0">
                <a:latin typeface="Univers" panose="020B0503020202020204" pitchFamily="34" charset="0"/>
                <a:cs typeface="Arial" panose="020B0604020202020204" pitchFamily="34" charset="0"/>
              </a:rPr>
              <a:t>Data Visualisation</a:t>
            </a:r>
          </a:p>
          <a:p>
            <a:pPr algn="ctr">
              <a:spcAft>
                <a:spcPts val="200"/>
              </a:spcAft>
              <a:buSzPct val="80000"/>
            </a:pPr>
            <a:r>
              <a:rPr lang="en-GB" sz="900" dirty="0">
                <a:latin typeface="Univers" panose="020B0503020202020204" pitchFamily="34" charset="0"/>
                <a:cs typeface="Arial" panose="020B0604020202020204" pitchFamily="34" charset="0"/>
              </a:rPr>
              <a:t>Data Analytics</a:t>
            </a:r>
          </a:p>
          <a:p>
            <a:pPr algn="ctr">
              <a:spcAft>
                <a:spcPts val="200"/>
              </a:spcAft>
              <a:buSzPct val="80000"/>
            </a:pPr>
            <a:r>
              <a:rPr lang="en-GB" sz="900" dirty="0">
                <a:latin typeface="Univers" panose="020B0503020202020204" pitchFamily="34" charset="0"/>
                <a:cs typeface="Arial" panose="020B0604020202020204" pitchFamily="34" charset="0"/>
              </a:rPr>
              <a:t>Stakeholder Management</a:t>
            </a:r>
          </a:p>
          <a:p>
            <a:pPr algn="ctr">
              <a:spcAft>
                <a:spcPts val="200"/>
              </a:spcAft>
              <a:buSzPct val="80000"/>
            </a:pPr>
            <a:r>
              <a:rPr lang="en-GB" sz="900" dirty="0">
                <a:latin typeface="Univers" panose="020B0503020202020204" pitchFamily="34" charset="0"/>
                <a:cs typeface="Arial" panose="020B0604020202020204" pitchFamily="34" charset="0"/>
              </a:rPr>
              <a:t>Information Design</a:t>
            </a:r>
          </a:p>
          <a:p>
            <a:pPr algn="ctr">
              <a:spcAft>
                <a:spcPts val="200"/>
              </a:spcAft>
              <a:buSzPct val="80000"/>
            </a:pPr>
            <a:r>
              <a:rPr lang="en-GB" sz="900" dirty="0">
                <a:latin typeface="Univers" panose="020B0503020202020204" pitchFamily="34" charset="0"/>
                <a:cs typeface="Arial" panose="020B0604020202020204" pitchFamily="34" charset="0"/>
              </a:rPr>
              <a:t>Technical Leading</a:t>
            </a:r>
          </a:p>
          <a:p>
            <a:pPr algn="ctr">
              <a:spcAft>
                <a:spcPts val="200"/>
              </a:spcAft>
              <a:buSzPct val="80000"/>
            </a:pPr>
            <a:r>
              <a:rPr lang="en-GB" sz="900" dirty="0">
                <a:latin typeface="Univers" panose="020B0503020202020204" pitchFamily="34" charset="0"/>
                <a:cs typeface="Arial" panose="020B0604020202020204" pitchFamily="34" charset="0"/>
              </a:rPr>
              <a:t>Generative AI</a:t>
            </a:r>
          </a:p>
          <a:p>
            <a:pPr algn="ctr">
              <a:spcAft>
                <a:spcPts val="200"/>
              </a:spcAft>
              <a:buSzPct val="80000"/>
            </a:pPr>
            <a:endParaRPr lang="en-GB" sz="1000" dirty="0">
              <a:latin typeface="Univers" panose="020B0503020202020204" pitchFamily="34" charset="0"/>
              <a:cs typeface="Arial" panose="020B0604020202020204" pitchFamily="34" charset="0"/>
            </a:endParaRPr>
          </a:p>
          <a:p>
            <a:pPr algn="ctr">
              <a:spcAft>
                <a:spcPts val="200"/>
              </a:spcAft>
            </a:pPr>
            <a:r>
              <a:rPr lang="en-GB" sz="1200" b="1" dirty="0">
                <a:solidFill>
                  <a:srgbClr val="002060"/>
                </a:solidFill>
                <a:latin typeface="Univers" panose="020B0503020202020204" pitchFamily="34" charset="0"/>
                <a:cs typeface="Arial Black" panose="020B0604020202020204" pitchFamily="34" charset="0"/>
              </a:rPr>
              <a:t>Technical Skills</a:t>
            </a:r>
          </a:p>
          <a:p>
            <a:pPr algn="ctr">
              <a:spcAft>
                <a:spcPts val="200"/>
              </a:spcAft>
            </a:pPr>
            <a:endParaRPr lang="en-GB" sz="1200" b="1" dirty="0">
              <a:solidFill>
                <a:srgbClr val="A100FF"/>
              </a:solidFill>
              <a:latin typeface="Univers" panose="020B0503020202020204" pitchFamily="34" charset="0"/>
              <a:cs typeface="Arial Black" panose="020B0604020202020204" pitchFamily="34" charset="0"/>
            </a:endParaRPr>
          </a:p>
          <a:p>
            <a:pPr algn="ctr">
              <a:spcAft>
                <a:spcPts val="200"/>
              </a:spcAft>
              <a:buSzPct val="80000"/>
            </a:pPr>
            <a:r>
              <a:rPr lang="en-GB" sz="900" dirty="0">
                <a:latin typeface="Univers" panose="020B0503020202020204" pitchFamily="34" charset="0"/>
                <a:cs typeface="Arial" panose="020B0604020202020204" pitchFamily="34" charset="0"/>
              </a:rPr>
              <a:t>Tableau</a:t>
            </a:r>
          </a:p>
          <a:p>
            <a:pPr algn="ctr">
              <a:spcAft>
                <a:spcPts val="200"/>
              </a:spcAft>
              <a:buSzPct val="80000"/>
            </a:pPr>
            <a:r>
              <a:rPr lang="en-GB" sz="900" dirty="0">
                <a:latin typeface="Univers" panose="020B0503020202020204" pitchFamily="34" charset="0"/>
                <a:cs typeface="Arial" panose="020B0604020202020204" pitchFamily="34" charset="0"/>
              </a:rPr>
              <a:t>Power BI</a:t>
            </a:r>
          </a:p>
          <a:p>
            <a:pPr algn="ctr">
              <a:spcAft>
                <a:spcPts val="200"/>
              </a:spcAft>
              <a:buSzPct val="80000"/>
            </a:pPr>
            <a:r>
              <a:rPr lang="en-GB" sz="900" dirty="0">
                <a:latin typeface="Univers" panose="020B0503020202020204" pitchFamily="34" charset="0"/>
                <a:cs typeface="Arial" panose="020B0604020202020204" pitchFamily="34" charset="0"/>
              </a:rPr>
              <a:t>Qlik Sense</a:t>
            </a:r>
          </a:p>
          <a:p>
            <a:pPr algn="ctr">
              <a:spcAft>
                <a:spcPts val="200"/>
              </a:spcAft>
              <a:buSzPct val="80000"/>
            </a:pPr>
            <a:r>
              <a:rPr lang="en-GB" sz="900" dirty="0">
                <a:latin typeface="Univers" panose="020B0503020202020204" pitchFamily="34" charset="0"/>
                <a:cs typeface="Arial" panose="020B0604020202020204" pitchFamily="34" charset="0"/>
              </a:rPr>
              <a:t>Workshop</a:t>
            </a:r>
          </a:p>
          <a:p>
            <a:pPr algn="ctr">
              <a:spcAft>
                <a:spcPts val="200"/>
              </a:spcAft>
              <a:buSzPct val="80000"/>
            </a:pPr>
            <a:r>
              <a:rPr lang="en-GB" sz="900" dirty="0">
                <a:latin typeface="Univers" panose="020B0503020202020204" pitchFamily="34" charset="0"/>
                <a:cs typeface="Arial" panose="020B0604020202020204" pitchFamily="34" charset="0"/>
              </a:rPr>
              <a:t>SQL</a:t>
            </a:r>
          </a:p>
          <a:p>
            <a:pPr algn="ctr">
              <a:spcAft>
                <a:spcPts val="200"/>
              </a:spcAft>
              <a:buSzPct val="80000"/>
            </a:pPr>
            <a:r>
              <a:rPr lang="en-GB" sz="900" dirty="0">
                <a:latin typeface="Univers" panose="020B0503020202020204" pitchFamily="34" charset="0"/>
                <a:cs typeface="Arial" panose="020B0604020202020204" pitchFamily="34" charset="0"/>
              </a:rPr>
              <a:t>Python</a:t>
            </a:r>
          </a:p>
          <a:p>
            <a:pPr algn="ctr">
              <a:spcAft>
                <a:spcPts val="200"/>
              </a:spcAft>
              <a:buSzPct val="80000"/>
            </a:pPr>
            <a:r>
              <a:rPr lang="en-GB" sz="900" dirty="0">
                <a:latin typeface="Univers" panose="020B0503020202020204" pitchFamily="34" charset="0"/>
                <a:cs typeface="Arial" panose="020B0604020202020204" pitchFamily="34" charset="0"/>
              </a:rPr>
              <a:t>HTML</a:t>
            </a:r>
          </a:p>
          <a:p>
            <a:pPr algn="ctr">
              <a:spcAft>
                <a:spcPts val="200"/>
              </a:spcAft>
            </a:pPr>
            <a:endParaRPr lang="en-GB" sz="1200" b="1" dirty="0">
              <a:solidFill>
                <a:schemeClr val="accent1"/>
              </a:solidFill>
              <a:latin typeface="Univers" panose="020B0503020202020204" pitchFamily="34" charset="0"/>
              <a:cs typeface="Arial Black" panose="020B0604020202020204" pitchFamily="34" charset="0"/>
            </a:endParaRPr>
          </a:p>
          <a:p>
            <a:pPr algn="ctr">
              <a:spcAft>
                <a:spcPts val="200"/>
              </a:spcAft>
            </a:pPr>
            <a:r>
              <a:rPr lang="en-GB" sz="1200" b="1" dirty="0">
                <a:solidFill>
                  <a:srgbClr val="002060"/>
                </a:solidFill>
                <a:latin typeface="Univers" panose="020B0503020202020204" pitchFamily="34" charset="0"/>
                <a:cs typeface="Arial Black" panose="020B0604020202020204" pitchFamily="34" charset="0"/>
              </a:rPr>
              <a:t>Industry Experience</a:t>
            </a:r>
          </a:p>
          <a:p>
            <a:pPr algn="ctr">
              <a:spcAft>
                <a:spcPts val="200"/>
              </a:spcAft>
              <a:buSzPct val="80000"/>
            </a:pPr>
            <a:endParaRPr lang="en-GB" sz="900" dirty="0">
              <a:latin typeface="Univers" panose="020B0503020202020204" pitchFamily="34" charset="0"/>
              <a:cs typeface="Arial" panose="020B0604020202020204" pitchFamily="34" charset="0"/>
            </a:endParaRPr>
          </a:p>
          <a:p>
            <a:pPr algn="ctr">
              <a:spcAft>
                <a:spcPts val="200"/>
              </a:spcAft>
              <a:buSzPct val="80000"/>
            </a:pPr>
            <a:r>
              <a:rPr lang="en-GB" sz="900" dirty="0">
                <a:latin typeface="Univers" panose="020B0503020202020204" pitchFamily="34" charset="0"/>
                <a:cs typeface="Arial" panose="020B0604020202020204" pitchFamily="34" charset="0"/>
              </a:rPr>
              <a:t>Health</a:t>
            </a:r>
          </a:p>
          <a:p>
            <a:pPr algn="ctr">
              <a:spcAft>
                <a:spcPts val="200"/>
              </a:spcAft>
              <a:buSzPct val="80000"/>
            </a:pPr>
            <a:r>
              <a:rPr lang="en-GB" sz="900" dirty="0">
                <a:latin typeface="Univers" panose="020B0503020202020204" pitchFamily="34" charset="0"/>
                <a:cs typeface="Arial" panose="020B0604020202020204" pitchFamily="34" charset="0"/>
              </a:rPr>
              <a:t>Retail</a:t>
            </a:r>
          </a:p>
          <a:p>
            <a:pPr algn="ctr">
              <a:spcAft>
                <a:spcPts val="200"/>
              </a:spcAft>
              <a:buSzPct val="80000"/>
            </a:pPr>
            <a:r>
              <a:rPr lang="en-GB" sz="900" dirty="0">
                <a:latin typeface="Univers" panose="020B0503020202020204" pitchFamily="34" charset="0"/>
                <a:cs typeface="Arial" panose="020B0604020202020204" pitchFamily="34" charset="0"/>
              </a:rPr>
              <a:t>Financial Services</a:t>
            </a:r>
          </a:p>
          <a:p>
            <a:pPr algn="ctr">
              <a:spcAft>
                <a:spcPts val="200"/>
              </a:spcAft>
              <a:buSzPct val="80000"/>
            </a:pPr>
            <a:r>
              <a:rPr lang="en-GB" sz="900" dirty="0">
                <a:latin typeface="Univers" panose="020B0503020202020204" pitchFamily="34" charset="0"/>
                <a:cs typeface="Arial" panose="020B0604020202020204" pitchFamily="34" charset="0"/>
              </a:rPr>
              <a:t>Sustainability</a:t>
            </a:r>
          </a:p>
          <a:p>
            <a:pPr algn="ctr">
              <a:spcAft>
                <a:spcPts val="200"/>
              </a:spcAft>
              <a:buSzPct val="80000"/>
            </a:pPr>
            <a:r>
              <a:rPr lang="en-GB" sz="900" dirty="0">
                <a:latin typeface="Univers" panose="020B0503020202020204" pitchFamily="34" charset="0"/>
                <a:cs typeface="Arial" panose="020B0604020202020204" pitchFamily="34" charset="0"/>
              </a:rPr>
              <a:t>Energy</a:t>
            </a:r>
          </a:p>
          <a:p>
            <a:pPr algn="ctr">
              <a:spcAft>
                <a:spcPts val="200"/>
              </a:spcAft>
              <a:buSzPct val="80000"/>
            </a:pPr>
            <a:endParaRPr lang="en-GB" sz="1000" dirty="0">
              <a:solidFill>
                <a:srgbClr val="000000"/>
              </a:solidFill>
              <a:latin typeface="Univers" panose="020B0503020202020204" pitchFamily="34" charset="0"/>
              <a:cs typeface="Arial" panose="020B0604020202020204" pitchFamily="34" charset="0"/>
            </a:endParaRPr>
          </a:p>
          <a:p>
            <a:pPr algn="ctr">
              <a:spcAft>
                <a:spcPts val="200"/>
              </a:spcAft>
            </a:pPr>
            <a:r>
              <a:rPr lang="en-GB" sz="1200" b="1" dirty="0">
                <a:solidFill>
                  <a:srgbClr val="002060"/>
                </a:solidFill>
                <a:latin typeface="Univers" panose="020B0503020202020204" pitchFamily="34" charset="0"/>
                <a:cs typeface="Arial Black" panose="020B0604020202020204" pitchFamily="34" charset="0"/>
              </a:rPr>
              <a:t>Education</a:t>
            </a:r>
          </a:p>
          <a:p>
            <a:pPr algn="ctr">
              <a:spcAft>
                <a:spcPts val="200"/>
              </a:spcAft>
              <a:buSzPct val="80000"/>
            </a:pPr>
            <a:endParaRPr lang="en-GB" sz="900" dirty="0">
              <a:latin typeface="Univers" panose="020B0503020202020204" pitchFamily="34" charset="0"/>
              <a:cs typeface="Arial" panose="020B0604020202020204" pitchFamily="34" charset="0"/>
            </a:endParaRPr>
          </a:p>
          <a:p>
            <a:pPr algn="ctr">
              <a:spcAft>
                <a:spcPts val="200"/>
              </a:spcAft>
              <a:buSzPct val="80000"/>
            </a:pPr>
            <a:r>
              <a:rPr lang="en-GB" sz="900" dirty="0">
                <a:latin typeface="Univers" panose="020B0503020202020204" pitchFamily="34" charset="0"/>
                <a:cs typeface="Arial" panose="020B0604020202020204" pitchFamily="34" charset="0"/>
              </a:rPr>
              <a:t>BSc Mathematics, </a:t>
            </a:r>
            <a:r>
              <a:rPr lang="en-GB" sz="900">
                <a:latin typeface="Univers" panose="020B0503020202020204" pitchFamily="34" charset="0"/>
                <a:cs typeface="Arial" panose="020B0604020202020204" pitchFamily="34" charset="0"/>
              </a:rPr>
              <a:t>Loughborough University</a:t>
            </a:r>
          </a:p>
          <a:p>
            <a:pPr algn="ctr">
              <a:spcAft>
                <a:spcPts val="200"/>
              </a:spcAft>
              <a:buSzPct val="80000"/>
            </a:pPr>
            <a:endParaRPr lang="en-GB" sz="900" dirty="0">
              <a:latin typeface="Univers" panose="020B0503020202020204" pitchFamily="34" charset="0"/>
              <a:cs typeface="Arial" panose="020B0604020202020204" pitchFamily="34" charset="0"/>
            </a:endParaRPr>
          </a:p>
          <a:p>
            <a:pPr algn="ctr">
              <a:spcAft>
                <a:spcPts val="200"/>
              </a:spcAft>
              <a:buSzPct val="80000"/>
            </a:pPr>
            <a:r>
              <a:rPr lang="en-GB" sz="900" dirty="0">
                <a:latin typeface="Univers" panose="020B0503020202020204" pitchFamily="34" charset="0"/>
                <a:cs typeface="Arial" panose="020B0604020202020204" pitchFamily="34" charset="0"/>
              </a:rPr>
              <a:t>MSc Financial Economics, University of Leicester</a:t>
            </a:r>
          </a:p>
          <a:p>
            <a:pPr>
              <a:spcAft>
                <a:spcPts val="450"/>
              </a:spcAft>
              <a:buSzPct val="80000"/>
            </a:pPr>
            <a:endParaRPr lang="en-GB" sz="900" dirty="0">
              <a:latin typeface="Arial" panose="020B0604020202020204" pitchFamily="34" charset="0"/>
              <a:cs typeface="Arial" panose="020B0604020202020204" pitchFamily="34" charset="0"/>
            </a:endParaRPr>
          </a:p>
        </p:txBody>
      </p:sp>
      <p:sp>
        <p:nvSpPr>
          <p:cNvPr id="19" name="Content Placeholder 18"/>
          <p:cNvSpPr>
            <a:spLocks noGrp="1"/>
          </p:cNvSpPr>
          <p:nvPr>
            <p:ph idx="15"/>
          </p:nvPr>
        </p:nvSpPr>
        <p:spPr>
          <a:xfrm>
            <a:off x="3232727" y="840509"/>
            <a:ext cx="6945745" cy="4876660"/>
          </a:xfrm>
        </p:spPr>
        <p:txBody>
          <a:bodyPr vert="horz" lIns="0" tIns="0" rIns="0" bIns="0" rtlCol="0" anchor="t">
            <a:noAutofit/>
          </a:bodyPr>
          <a:lstStyle/>
          <a:p>
            <a:pPr>
              <a:lnSpc>
                <a:spcPct val="80000"/>
              </a:lnSpc>
              <a:spcAft>
                <a:spcPts val="450"/>
              </a:spcAft>
            </a:pPr>
            <a:r>
              <a:rPr lang="en-GB" sz="1400" b="1" dirty="0">
                <a:solidFill>
                  <a:srgbClr val="002060"/>
                </a:solidFill>
                <a:latin typeface="Univers" panose="020B0503020202020204" pitchFamily="34" charset="0"/>
                <a:ea typeface="Arial Unicode MS"/>
                <a:cs typeface="Arial Black" panose="020B0604020202020204" pitchFamily="34" charset="0"/>
              </a:rPr>
              <a:t>Selected Accenture Experience</a:t>
            </a:r>
          </a:p>
          <a:p>
            <a:r>
              <a:rPr lang="en-GB" sz="900" b="1" u="sng" dirty="0">
                <a:solidFill>
                  <a:prstClr val="black"/>
                </a:solidFill>
                <a:latin typeface="Univers" panose="020B0503020202020204" pitchFamily="34" charset="0"/>
                <a:cs typeface="Arial" panose="020B0604020202020204" pitchFamily="34" charset="0"/>
              </a:rPr>
              <a:t>NHSE / Palantir</a:t>
            </a:r>
          </a:p>
          <a:p>
            <a:endParaRPr lang="en-GB" sz="900" b="1" u="sng" dirty="0">
              <a:solidFill>
                <a:prstClr val="black"/>
              </a:solidFill>
              <a:latin typeface="Univers" panose="020B0503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Working with Palantir to support report migration for the NHSE, specifically a Foundry Workshop dashboard highlighting patient waiting times</a:t>
            </a:r>
          </a:p>
          <a:p>
            <a:pPr marL="17145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In addition to dashboard development, I also took on business analysis tasks, supported data engineering, led team meetings and demoed to NHSE leadership </a:t>
            </a:r>
          </a:p>
          <a:p>
            <a:r>
              <a:rPr lang="en-GB" sz="900" b="1" u="sng" dirty="0">
                <a:solidFill>
                  <a:prstClr val="black"/>
                </a:solidFill>
                <a:latin typeface="Univers" panose="020B0503020202020204" pitchFamily="34" charset="0"/>
                <a:cs typeface="Arial" panose="020B0604020202020204" pitchFamily="34" charset="0"/>
              </a:rPr>
              <a:t>Scottish Power</a:t>
            </a:r>
          </a:p>
          <a:p>
            <a:endParaRPr lang="en-GB" sz="900" b="1" u="sng" dirty="0">
              <a:solidFill>
                <a:prstClr val="black"/>
              </a:solidFill>
              <a:latin typeface="Univers" panose="020B0503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Initially came into the team as a Visualisation expert to help build </a:t>
            </a:r>
            <a:r>
              <a:rPr lang="en-GB" sz="900" dirty="0" err="1">
                <a:solidFill>
                  <a:prstClr val="black"/>
                </a:solidFill>
                <a:latin typeface="Univers" panose="020B0503020202020204" pitchFamily="34" charset="0"/>
                <a:cs typeface="Arial" panose="020B0604020202020204" pitchFamily="34" charset="0"/>
              </a:rPr>
              <a:t>PowerBI</a:t>
            </a:r>
            <a:r>
              <a:rPr lang="en-GB" sz="900" dirty="0">
                <a:solidFill>
                  <a:prstClr val="black"/>
                </a:solidFill>
                <a:latin typeface="Univers" panose="020B0503020202020204" pitchFamily="34" charset="0"/>
                <a:cs typeface="Arial" panose="020B0604020202020204" pitchFamily="34" charset="0"/>
              </a:rPr>
              <a:t> Dashboards within Scottish Power Complaints</a:t>
            </a:r>
          </a:p>
          <a:p>
            <a:pPr marL="17145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Subsequently required to lead the team and manage deliverables including assessing Goodwill reporting and ombudsman risk</a:t>
            </a:r>
          </a:p>
          <a:p>
            <a:pPr>
              <a:spcAft>
                <a:spcPts val="600"/>
              </a:spcAft>
            </a:pPr>
            <a:endParaRPr lang="en-GB" sz="900" dirty="0">
              <a:solidFill>
                <a:prstClr val="black"/>
              </a:solidFill>
              <a:latin typeface="Univers" panose="020B0503020202020204" pitchFamily="34" charset="0"/>
              <a:cs typeface="Arial" panose="020B0604020202020204" pitchFamily="34" charset="0"/>
            </a:endParaRPr>
          </a:p>
          <a:p>
            <a:r>
              <a:rPr lang="en-GB" sz="900" b="1" u="sng" dirty="0">
                <a:solidFill>
                  <a:prstClr val="black"/>
                </a:solidFill>
                <a:latin typeface="Univers" panose="020B0503020202020204" pitchFamily="34" charset="0"/>
                <a:cs typeface="Arial" panose="020B0604020202020204" pitchFamily="34" charset="0"/>
              </a:rPr>
              <a:t>Supply Chain Decarbonisation Suite</a:t>
            </a:r>
          </a:p>
          <a:p>
            <a:endParaRPr lang="en-GB" sz="900" b="1" u="sng" dirty="0">
              <a:solidFill>
                <a:prstClr val="black"/>
              </a:solidFill>
              <a:latin typeface="Univers" panose="020B0503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Leading teams of data scientists to build Gen AI solutions focussing on enhancing Sustainability processes by reducing manual effort by circa 90%</a:t>
            </a:r>
          </a:p>
          <a:p>
            <a:pPr lvl="0">
              <a:spcAft>
                <a:spcPts val="600"/>
              </a:spcAft>
            </a:pPr>
            <a:endParaRPr lang="en-GB" sz="900" b="1" dirty="0">
              <a:solidFill>
                <a:prstClr val="black"/>
              </a:solidFill>
              <a:latin typeface="Univers" panose="020B0503020202020204" pitchFamily="34" charset="0"/>
              <a:cs typeface="Arial" panose="020B0604020202020204" pitchFamily="34" charset="0"/>
            </a:endParaRPr>
          </a:p>
          <a:p>
            <a:pPr lvl="0">
              <a:spcAft>
                <a:spcPts val="600"/>
              </a:spcAft>
            </a:pPr>
            <a:r>
              <a:rPr lang="en-GB" sz="900" b="1" u="sng" dirty="0">
                <a:solidFill>
                  <a:prstClr val="black"/>
                </a:solidFill>
                <a:latin typeface="Univers" panose="020B0503020202020204" pitchFamily="34" charset="0"/>
                <a:cs typeface="Arial" panose="020B0604020202020204" pitchFamily="34" charset="0"/>
              </a:rPr>
              <a:t>Lloyds Banking Group</a:t>
            </a:r>
          </a:p>
          <a:p>
            <a:pPr lvl="0">
              <a:spcAft>
                <a:spcPts val="600"/>
              </a:spcAft>
            </a:pPr>
            <a:r>
              <a:rPr lang="en-GB" sz="900" b="1" dirty="0">
                <a:solidFill>
                  <a:prstClr val="black"/>
                </a:solidFill>
                <a:latin typeface="Univers" panose="020B0503020202020204" pitchFamily="34" charset="0"/>
                <a:cs typeface="Arial" panose="020B0604020202020204" pitchFamily="34" charset="0"/>
              </a:rPr>
              <a:t>Project 2</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Directing development of Power BI dashboards to report on board level metrics</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Regular communication with board level personnel, leading demonstrations and revisiting project scope </a:t>
            </a:r>
          </a:p>
          <a:p>
            <a:pPr lvl="0">
              <a:spcAft>
                <a:spcPts val="600"/>
              </a:spcAft>
            </a:pPr>
            <a:r>
              <a:rPr lang="en-GB" sz="900" b="1" dirty="0">
                <a:solidFill>
                  <a:prstClr val="black"/>
                </a:solidFill>
                <a:latin typeface="Univers" panose="020B0503020202020204" pitchFamily="34" charset="0"/>
                <a:cs typeface="Arial" panose="020B0604020202020204" pitchFamily="34" charset="0"/>
              </a:rPr>
              <a:t>Project 1</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Development of data quality dashboards in Tableau</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Leading production of developed product and training for handover</a:t>
            </a:r>
          </a:p>
          <a:p>
            <a:pPr lvl="0">
              <a:spcAft>
                <a:spcPts val="600"/>
              </a:spcAft>
            </a:pPr>
            <a:endParaRPr lang="en-GB" sz="900" dirty="0">
              <a:solidFill>
                <a:prstClr val="black"/>
              </a:solidFill>
              <a:latin typeface="Univers" panose="020B0503020202020204" pitchFamily="34" charset="0"/>
              <a:cs typeface="Arial" panose="020B0604020202020204" pitchFamily="34" charset="0"/>
            </a:endParaRPr>
          </a:p>
          <a:p>
            <a:pPr lvl="0">
              <a:spcAft>
                <a:spcPts val="600"/>
              </a:spcAft>
            </a:pPr>
            <a:r>
              <a:rPr lang="en-GB" sz="900" b="1" u="sng" dirty="0">
                <a:solidFill>
                  <a:prstClr val="black"/>
                </a:solidFill>
                <a:latin typeface="Univers" panose="020B0503020202020204" pitchFamily="34" charset="0"/>
                <a:cs typeface="Arial" panose="020B0604020202020204" pitchFamily="34" charset="0"/>
              </a:rPr>
              <a:t>UK Health Security Agency</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Supporting the UKHSA with the covid-19 pandemic </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Assisting the Head of Visualisation on key strategic planning and helping direct the team</a:t>
            </a:r>
          </a:p>
          <a:p>
            <a:pPr marL="171450" lvl="0" indent="-171450">
              <a:spcAft>
                <a:spcPts val="600"/>
              </a:spcAft>
              <a:buFont typeface="Arial" panose="020B0604020202020204" pitchFamily="34" charset="0"/>
              <a:buChar char="•"/>
            </a:pPr>
            <a:r>
              <a:rPr lang="en-GB" sz="900" dirty="0">
                <a:solidFill>
                  <a:prstClr val="black"/>
                </a:solidFill>
                <a:latin typeface="Univers" panose="020B0503020202020204" pitchFamily="34" charset="0"/>
                <a:cs typeface="Arial" panose="020B0604020202020204" pitchFamily="34" charset="0"/>
              </a:rPr>
              <a:t>Undertaking and directing on dashboard development and delivering marketing and training sessions and artefacts to upskill the business in Qlik Sense</a:t>
            </a:r>
          </a:p>
          <a:p>
            <a:pPr>
              <a:spcAft>
                <a:spcPts val="600"/>
              </a:spcAft>
            </a:pPr>
            <a:endParaRPr lang="en-GB" sz="900" dirty="0">
              <a:solidFill>
                <a:prstClr val="black"/>
              </a:solidFill>
              <a:latin typeface="Arial" panose="020B0604020202020204" pitchFamily="34" charset="0"/>
              <a:cs typeface="Arial" panose="020B0604020202020204" pitchFamily="34" charset="0"/>
            </a:endParaRPr>
          </a:p>
        </p:txBody>
      </p:sp>
      <p:sp>
        <p:nvSpPr>
          <p:cNvPr id="21" name="TextBox 20"/>
          <p:cNvSpPr txBox="1"/>
          <p:nvPr/>
        </p:nvSpPr>
        <p:spPr>
          <a:xfrm>
            <a:off x="10262795" y="1731981"/>
            <a:ext cx="914400" cy="914400"/>
          </a:xfrm>
          <a:prstGeom prst="rect">
            <a:avLst/>
          </a:prstGeom>
        </p:spPr>
        <p:txBody>
          <a:bodyPr vert="horz" wrap="none" lIns="0" tIns="0" rIns="0" bIns="0" rtlCol="0" anchor="t">
            <a:normAutofit/>
          </a:bodyPr>
          <a:lstStyle/>
          <a:p>
            <a:pPr marL="0" marR="0" lvl="0" indent="0" algn="l" defTabSz="449263"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AD64B758-CB2C-9548-BCC9-79ACF6A1659F}"/>
              </a:ext>
            </a:extLst>
          </p:cNvPr>
          <p:cNvSpPr txBox="1"/>
          <p:nvPr/>
        </p:nvSpPr>
        <p:spPr>
          <a:xfrm>
            <a:off x="10508974" y="6467061"/>
            <a:ext cx="0" cy="0"/>
          </a:xfrm>
          <a:prstGeom prst="rect">
            <a:avLst/>
          </a:prstGeom>
          <a:noFill/>
        </p:spPr>
        <p:txBody>
          <a:bodyPr wrap="none" lIns="0" tIns="0" rIns="0" bIns="0" rtlCol="0">
            <a:noAutofit/>
          </a:bodyPr>
          <a:lstStyle/>
          <a:p>
            <a:pPr marL="0" marR="0" lvl="0" indent="0" algn="l" defTabSz="228600" rtl="0" eaLnBrk="0" fontAlgn="base" latinLnBrk="0" hangingPunct="0">
              <a:lnSpc>
                <a:spcPct val="100000"/>
              </a:lnSpc>
              <a:spcBef>
                <a:spcPct val="0"/>
              </a:spcBef>
              <a:spcAft>
                <a:spcPts val="1200"/>
              </a:spcAft>
              <a:buClrTx/>
              <a:buSzTx/>
              <a:buFontTx/>
              <a:buNone/>
              <a:tabLst/>
              <a:defRPr/>
            </a:pPr>
            <a:endParaRPr kumimoji="0" lang="en-LV"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6" name="Title 4">
            <a:extLst>
              <a:ext uri="{FF2B5EF4-FFF2-40B4-BE49-F238E27FC236}">
                <a16:creationId xmlns:a16="http://schemas.microsoft.com/office/drawing/2014/main" id="{97685002-6583-BC16-51D1-409BF259E7DB}"/>
              </a:ext>
            </a:extLst>
          </p:cNvPr>
          <p:cNvSpPr txBox="1">
            <a:spLocks/>
          </p:cNvSpPr>
          <p:nvPr/>
        </p:nvSpPr>
        <p:spPr>
          <a:xfrm>
            <a:off x="5948800" y="282243"/>
            <a:ext cx="3972186" cy="276024"/>
          </a:xfrm>
          <a:prstGeom prst="rect">
            <a:avLst/>
          </a:prstGeom>
        </p:spPr>
        <p:txBody>
          <a:bodyPr vert="horz" lIns="0" tIns="0" rIns="0" bIns="0" rtlCol="0" anchor="t">
            <a:normAutofit/>
          </a:bodyPr>
          <a:lstStyle>
            <a:lvl1pPr algn="l" defTabSz="685800" rtl="0" eaLnBrk="1" latinLnBrk="0" hangingPunct="1">
              <a:lnSpc>
                <a:spcPct val="80000"/>
              </a:lnSpc>
              <a:spcBef>
                <a:spcPct val="0"/>
              </a:spcBef>
              <a:buNone/>
              <a:defRPr sz="3000" kern="1200">
                <a:solidFill>
                  <a:schemeClr val="accent1"/>
                </a:solidFill>
                <a:latin typeface="+mj-lt"/>
                <a:ea typeface="+mj-ea"/>
                <a:cs typeface="+mj-cs"/>
              </a:defRPr>
            </a:lvl1pPr>
          </a:lstStyle>
          <a:p>
            <a:pPr defTabSz="449263" eaLnBrk="0" fontAlgn="base" hangingPunct="0">
              <a:lnSpc>
                <a:spcPct val="100000"/>
              </a:lnSpc>
              <a:spcAft>
                <a:spcPct val="0"/>
              </a:spcAft>
              <a:defRPr/>
            </a:pPr>
            <a:endParaRPr lang="en-GB" sz="1400" dirty="0">
              <a:solidFill>
                <a:srgbClr val="002060"/>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ED01B3C3-4C31-8862-D932-D9A425428A5F}"/>
              </a:ext>
            </a:extLst>
          </p:cNvPr>
          <p:cNvCxnSpPr>
            <a:cxnSpLocks/>
          </p:cNvCxnSpPr>
          <p:nvPr/>
        </p:nvCxnSpPr>
        <p:spPr>
          <a:xfrm>
            <a:off x="415639" y="3191163"/>
            <a:ext cx="2043081" cy="0"/>
          </a:xfrm>
          <a:prstGeom prst="line">
            <a:avLst/>
          </a:prstGeom>
          <a:ln>
            <a:solidFill>
              <a:schemeClr val="bg1">
                <a:alpha val="50000"/>
              </a:schemeClr>
            </a:solidFill>
          </a:ln>
        </p:spPr>
        <p:style>
          <a:lnRef idx="1">
            <a:schemeClr val="dk1"/>
          </a:lnRef>
          <a:fillRef idx="0">
            <a:schemeClr val="dk1"/>
          </a:fillRef>
          <a:effectRef idx="0">
            <a:schemeClr val="dk1"/>
          </a:effectRef>
          <a:fontRef idx="minor">
            <a:schemeClr val="tx1"/>
          </a:fontRef>
        </p:style>
      </p:cxnSp>
      <p:pic>
        <p:nvPicPr>
          <p:cNvPr id="8" name="Graphic 10">
            <a:extLst>
              <a:ext uri="{FF2B5EF4-FFF2-40B4-BE49-F238E27FC236}">
                <a16:creationId xmlns:a16="http://schemas.microsoft.com/office/drawing/2014/main" id="{9D46A7F1-FF1C-99EF-D662-1011D71710F2}"/>
              </a:ext>
            </a:extLst>
          </p:cNvPr>
          <p:cNvPicPr>
            <a:picLocks noChangeAspect="1"/>
          </p:cNvPicPr>
          <p:nvPr/>
        </p:nvPicPr>
        <p:blipFill>
          <a:blip r:embed="rId4" cstate="print">
            <a:extLst>
              <a:ext uri="{28A0092B-C50C-407E-A947-70E740481C1C}">
                <a14:useLocalDpi xmlns:a14="http://schemas.microsoft.com/office/drawing/2010/main" val="0"/>
              </a:ext>
            </a:extLst>
          </a:blip>
          <a:srcRect t="6493" b="6493"/>
          <a:stretch/>
        </p:blipFill>
        <p:spPr>
          <a:xfrm>
            <a:off x="626806" y="226838"/>
            <a:ext cx="1831914" cy="1831914"/>
          </a:xfrm>
          <a:prstGeom prst="flowChartConnector">
            <a:avLst/>
          </a:prstGeom>
        </p:spPr>
      </p:pic>
      <p:cxnSp>
        <p:nvCxnSpPr>
          <p:cNvPr id="11" name="Straight Connector 10">
            <a:extLst>
              <a:ext uri="{FF2B5EF4-FFF2-40B4-BE49-F238E27FC236}">
                <a16:creationId xmlns:a16="http://schemas.microsoft.com/office/drawing/2014/main" id="{D471C654-BA49-A4E1-EBF5-59001B7B7AB8}"/>
              </a:ext>
            </a:extLst>
          </p:cNvPr>
          <p:cNvCxnSpPr>
            <a:cxnSpLocks/>
            <a:stCxn id="12" idx="4"/>
          </p:cNvCxnSpPr>
          <p:nvPr/>
        </p:nvCxnSpPr>
        <p:spPr>
          <a:xfrm>
            <a:off x="3014080" y="1215357"/>
            <a:ext cx="1423" cy="5642643"/>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3619194-F785-0B3F-1173-E1BD48B0B67D}"/>
              </a:ext>
            </a:extLst>
          </p:cNvPr>
          <p:cNvSpPr/>
          <p:nvPr/>
        </p:nvSpPr>
        <p:spPr>
          <a:xfrm>
            <a:off x="2933398" y="1053993"/>
            <a:ext cx="161364" cy="161364"/>
          </a:xfrm>
          <a:prstGeom prst="ellipse">
            <a:avLst/>
          </a:prstGeom>
          <a:solidFill>
            <a:schemeClr val="bg1"/>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3" name="Oval 12">
            <a:extLst>
              <a:ext uri="{FF2B5EF4-FFF2-40B4-BE49-F238E27FC236}">
                <a16:creationId xmlns:a16="http://schemas.microsoft.com/office/drawing/2014/main" id="{2DF965E2-D253-B390-7455-4CD3A6BD9E92}"/>
              </a:ext>
            </a:extLst>
          </p:cNvPr>
          <p:cNvSpPr/>
          <p:nvPr/>
        </p:nvSpPr>
        <p:spPr>
          <a:xfrm>
            <a:off x="2933398" y="1943136"/>
            <a:ext cx="161364" cy="161364"/>
          </a:xfrm>
          <a:prstGeom prst="ellipse">
            <a:avLst/>
          </a:prstGeom>
          <a:solidFill>
            <a:schemeClr val="bg1"/>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5" name="Oval 14">
            <a:extLst>
              <a:ext uri="{FF2B5EF4-FFF2-40B4-BE49-F238E27FC236}">
                <a16:creationId xmlns:a16="http://schemas.microsoft.com/office/drawing/2014/main" id="{0F85B6C1-184F-BBF9-C62F-E278F0AFAE89}"/>
              </a:ext>
            </a:extLst>
          </p:cNvPr>
          <p:cNvSpPr/>
          <p:nvPr/>
        </p:nvSpPr>
        <p:spPr>
          <a:xfrm>
            <a:off x="2933398" y="5297139"/>
            <a:ext cx="161364" cy="161364"/>
          </a:xfrm>
          <a:prstGeom prst="ellipse">
            <a:avLst/>
          </a:prstGeom>
          <a:solidFill>
            <a:schemeClr val="bg1"/>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Oval 17">
            <a:extLst>
              <a:ext uri="{FF2B5EF4-FFF2-40B4-BE49-F238E27FC236}">
                <a16:creationId xmlns:a16="http://schemas.microsoft.com/office/drawing/2014/main" id="{612C6D95-9B4F-74C3-1F57-DC36A85F4B1B}"/>
              </a:ext>
            </a:extLst>
          </p:cNvPr>
          <p:cNvSpPr/>
          <p:nvPr/>
        </p:nvSpPr>
        <p:spPr>
          <a:xfrm>
            <a:off x="2931112" y="2918356"/>
            <a:ext cx="161364" cy="161364"/>
          </a:xfrm>
          <a:prstGeom prst="ellipse">
            <a:avLst/>
          </a:prstGeom>
          <a:solidFill>
            <a:schemeClr val="bg1"/>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0" name="Oval 19">
            <a:extLst>
              <a:ext uri="{FF2B5EF4-FFF2-40B4-BE49-F238E27FC236}">
                <a16:creationId xmlns:a16="http://schemas.microsoft.com/office/drawing/2014/main" id="{AD96E6CA-D436-AA32-DF87-BFA99DDB1580}"/>
              </a:ext>
            </a:extLst>
          </p:cNvPr>
          <p:cNvSpPr/>
          <p:nvPr/>
        </p:nvSpPr>
        <p:spPr>
          <a:xfrm>
            <a:off x="2931112" y="3691496"/>
            <a:ext cx="161364" cy="161364"/>
          </a:xfrm>
          <a:prstGeom prst="ellipse">
            <a:avLst/>
          </a:prstGeom>
          <a:solidFill>
            <a:schemeClr val="bg1"/>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26" name="Straight Connector 25">
            <a:extLst>
              <a:ext uri="{FF2B5EF4-FFF2-40B4-BE49-F238E27FC236}">
                <a16:creationId xmlns:a16="http://schemas.microsoft.com/office/drawing/2014/main" id="{A53B397C-B2D6-0AC3-08A9-62EBCF42868D}"/>
              </a:ext>
            </a:extLst>
          </p:cNvPr>
          <p:cNvCxnSpPr>
            <a:cxnSpLocks/>
          </p:cNvCxnSpPr>
          <p:nvPr/>
        </p:nvCxnSpPr>
        <p:spPr>
          <a:xfrm flipV="1">
            <a:off x="10204604" y="1053993"/>
            <a:ext cx="0" cy="5245207"/>
          </a:xfrm>
          <a:prstGeom prst="line">
            <a:avLst/>
          </a:prstGeom>
          <a:ln w="3175">
            <a:solidFill>
              <a:srgbClr val="002060">
                <a:alpha val="80000"/>
              </a:srgbClr>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26748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859D5-A466-C909-7332-3537EE9027D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0FCFE60-0684-D7EA-15A9-01078CD0765B}"/>
              </a:ext>
            </a:extLst>
          </p:cNvPr>
          <p:cNvSpPr/>
          <p:nvPr/>
        </p:nvSpPr>
        <p:spPr>
          <a:xfrm>
            <a:off x="0" y="1"/>
            <a:ext cx="3152100"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4">
            <a:extLst>
              <a:ext uri="{FF2B5EF4-FFF2-40B4-BE49-F238E27FC236}">
                <a16:creationId xmlns:a16="http://schemas.microsoft.com/office/drawing/2014/main" id="{2ED1294D-593D-B778-D723-69A29D850D20}"/>
              </a:ext>
            </a:extLst>
          </p:cNvPr>
          <p:cNvSpPr txBox="1">
            <a:spLocks/>
          </p:cNvSpPr>
          <p:nvPr/>
        </p:nvSpPr>
        <p:spPr>
          <a:xfrm>
            <a:off x="3218181" y="136928"/>
            <a:ext cx="6124104" cy="990600"/>
          </a:xfrm>
          <a:prstGeom prst="rect">
            <a:avLst/>
          </a:prstGeom>
        </p:spPr>
        <p:txBody>
          <a:bodyPr>
            <a:noAutofit/>
          </a:bodyPr>
          <a:lstStyle>
            <a:lvl1pPr algn="l" defTabSz="685800" rtl="0" eaLnBrk="1" latinLnBrk="0" hangingPunct="1">
              <a:lnSpc>
                <a:spcPct val="80000"/>
              </a:lnSpc>
              <a:spcBef>
                <a:spcPct val="0"/>
              </a:spcBef>
              <a:buNone/>
              <a:defRPr sz="2400" kern="1200">
                <a:solidFill>
                  <a:schemeClr val="accent1"/>
                </a:solidFill>
                <a:latin typeface="+mj-lt"/>
                <a:ea typeface="+mj-ea"/>
                <a:cs typeface="+mj-cs"/>
              </a:defRPr>
            </a:lvl1pPr>
          </a:lstStyle>
          <a:p>
            <a:pPr marL="0" marR="0" lvl="0" indent="0" algn="l" defTabSz="685800" rtl="0" eaLnBrk="1" fontAlgn="auto" latinLnBrk="0" hangingPunct="1">
              <a:lnSpc>
                <a:spcPct val="80000"/>
              </a:lnSpc>
              <a:spcBef>
                <a:spcPct val="0"/>
              </a:spcBef>
              <a:spcAft>
                <a:spcPts val="0"/>
              </a:spcAft>
              <a:buClrTx/>
              <a:buSzTx/>
              <a:buFontTx/>
              <a:buNone/>
              <a:tabLst/>
              <a:defRPr/>
            </a:pPr>
            <a:r>
              <a:rPr kumimoji="0" lang="en-US" altLang="fi-FI" sz="3200" b="1" i="0" u="none" strike="noStrike" kern="1200" cap="none" spc="0" normalizeH="0" baseline="0" noProof="0" dirty="0">
                <a:ln>
                  <a:noFill/>
                </a:ln>
                <a:solidFill>
                  <a:srgbClr val="002060"/>
                </a:solidFill>
                <a:effectLst/>
                <a:uLnTx/>
                <a:uFillTx/>
                <a:latin typeface="Arial Black" panose="020B0604020202020204" pitchFamily="34" charset="0"/>
                <a:ea typeface="+mj-ea"/>
                <a:cs typeface="Arial Black" panose="020B0604020202020204" pitchFamily="34" charset="0"/>
              </a:rPr>
              <a:t>Tom Morgan</a:t>
            </a:r>
            <a:endParaRPr kumimoji="0" lang="en-US" sz="3200" b="1" i="0" u="none" strike="noStrike" kern="1200" cap="none" spc="0" normalizeH="0" baseline="0" noProof="0" dirty="0">
              <a:ln>
                <a:noFill/>
              </a:ln>
              <a:solidFill>
                <a:srgbClr val="002060"/>
              </a:solidFill>
              <a:effectLst/>
              <a:uLnTx/>
              <a:uFillTx/>
              <a:latin typeface="Arial Black" panose="020B0604020202020204" pitchFamily="34" charset="0"/>
              <a:ea typeface="+mj-ea"/>
              <a:cs typeface="Arial Black" panose="020B0604020202020204" pitchFamily="34" charset="0"/>
            </a:endParaRPr>
          </a:p>
        </p:txBody>
      </p:sp>
      <p:sp>
        <p:nvSpPr>
          <p:cNvPr id="16" name="Content Placeholder 15">
            <a:extLst>
              <a:ext uri="{FF2B5EF4-FFF2-40B4-BE49-F238E27FC236}">
                <a16:creationId xmlns:a16="http://schemas.microsoft.com/office/drawing/2014/main" id="{46656626-DC83-B5F7-0182-DF7D616BFF19}"/>
              </a:ext>
            </a:extLst>
          </p:cNvPr>
          <p:cNvSpPr>
            <a:spLocks noGrp="1"/>
          </p:cNvSpPr>
          <p:nvPr>
            <p:ph idx="1"/>
          </p:nvPr>
        </p:nvSpPr>
        <p:spPr>
          <a:xfrm>
            <a:off x="166582" y="2362202"/>
            <a:ext cx="2749350" cy="3813174"/>
          </a:xfrm>
        </p:spPr>
        <p:txBody>
          <a:bodyPr>
            <a:noAutofit/>
          </a:bodyPr>
          <a:lstStyle/>
          <a:p>
            <a:pPr>
              <a:lnSpc>
                <a:spcPct val="80000"/>
              </a:lnSpc>
              <a:spcAft>
                <a:spcPts val="450"/>
              </a:spcAft>
            </a:pPr>
            <a:r>
              <a:rPr lang="en-GB" sz="900" dirty="0">
                <a:solidFill>
                  <a:schemeClr val="bg1"/>
                </a:solidFill>
                <a:latin typeface="Verdana Pro" panose="020F0502020204030204" pitchFamily="34" charset="0"/>
                <a:cs typeface="Arial" panose="020B0604020202020204" pitchFamily="34" charset="0"/>
              </a:rPr>
              <a:t>Professional Background</a:t>
            </a:r>
          </a:p>
          <a:p>
            <a:pPr>
              <a:spcBef>
                <a:spcPts val="600"/>
              </a:spcBef>
              <a:spcAft>
                <a:spcPts val="600"/>
              </a:spcAft>
            </a:pPr>
            <a:r>
              <a:rPr lang="en-GB" altLang="zh-CN" sz="900" dirty="0">
                <a:solidFill>
                  <a:schemeClr val="bg1"/>
                </a:solidFill>
                <a:latin typeface="Verdana Pro" panose="020F0502020204030204" pitchFamily="34" charset="0"/>
                <a:cs typeface="Arial" panose="020B0604020202020204" pitchFamily="34" charset="0"/>
                <a:sym typeface="+mn-lt"/>
              </a:rPr>
              <a:t>A data solutions and development professional with 9+ years’ experience, passionate about visualisation and AI to facilitate and accelerate data driven decision making.</a:t>
            </a:r>
          </a:p>
          <a:p>
            <a:pPr>
              <a:spcBef>
                <a:spcPts val="600"/>
              </a:spcBef>
              <a:spcAft>
                <a:spcPts val="600"/>
              </a:spcAft>
            </a:pPr>
            <a:r>
              <a:rPr lang="en-GB" altLang="zh-CN" sz="900" dirty="0">
                <a:solidFill>
                  <a:schemeClr val="bg1"/>
                </a:solidFill>
                <a:latin typeface="Verdana Pro" panose="020F0502020204030204" pitchFamily="34" charset="0"/>
                <a:cs typeface="Arial" panose="020B0604020202020204" pitchFamily="34" charset="0"/>
                <a:sym typeface="+mn-lt"/>
              </a:rPr>
              <a:t>I have extensive experience in scoping, designing, directing, developing and demonstrating dashboard creation across various tools. I also have experience in I have directed development of Gen AI solutions.</a:t>
            </a:r>
          </a:p>
          <a:p>
            <a:pPr>
              <a:spcBef>
                <a:spcPts val="600"/>
              </a:spcBef>
              <a:spcAft>
                <a:spcPts val="600"/>
              </a:spcAft>
            </a:pPr>
            <a:r>
              <a:rPr lang="en-GB" altLang="zh-CN" sz="900" dirty="0">
                <a:solidFill>
                  <a:schemeClr val="bg1"/>
                </a:solidFill>
                <a:latin typeface="Verdana Pro" panose="020F0502020204030204" pitchFamily="34" charset="0"/>
                <a:cs typeface="Arial" panose="020B0604020202020204" pitchFamily="34" charset="0"/>
                <a:sym typeface="+mn-lt"/>
              </a:rPr>
              <a:t>As well as my technical knowledge I can engage with key stakeholders to understand the desired outcome and lead other developers to achieve this. Examples of this include creating data quality tools, advanced prototypes and Gen AI data extraction capabilities.</a:t>
            </a:r>
          </a:p>
          <a:p>
            <a:pPr>
              <a:spcBef>
                <a:spcPts val="600"/>
              </a:spcBef>
              <a:spcAft>
                <a:spcPts val="600"/>
              </a:spcAft>
            </a:pPr>
            <a:r>
              <a:rPr lang="en-GB" altLang="zh-CN" sz="900" dirty="0">
                <a:solidFill>
                  <a:schemeClr val="bg1"/>
                </a:solidFill>
                <a:latin typeface="Verdana Pro" panose="020F0502020204030204" pitchFamily="34" charset="0"/>
                <a:cs typeface="Arial" panose="020B0604020202020204" pitchFamily="34" charset="0"/>
                <a:sym typeface="+mn-lt"/>
              </a:rPr>
              <a:t>I </a:t>
            </a:r>
          </a:p>
          <a:p>
            <a:pPr algn="just"/>
            <a:endParaRPr lang="en-GB" sz="600" dirty="0">
              <a:solidFill>
                <a:schemeClr val="bg1"/>
              </a:solidFill>
              <a:latin typeface="Verdana Pro" panose="020F0502020204030204" pitchFamily="34" charset="0"/>
              <a:cs typeface="Arial" panose="020B0604020202020204" pitchFamily="34" charset="0"/>
            </a:endParaRPr>
          </a:p>
        </p:txBody>
      </p:sp>
      <p:sp>
        <p:nvSpPr>
          <p:cNvPr id="17" name="Content Placeholder 16">
            <a:extLst>
              <a:ext uri="{FF2B5EF4-FFF2-40B4-BE49-F238E27FC236}">
                <a16:creationId xmlns:a16="http://schemas.microsoft.com/office/drawing/2014/main" id="{4B6244ED-57FA-2964-F228-3B9605558A90}"/>
              </a:ext>
            </a:extLst>
          </p:cNvPr>
          <p:cNvSpPr>
            <a:spLocks noGrp="1"/>
          </p:cNvSpPr>
          <p:nvPr>
            <p:ph idx="13"/>
          </p:nvPr>
        </p:nvSpPr>
        <p:spPr>
          <a:xfrm>
            <a:off x="9248321" y="731520"/>
            <a:ext cx="2612100" cy="5315126"/>
          </a:xfrm>
          <a:solidFill>
            <a:schemeClr val="bg1"/>
          </a:solidFill>
        </p:spPr>
        <p:txBody>
          <a:bodyPr>
            <a:normAutofit lnSpcReduction="10000"/>
          </a:bodyPr>
          <a:lstStyle/>
          <a:p>
            <a:pPr>
              <a:spcAft>
                <a:spcPts val="200"/>
              </a:spcAft>
            </a:pPr>
            <a:r>
              <a:rPr lang="en-GB" sz="1200" b="1" dirty="0">
                <a:solidFill>
                  <a:srgbClr val="002060"/>
                </a:solidFill>
                <a:latin typeface="Arial Black" panose="020B0604020202020204" pitchFamily="34" charset="0"/>
                <a:cs typeface="Arial Black" panose="020B0604020202020204" pitchFamily="34" charset="0"/>
              </a:rPr>
              <a:t>Functional Skills</a:t>
            </a:r>
          </a:p>
          <a:p>
            <a:pPr marL="99450" indent="-99450">
              <a:spcAft>
                <a:spcPts val="200"/>
              </a:spcAft>
              <a:buSzPct val="80000"/>
              <a:buFont typeface="System Font Regular"/>
              <a:buChar char="●"/>
            </a:pPr>
            <a:endParaRPr lang="en-GB" sz="1000" dirty="0">
              <a:latin typeface="Arial" panose="020B0604020202020204" pitchFamily="34" charset="0"/>
              <a:cs typeface="Arial" panose="020B0604020202020204" pitchFamily="34" charset="0"/>
            </a:endParaRP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Data Visualisation</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Data Analytics</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Stakeholder Management</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Information Design</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Technical Leading</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Generative AI</a:t>
            </a:r>
          </a:p>
          <a:p>
            <a:pPr>
              <a:spcAft>
                <a:spcPts val="200"/>
              </a:spcAft>
              <a:buSzPct val="80000"/>
            </a:pPr>
            <a:endParaRPr lang="en-GB" sz="1000" dirty="0">
              <a:latin typeface="Arial" panose="020B0604020202020204" pitchFamily="34" charset="0"/>
              <a:cs typeface="Arial" panose="020B0604020202020204" pitchFamily="34" charset="0"/>
            </a:endParaRPr>
          </a:p>
          <a:p>
            <a:pPr>
              <a:spcAft>
                <a:spcPts val="200"/>
              </a:spcAft>
            </a:pPr>
            <a:r>
              <a:rPr lang="en-GB" sz="1200" b="1" dirty="0">
                <a:solidFill>
                  <a:srgbClr val="002060"/>
                </a:solidFill>
                <a:latin typeface="Arial Black" panose="020B0604020202020204" pitchFamily="34" charset="0"/>
                <a:cs typeface="Arial Black" panose="020B0604020202020204" pitchFamily="34" charset="0"/>
              </a:rPr>
              <a:t>Technical Skills</a:t>
            </a:r>
          </a:p>
          <a:p>
            <a:pPr>
              <a:spcAft>
                <a:spcPts val="200"/>
              </a:spcAft>
            </a:pPr>
            <a:endParaRPr lang="en-GB" sz="1200" b="1" dirty="0">
              <a:solidFill>
                <a:srgbClr val="A100FF"/>
              </a:solidFill>
              <a:latin typeface="Arial Black" panose="020B0604020202020204" pitchFamily="34" charset="0"/>
              <a:cs typeface="Arial Black" panose="020B0604020202020204" pitchFamily="34" charset="0"/>
            </a:endParaRP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Tableau</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Power BI</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Qlik Sense</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Workshop</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SQL</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Python</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HTML</a:t>
            </a:r>
          </a:p>
          <a:p>
            <a:pPr>
              <a:spcAft>
                <a:spcPts val="200"/>
              </a:spcAft>
            </a:pPr>
            <a:endParaRPr lang="en-GB" sz="1200" b="1" dirty="0">
              <a:solidFill>
                <a:schemeClr val="accent1"/>
              </a:solidFill>
              <a:latin typeface="Arial Black" panose="020B0604020202020204" pitchFamily="34" charset="0"/>
              <a:cs typeface="Arial Black" panose="020B0604020202020204" pitchFamily="34" charset="0"/>
            </a:endParaRPr>
          </a:p>
          <a:p>
            <a:pPr>
              <a:spcAft>
                <a:spcPts val="200"/>
              </a:spcAft>
            </a:pPr>
            <a:r>
              <a:rPr lang="en-GB" sz="1200" b="1" dirty="0">
                <a:solidFill>
                  <a:srgbClr val="002060"/>
                </a:solidFill>
                <a:latin typeface="Arial Black" panose="020B0604020202020204" pitchFamily="34" charset="0"/>
                <a:cs typeface="Arial Black" panose="020B0604020202020204" pitchFamily="34" charset="0"/>
              </a:rPr>
              <a:t>Industry Experience</a:t>
            </a:r>
          </a:p>
          <a:p>
            <a:pPr marL="99450" indent="-99450">
              <a:spcAft>
                <a:spcPts val="200"/>
              </a:spcAft>
              <a:buSzPct val="80000"/>
              <a:buFont typeface="System Font Regular"/>
              <a:buChar char="●"/>
            </a:pPr>
            <a:endParaRPr lang="en-GB" sz="1000" dirty="0">
              <a:latin typeface="Arial" panose="020B0604020202020204" pitchFamily="34" charset="0"/>
              <a:cs typeface="Arial" panose="020B0604020202020204" pitchFamily="34" charset="0"/>
            </a:endParaRP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Health</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Retail</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Financial Services</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Sustainability</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Energy</a:t>
            </a:r>
          </a:p>
          <a:p>
            <a:pPr>
              <a:spcAft>
                <a:spcPts val="200"/>
              </a:spcAft>
              <a:buSzPct val="80000"/>
            </a:pPr>
            <a:endParaRPr lang="en-GB" sz="1000" dirty="0">
              <a:solidFill>
                <a:srgbClr val="000000"/>
              </a:solidFill>
              <a:latin typeface="Arial" panose="020B0604020202020204" pitchFamily="34" charset="0"/>
              <a:cs typeface="Arial" panose="020B0604020202020204" pitchFamily="34" charset="0"/>
            </a:endParaRPr>
          </a:p>
          <a:p>
            <a:pPr>
              <a:spcAft>
                <a:spcPts val="200"/>
              </a:spcAft>
            </a:pPr>
            <a:r>
              <a:rPr lang="en-GB" sz="1200" b="1" dirty="0">
                <a:solidFill>
                  <a:srgbClr val="002060"/>
                </a:solidFill>
                <a:latin typeface="Arial Black" panose="020B0604020202020204" pitchFamily="34" charset="0"/>
                <a:cs typeface="Arial Black" panose="020B0604020202020204" pitchFamily="34" charset="0"/>
              </a:rPr>
              <a:t>Education</a:t>
            </a:r>
          </a:p>
          <a:p>
            <a:pPr marL="99450" indent="-99450">
              <a:spcAft>
                <a:spcPts val="200"/>
              </a:spcAft>
              <a:buSzPct val="80000"/>
              <a:buFont typeface="System Font Regular"/>
              <a:buChar char="●"/>
            </a:pPr>
            <a:endParaRPr lang="en-GB" sz="1000" dirty="0">
              <a:latin typeface="Arial" panose="020B0604020202020204" pitchFamily="34" charset="0"/>
              <a:cs typeface="Arial" panose="020B0604020202020204" pitchFamily="34" charset="0"/>
            </a:endParaRP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BSc Mathematics, Loughborough University</a:t>
            </a:r>
          </a:p>
          <a:p>
            <a:pPr marL="99450" indent="-99450">
              <a:spcAft>
                <a:spcPts val="200"/>
              </a:spcAft>
              <a:buSzPct val="80000"/>
              <a:buFont typeface="System Font Regular"/>
              <a:buChar char="●"/>
            </a:pPr>
            <a:r>
              <a:rPr lang="en-GB" sz="1000" dirty="0">
                <a:latin typeface="Arial" panose="020B0604020202020204" pitchFamily="34" charset="0"/>
                <a:cs typeface="Arial" panose="020B0604020202020204" pitchFamily="34" charset="0"/>
              </a:rPr>
              <a:t>MSc Financial Economics, University of Leicester</a:t>
            </a:r>
          </a:p>
          <a:p>
            <a:pPr>
              <a:spcAft>
                <a:spcPts val="450"/>
              </a:spcAft>
              <a:buSzPct val="80000"/>
            </a:pPr>
            <a:endParaRPr lang="en-GB" sz="900" dirty="0">
              <a:latin typeface="Arial" panose="020B0604020202020204" pitchFamily="34" charset="0"/>
              <a:cs typeface="Arial" panose="020B0604020202020204" pitchFamily="34" charset="0"/>
            </a:endParaRPr>
          </a:p>
        </p:txBody>
      </p:sp>
      <p:sp>
        <p:nvSpPr>
          <p:cNvPr id="22" name="Content Placeholder 17">
            <a:extLst>
              <a:ext uri="{FF2B5EF4-FFF2-40B4-BE49-F238E27FC236}">
                <a16:creationId xmlns:a16="http://schemas.microsoft.com/office/drawing/2014/main" id="{9D6B9DAF-BC8E-1411-A8D9-C57A03A43E02}"/>
              </a:ext>
            </a:extLst>
          </p:cNvPr>
          <p:cNvSpPr>
            <a:spLocks noGrp="1"/>
          </p:cNvSpPr>
          <p:nvPr>
            <p:ph idx="14"/>
          </p:nvPr>
        </p:nvSpPr>
        <p:spPr>
          <a:xfrm>
            <a:off x="6429172" y="1240815"/>
            <a:ext cx="2612100" cy="4577797"/>
          </a:xfrm>
        </p:spPr>
        <p:txBody>
          <a:bodyPr>
            <a:normAutofit fontScale="92500" lnSpcReduction="10000"/>
          </a:bodyPr>
          <a:lstStyle/>
          <a:p>
            <a:pPr lvl="0">
              <a:spcAft>
                <a:spcPts val="600"/>
              </a:spcAft>
            </a:pPr>
            <a:endParaRPr lang="en-GB" sz="1000" b="1" dirty="0">
              <a:solidFill>
                <a:prstClr val="black"/>
              </a:solidFill>
              <a:latin typeface="Arial" panose="020B0604020202020204" pitchFamily="34" charset="0"/>
              <a:cs typeface="Arial" panose="020B0604020202020204" pitchFamily="34" charset="0"/>
            </a:endParaRPr>
          </a:p>
          <a:p>
            <a:pPr lvl="0">
              <a:spcAft>
                <a:spcPts val="600"/>
              </a:spcAft>
            </a:pPr>
            <a:r>
              <a:rPr lang="en-GB" sz="1000" b="1" u="sng" dirty="0">
                <a:solidFill>
                  <a:prstClr val="black"/>
                </a:solidFill>
                <a:latin typeface="Arial" panose="020B0604020202020204" pitchFamily="34" charset="0"/>
                <a:cs typeface="Arial" panose="020B0604020202020204" pitchFamily="34" charset="0"/>
              </a:rPr>
              <a:t>Lloyds Banking Group</a:t>
            </a:r>
          </a:p>
          <a:p>
            <a:pPr lvl="0">
              <a:spcAft>
                <a:spcPts val="600"/>
              </a:spcAft>
            </a:pPr>
            <a:r>
              <a:rPr lang="en-GB" sz="1000" b="1" dirty="0">
                <a:solidFill>
                  <a:prstClr val="black"/>
                </a:solidFill>
                <a:latin typeface="Arial" panose="020B0604020202020204" pitchFamily="34" charset="0"/>
                <a:cs typeface="Arial" panose="020B0604020202020204" pitchFamily="34" charset="0"/>
              </a:rPr>
              <a:t>Project 2</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Directing development of Power BI dashboards to report on board level metrics</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Regular communication with board level personnel, leading demonstrations and revisiting project scope </a:t>
            </a:r>
          </a:p>
          <a:p>
            <a:pPr lvl="0">
              <a:spcAft>
                <a:spcPts val="600"/>
              </a:spcAft>
            </a:pPr>
            <a:r>
              <a:rPr lang="en-GB" sz="1000" b="1" dirty="0">
                <a:solidFill>
                  <a:prstClr val="black"/>
                </a:solidFill>
                <a:latin typeface="Arial" panose="020B0604020202020204" pitchFamily="34" charset="0"/>
                <a:cs typeface="Arial" panose="020B0604020202020204" pitchFamily="34" charset="0"/>
              </a:rPr>
              <a:t>Project 1</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Development of data quality dashboards in Tableau</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Leading production of developed product and training for handover</a:t>
            </a:r>
          </a:p>
          <a:p>
            <a:pPr lvl="0">
              <a:spcAft>
                <a:spcPts val="600"/>
              </a:spcAft>
            </a:pPr>
            <a:endParaRPr lang="en-GB" sz="1000" dirty="0">
              <a:solidFill>
                <a:prstClr val="black"/>
              </a:solidFill>
              <a:latin typeface="Arial" panose="020B0604020202020204" pitchFamily="34" charset="0"/>
              <a:cs typeface="Arial" panose="020B0604020202020204" pitchFamily="34" charset="0"/>
            </a:endParaRPr>
          </a:p>
          <a:p>
            <a:pPr lvl="0">
              <a:spcAft>
                <a:spcPts val="600"/>
              </a:spcAft>
            </a:pPr>
            <a:r>
              <a:rPr lang="en-GB" sz="1000" b="1" u="sng" dirty="0">
                <a:solidFill>
                  <a:prstClr val="black"/>
                </a:solidFill>
                <a:latin typeface="Arial" panose="020B0604020202020204" pitchFamily="34" charset="0"/>
                <a:cs typeface="Arial" panose="020B0604020202020204" pitchFamily="34" charset="0"/>
              </a:rPr>
              <a:t>UK Health Security Agency</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Supporting the UKHSA with the covid-19 pandemic </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Assisting the Head of Visualisation on key strategic planning and helping direct the team</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Undertaking and directing on dashboard development and delivering marketing and training sessions and artefacts to upskill the business in Qlik Sense</a:t>
            </a:r>
          </a:p>
          <a:p>
            <a:pPr lvl="0">
              <a:spcAft>
                <a:spcPts val="600"/>
              </a:spcAft>
            </a:pPr>
            <a:endParaRPr lang="en-GB" sz="1000" dirty="0">
              <a:solidFill>
                <a:prstClr val="black"/>
              </a:solidFill>
              <a:latin typeface="Arial" panose="020B0604020202020204" pitchFamily="34" charset="0"/>
              <a:cs typeface="Arial" panose="020B0604020202020204" pitchFamily="34" charset="0"/>
            </a:endParaRPr>
          </a:p>
          <a:p>
            <a:pPr lvl="0">
              <a:spcAft>
                <a:spcPts val="600"/>
              </a:spcAft>
            </a:pPr>
            <a:r>
              <a:rPr lang="en-GB" sz="1000" b="1" u="sng" dirty="0" err="1">
                <a:solidFill>
                  <a:prstClr val="black"/>
                </a:solidFill>
                <a:latin typeface="Arial" panose="020B0604020202020204" pitchFamily="34" charset="0"/>
                <a:cs typeface="Arial" panose="020B0604020202020204" pitchFamily="34" charset="0"/>
              </a:rPr>
              <a:t>Mudano</a:t>
            </a:r>
            <a:r>
              <a:rPr lang="en-GB" sz="1000" b="1" u="sng" dirty="0">
                <a:solidFill>
                  <a:prstClr val="black"/>
                </a:solidFill>
                <a:latin typeface="Arial" panose="020B0604020202020204" pitchFamily="34" charset="0"/>
                <a:cs typeface="Arial" panose="020B0604020202020204" pitchFamily="34" charset="0"/>
              </a:rPr>
              <a:t> data solutions</a:t>
            </a:r>
          </a:p>
          <a:p>
            <a:pPr marL="171450" lvl="0" indent="-171450">
              <a:spcAft>
                <a:spcPts val="600"/>
              </a:spcAft>
              <a:buFont typeface="Arial" panose="020B0604020202020204" pitchFamily="34" charset="0"/>
              <a:buChar char="•"/>
            </a:pPr>
            <a:r>
              <a:rPr lang="en-GB" sz="1000" dirty="0">
                <a:solidFill>
                  <a:prstClr val="black"/>
                </a:solidFill>
                <a:latin typeface="Arial" panose="020B0604020202020204" pitchFamily="34" charset="0"/>
                <a:cs typeface="Arial" panose="020B0604020202020204" pitchFamily="34" charset="0"/>
              </a:rPr>
              <a:t>Building prototypes for general demonstration to prospective clients e.g. </a:t>
            </a:r>
            <a:r>
              <a:rPr lang="en-GB" sz="1000" dirty="0" err="1">
                <a:solidFill>
                  <a:prstClr val="black"/>
                </a:solidFill>
                <a:latin typeface="Arial" panose="020B0604020202020204" pitchFamily="34" charset="0"/>
                <a:cs typeface="Arial" panose="020B0604020202020204" pitchFamily="34" charset="0"/>
              </a:rPr>
              <a:t>Obeya</a:t>
            </a:r>
            <a:r>
              <a:rPr lang="en-GB" sz="1000" dirty="0">
                <a:solidFill>
                  <a:prstClr val="black"/>
                </a:solidFill>
                <a:latin typeface="Arial" panose="020B0604020202020204" pitchFamily="34" charset="0"/>
                <a:cs typeface="Arial" panose="020B0604020202020204" pitchFamily="34" charset="0"/>
              </a:rPr>
              <a:t> flow dashboards, Data Management Experience etc </a:t>
            </a:r>
          </a:p>
          <a:p>
            <a:endParaRPr lang="en-GB" sz="1000" dirty="0">
              <a:latin typeface="Arial" panose="020B0604020202020204" pitchFamily="34" charset="0"/>
              <a:ea typeface="Arial Unicode MS" pitchFamily="34" charset="-128"/>
              <a:cs typeface="Arial" panose="020B0604020202020204" pitchFamily="34" charset="0"/>
            </a:endParaRPr>
          </a:p>
        </p:txBody>
      </p:sp>
      <p:sp>
        <p:nvSpPr>
          <p:cNvPr id="19" name="Content Placeholder 18">
            <a:extLst>
              <a:ext uri="{FF2B5EF4-FFF2-40B4-BE49-F238E27FC236}">
                <a16:creationId xmlns:a16="http://schemas.microsoft.com/office/drawing/2014/main" id="{6E6B7748-A951-28B0-9097-5E73D6353364}"/>
              </a:ext>
            </a:extLst>
          </p:cNvPr>
          <p:cNvSpPr>
            <a:spLocks noGrp="1"/>
          </p:cNvSpPr>
          <p:nvPr>
            <p:ph idx="15"/>
          </p:nvPr>
        </p:nvSpPr>
        <p:spPr>
          <a:xfrm>
            <a:off x="3359149" y="1240815"/>
            <a:ext cx="3032415" cy="4476353"/>
          </a:xfrm>
        </p:spPr>
        <p:txBody>
          <a:bodyPr vert="horz" lIns="0" tIns="0" rIns="0" bIns="0" rtlCol="0" anchor="t">
            <a:noAutofit/>
          </a:bodyPr>
          <a:lstStyle/>
          <a:p>
            <a:pPr>
              <a:lnSpc>
                <a:spcPct val="80000"/>
              </a:lnSpc>
              <a:spcAft>
                <a:spcPts val="450"/>
              </a:spcAft>
            </a:pPr>
            <a:r>
              <a:rPr lang="en-GB" sz="1400" b="1" dirty="0">
                <a:solidFill>
                  <a:srgbClr val="002060"/>
                </a:solidFill>
                <a:latin typeface="Arial Black"/>
                <a:ea typeface="Arial Unicode MS"/>
                <a:cs typeface="Arial Black" panose="020B0604020202020204" pitchFamily="34" charset="0"/>
              </a:rPr>
              <a:t>Project Experience</a:t>
            </a:r>
          </a:p>
          <a:p>
            <a:r>
              <a:rPr lang="en-GB" sz="900" b="1" u="sng" dirty="0">
                <a:solidFill>
                  <a:prstClr val="black"/>
                </a:solidFill>
                <a:latin typeface="Arial" panose="020B0604020202020204" pitchFamily="34" charset="0"/>
                <a:cs typeface="Arial" panose="020B0604020202020204" pitchFamily="34" charset="0"/>
              </a:rPr>
              <a:t>NHSE / Palantir</a:t>
            </a:r>
          </a:p>
          <a:p>
            <a:endParaRPr lang="en-GB" sz="900" b="1" u="sng" dirty="0">
              <a:solidFill>
                <a:prstClr val="black"/>
              </a:solidFill>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Working with Palantir to support report migration for the NHSE, specifically a Foundry Workshop dashboard highlighting patient waiting times</a:t>
            </a: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In addition to dashboard development, I also took on business analysis tasks, supported data engineering, led team meetings and demoed to NHSE leadership </a:t>
            </a:r>
          </a:p>
          <a:p>
            <a:r>
              <a:rPr lang="en-GB" sz="900" b="1" u="sng" dirty="0">
                <a:solidFill>
                  <a:prstClr val="black"/>
                </a:solidFill>
                <a:latin typeface="Arial" panose="020B0604020202020204" pitchFamily="34" charset="0"/>
                <a:cs typeface="Arial" panose="020B0604020202020204" pitchFamily="34" charset="0"/>
              </a:rPr>
              <a:t>Scottish Power</a:t>
            </a:r>
          </a:p>
          <a:p>
            <a:endParaRPr lang="en-GB" sz="900" b="1" u="sng" dirty="0">
              <a:solidFill>
                <a:prstClr val="black"/>
              </a:solidFill>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Initially came into the team as a Visualisation expert to help build </a:t>
            </a:r>
            <a:r>
              <a:rPr lang="en-GB" sz="900" dirty="0" err="1">
                <a:solidFill>
                  <a:prstClr val="black"/>
                </a:solidFill>
                <a:latin typeface="Arial" panose="020B0604020202020204" pitchFamily="34" charset="0"/>
                <a:cs typeface="Arial" panose="020B0604020202020204" pitchFamily="34" charset="0"/>
              </a:rPr>
              <a:t>PowerBI</a:t>
            </a:r>
            <a:r>
              <a:rPr lang="en-GB" sz="900" dirty="0">
                <a:solidFill>
                  <a:prstClr val="black"/>
                </a:solidFill>
                <a:latin typeface="Arial" panose="020B0604020202020204" pitchFamily="34" charset="0"/>
                <a:cs typeface="Arial" panose="020B0604020202020204" pitchFamily="34" charset="0"/>
              </a:rPr>
              <a:t> Dashboards within Scottish Power Complaints</a:t>
            </a: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Subsequently required to lead the team and manage deliverables including assessing Goodwill reporting and ombudsman risk</a:t>
            </a:r>
          </a:p>
          <a:p>
            <a:r>
              <a:rPr lang="en-GB" sz="900" b="1" u="sng" dirty="0">
                <a:solidFill>
                  <a:prstClr val="black"/>
                </a:solidFill>
                <a:latin typeface="Arial" panose="020B0604020202020204" pitchFamily="34" charset="0"/>
                <a:cs typeface="Arial" panose="020B0604020202020204" pitchFamily="34" charset="0"/>
              </a:rPr>
              <a:t>Supply Chain Decarbonisation Suite</a:t>
            </a:r>
          </a:p>
          <a:p>
            <a:endParaRPr lang="en-GB" sz="900" b="1" u="sng" dirty="0">
              <a:solidFill>
                <a:prstClr val="black"/>
              </a:solidFill>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Leading teams of data scientists to build Gen AI solutions</a:t>
            </a: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Focus on enhancing Sustainability processes by reducing manual effort by circa 90%</a:t>
            </a:r>
          </a:p>
          <a:p>
            <a:pPr marL="171450" indent="-171450">
              <a:spcAft>
                <a:spcPts val="600"/>
              </a:spcAft>
              <a:buFont typeface="Arial" panose="020B0604020202020204" pitchFamily="34" charset="0"/>
              <a:buChar char="•"/>
            </a:pPr>
            <a:r>
              <a:rPr lang="en-GB" sz="900" dirty="0">
                <a:solidFill>
                  <a:prstClr val="black"/>
                </a:solidFill>
                <a:latin typeface="Arial" panose="020B0604020202020204" pitchFamily="34" charset="0"/>
                <a:cs typeface="Arial" panose="020B0604020202020204" pitchFamily="34" charset="0"/>
              </a:rPr>
              <a:t>Directing stakeholder meetings to gather requirements and drive value</a:t>
            </a:r>
          </a:p>
        </p:txBody>
      </p:sp>
      <p:sp>
        <p:nvSpPr>
          <p:cNvPr id="21" name="TextBox 20">
            <a:extLst>
              <a:ext uri="{FF2B5EF4-FFF2-40B4-BE49-F238E27FC236}">
                <a16:creationId xmlns:a16="http://schemas.microsoft.com/office/drawing/2014/main" id="{00B0AA20-7E01-5A9D-2E26-87CEC295FEEB}"/>
              </a:ext>
            </a:extLst>
          </p:cNvPr>
          <p:cNvSpPr txBox="1"/>
          <p:nvPr/>
        </p:nvSpPr>
        <p:spPr>
          <a:xfrm>
            <a:off x="10262795" y="1731981"/>
            <a:ext cx="914400" cy="914400"/>
          </a:xfrm>
          <a:prstGeom prst="rect">
            <a:avLst/>
          </a:prstGeom>
        </p:spPr>
        <p:txBody>
          <a:bodyPr vert="horz" wrap="none" lIns="0" tIns="0" rIns="0" bIns="0" rtlCol="0" anchor="t">
            <a:normAutofit/>
          </a:bodyPr>
          <a:lstStyle/>
          <a:p>
            <a:pPr marL="0" marR="0" lvl="0" indent="0" algn="l" defTabSz="449263"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33F5B6B2-99D4-3BB4-0D85-BF988BF9D58C}"/>
              </a:ext>
            </a:extLst>
          </p:cNvPr>
          <p:cNvSpPr txBox="1"/>
          <p:nvPr/>
        </p:nvSpPr>
        <p:spPr>
          <a:xfrm>
            <a:off x="10508974" y="6467061"/>
            <a:ext cx="0" cy="0"/>
          </a:xfrm>
          <a:prstGeom prst="rect">
            <a:avLst/>
          </a:prstGeom>
          <a:noFill/>
        </p:spPr>
        <p:txBody>
          <a:bodyPr wrap="none" lIns="0" tIns="0" rIns="0" bIns="0" rtlCol="0">
            <a:noAutofit/>
          </a:bodyPr>
          <a:lstStyle/>
          <a:p>
            <a:pPr marL="0" marR="0" lvl="0" indent="0" algn="l" defTabSz="228600" rtl="0" eaLnBrk="0" fontAlgn="base" latinLnBrk="0" hangingPunct="0">
              <a:lnSpc>
                <a:spcPct val="100000"/>
              </a:lnSpc>
              <a:spcBef>
                <a:spcPct val="0"/>
              </a:spcBef>
              <a:spcAft>
                <a:spcPts val="1200"/>
              </a:spcAft>
              <a:buClrTx/>
              <a:buSzTx/>
              <a:buFontTx/>
              <a:buNone/>
              <a:tabLst/>
              <a:defRPr/>
            </a:pPr>
            <a:endParaRPr kumimoji="0" lang="en-LV"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6" name="Title 4">
            <a:extLst>
              <a:ext uri="{FF2B5EF4-FFF2-40B4-BE49-F238E27FC236}">
                <a16:creationId xmlns:a16="http://schemas.microsoft.com/office/drawing/2014/main" id="{03365B41-A37D-13B4-0B23-EE33CB15EE58}"/>
              </a:ext>
            </a:extLst>
          </p:cNvPr>
          <p:cNvSpPr txBox="1">
            <a:spLocks/>
          </p:cNvSpPr>
          <p:nvPr/>
        </p:nvSpPr>
        <p:spPr>
          <a:xfrm>
            <a:off x="3359149" y="573722"/>
            <a:ext cx="3972186" cy="276024"/>
          </a:xfrm>
          <a:prstGeom prst="rect">
            <a:avLst/>
          </a:prstGeom>
        </p:spPr>
        <p:txBody>
          <a:bodyPr vert="horz" lIns="0" tIns="0" rIns="0" bIns="0" rtlCol="0" anchor="t">
            <a:normAutofit/>
          </a:bodyPr>
          <a:lstStyle>
            <a:lvl1pPr algn="l" defTabSz="685800" rtl="0" eaLnBrk="1" latinLnBrk="0" hangingPunct="1">
              <a:lnSpc>
                <a:spcPct val="80000"/>
              </a:lnSpc>
              <a:spcBef>
                <a:spcPct val="0"/>
              </a:spcBef>
              <a:buNone/>
              <a:defRPr sz="3000" kern="1200">
                <a:solidFill>
                  <a:schemeClr val="accent1"/>
                </a:solidFill>
                <a:latin typeface="+mj-lt"/>
                <a:ea typeface="+mj-ea"/>
                <a:cs typeface="+mj-cs"/>
              </a:defRPr>
            </a:lvl1pPr>
          </a:lstStyle>
          <a:p>
            <a:pPr defTabSz="449263" eaLnBrk="0" fontAlgn="base" hangingPunct="0">
              <a:lnSpc>
                <a:spcPct val="100000"/>
              </a:lnSpc>
              <a:spcAft>
                <a:spcPct val="0"/>
              </a:spcAft>
              <a:defRPr/>
            </a:pPr>
            <a:r>
              <a:rPr lang="en-GB" sz="1400" dirty="0">
                <a:solidFill>
                  <a:srgbClr val="00206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t.morgan17@hotmail.co.uk</a:t>
            </a:r>
            <a:endParaRPr lang="en-GB" sz="1400" dirty="0">
              <a:solidFill>
                <a:srgbClr val="002060"/>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DC79DE36-933B-74E7-D62B-7A6779C54A1F}"/>
              </a:ext>
            </a:extLst>
          </p:cNvPr>
          <p:cNvCxnSpPr>
            <a:cxnSpLocks/>
          </p:cNvCxnSpPr>
          <p:nvPr/>
        </p:nvCxnSpPr>
        <p:spPr>
          <a:xfrm>
            <a:off x="461818" y="3200400"/>
            <a:ext cx="2124364"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8" name="Graphic 10">
            <a:extLst>
              <a:ext uri="{FF2B5EF4-FFF2-40B4-BE49-F238E27FC236}">
                <a16:creationId xmlns:a16="http://schemas.microsoft.com/office/drawing/2014/main" id="{CE8CD2C9-A312-496B-2E15-B0144CB4F8C9}"/>
              </a:ext>
            </a:extLst>
          </p:cNvPr>
          <p:cNvPicPr>
            <a:picLocks noChangeAspect="1"/>
          </p:cNvPicPr>
          <p:nvPr/>
        </p:nvPicPr>
        <p:blipFill>
          <a:blip r:embed="rId4" cstate="print">
            <a:extLst>
              <a:ext uri="{28A0092B-C50C-407E-A947-70E740481C1C}">
                <a14:useLocalDpi xmlns:a14="http://schemas.microsoft.com/office/drawing/2010/main" val="0"/>
              </a:ext>
            </a:extLst>
          </a:blip>
          <a:srcRect t="6493" b="6493"/>
          <a:stretch/>
        </p:blipFill>
        <p:spPr>
          <a:xfrm>
            <a:off x="626806" y="226838"/>
            <a:ext cx="1831914" cy="1831914"/>
          </a:xfrm>
          <a:prstGeom prst="flowChartConnector">
            <a:avLst/>
          </a:prstGeom>
        </p:spPr>
      </p:pic>
    </p:spTree>
    <p:extLst>
      <p:ext uri="{BB962C8B-B14F-4D97-AF65-F5344CB8AC3E}">
        <p14:creationId xmlns:p14="http://schemas.microsoft.com/office/powerpoint/2010/main" val="400403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 name="Table 96">
            <a:extLst>
              <a:ext uri="{FF2B5EF4-FFF2-40B4-BE49-F238E27FC236}">
                <a16:creationId xmlns:a16="http://schemas.microsoft.com/office/drawing/2014/main" id="{67931F84-CDCB-C4A7-8A82-5E384F971E9F}"/>
              </a:ext>
            </a:extLst>
          </p:cNvPr>
          <p:cNvGraphicFramePr>
            <a:graphicFrameLocks noGrp="1"/>
          </p:cNvGraphicFramePr>
          <p:nvPr>
            <p:extLst>
              <p:ext uri="{D42A27DB-BD31-4B8C-83A1-F6EECF244321}">
                <p14:modId xmlns:p14="http://schemas.microsoft.com/office/powerpoint/2010/main" val="4290887069"/>
              </p:ext>
            </p:extLst>
          </p:nvPr>
        </p:nvGraphicFramePr>
        <p:xfrm>
          <a:off x="9181832" y="118129"/>
          <a:ext cx="2888302" cy="6155814"/>
        </p:xfrm>
        <a:graphic>
          <a:graphicData uri="http://schemas.openxmlformats.org/drawingml/2006/table">
            <a:tbl>
              <a:tblPr firstRow="1" bandRow="1">
                <a:tableStyleId>{5C22544A-7EE6-4342-B048-85BDC9FD1C3A}</a:tableStyleId>
              </a:tblPr>
              <a:tblGrid>
                <a:gridCol w="1801399">
                  <a:extLst>
                    <a:ext uri="{9D8B030D-6E8A-4147-A177-3AD203B41FA5}">
                      <a16:colId xmlns:a16="http://schemas.microsoft.com/office/drawing/2014/main" val="1736056633"/>
                    </a:ext>
                  </a:extLst>
                </a:gridCol>
                <a:gridCol w="1086903">
                  <a:extLst>
                    <a:ext uri="{9D8B030D-6E8A-4147-A177-3AD203B41FA5}">
                      <a16:colId xmlns:a16="http://schemas.microsoft.com/office/drawing/2014/main" val="1116441375"/>
                    </a:ext>
                  </a:extLst>
                </a:gridCol>
              </a:tblGrid>
              <a:tr h="30890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TOP SKILLS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4047514762"/>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Visualisation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9922307"/>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Analytics</a:t>
                      </a:r>
                      <a:endParaRPr lang="en-GB" sz="1200" dirty="0">
                        <a:solidFill>
                          <a:srgbClr val="FFFFFF"/>
                        </a:solidFill>
                        <a:latin typeface="Graphik Ligh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12475489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Stakeholder Management</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600307940"/>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Information Design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44858369"/>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Technical Leading</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6103134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Generative AI</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866542702"/>
                  </a:ext>
                </a:extLst>
              </a:tr>
              <a:tr h="191341">
                <a:tc gridSpan="2">
                  <a:txBody>
                    <a:bodyPr/>
                    <a:lstStyle/>
                    <a:p>
                      <a:endParaRPr lang="en-GB" sz="1200"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79860975"/>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rPr>
                        <a:t>T</a:t>
                      </a: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OOLS &amp; FRAMEWORKS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91747032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FFFFFF"/>
                          </a:solidFill>
                          <a:effectLst/>
                          <a:uLnTx/>
                          <a:uFillTx/>
                          <a:latin typeface="Graphik Light" panose="020B0403030202060203" pitchFamily="34" charset="77"/>
                          <a:ea typeface="+mn-ea"/>
                          <a:cs typeface="+mn-cs"/>
                        </a:rPr>
                        <a:t>Tableau</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93285675"/>
                  </a:ext>
                </a:extLst>
              </a:tr>
              <a:tr h="22020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Power BI</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09748070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Qlik Sense</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79329782"/>
                  </a:ext>
                </a:extLst>
              </a:tr>
              <a:tr h="6378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SQL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31483627"/>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Python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60843632"/>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8779466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CERTIFICATIONS</a:t>
                      </a:r>
                      <a:endPar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endParaRP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11220417"/>
                  </a:ext>
                </a:extLst>
              </a:tr>
              <a:tr h="38269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Tableau Desktop Certified Associate (expired)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11057166"/>
                  </a:ext>
                </a:extLst>
              </a:tr>
              <a:tr h="23695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Mathematics BSc</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36837984"/>
                  </a:ext>
                </a:extLst>
              </a:tr>
              <a:tr h="245807">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Economics MSc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860709267"/>
                  </a:ext>
                </a:extLst>
              </a:tr>
              <a:tr h="249601">
                <a:tc gridSpan="2">
                  <a:txBody>
                    <a:bodyPr/>
                    <a:lstStyle/>
                    <a:p>
                      <a:endParaRPr lang="en-GB" sz="120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214770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INDUSTRY EXPERTISE</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88280489"/>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Retail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856594090"/>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Health</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588940046"/>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Services</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502121854"/>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Sustainability</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495268952"/>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Energy</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57086706"/>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65149420"/>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7784711"/>
                  </a:ext>
                </a:extLst>
              </a:tr>
            </a:tbl>
          </a:graphicData>
        </a:graphic>
      </p:graphicFrame>
      <p:sp>
        <p:nvSpPr>
          <p:cNvPr id="60" name="TextBox 59">
            <a:extLst>
              <a:ext uri="{FF2B5EF4-FFF2-40B4-BE49-F238E27FC236}">
                <a16:creationId xmlns:a16="http://schemas.microsoft.com/office/drawing/2014/main" id="{BC157F01-A997-E3BA-B974-0E9CF6E66FE8}"/>
              </a:ext>
            </a:extLst>
          </p:cNvPr>
          <p:cNvSpPr txBox="1"/>
          <p:nvPr/>
        </p:nvSpPr>
        <p:spPr>
          <a:xfrm>
            <a:off x="1" y="1244907"/>
            <a:ext cx="3101674" cy="1015663"/>
          </a:xfrm>
          <a:prstGeom prst="rect">
            <a:avLst/>
          </a:prstGeom>
          <a:noFill/>
          <a:ln>
            <a:noFill/>
          </a:ln>
        </p:spPr>
        <p:txBody>
          <a:bodyPr wrap="square">
            <a:spAutoFit/>
          </a:bodyPr>
          <a:lstStyle/>
          <a:p>
            <a:pPr>
              <a:spcBef>
                <a:spcPts val="600"/>
              </a:spcBef>
              <a:spcAft>
                <a:spcPts val="600"/>
              </a:spcAft>
            </a:pPr>
            <a:r>
              <a:rPr lang="en-GB" altLang="zh-CN" sz="1200" dirty="0">
                <a:solidFill>
                  <a:schemeClr val="bg1"/>
                </a:solidFill>
                <a:latin typeface="Graphik Light" panose="020B0403030202060203" pitchFamily="34" charset="0"/>
                <a:cs typeface="Arial" panose="020B0604020202020204" pitchFamily="34" charset="0"/>
                <a:sym typeface="+mn-lt"/>
              </a:rPr>
              <a:t>A data solutions and development professional with 9+ years’ experience, passionate about visualisation and AI to facilitate and accelerate data driven decision making.</a:t>
            </a:r>
          </a:p>
        </p:txBody>
      </p:sp>
      <p:sp>
        <p:nvSpPr>
          <p:cNvPr id="3" name="TextBox 2">
            <a:extLst>
              <a:ext uri="{FF2B5EF4-FFF2-40B4-BE49-F238E27FC236}">
                <a16:creationId xmlns:a16="http://schemas.microsoft.com/office/drawing/2014/main" id="{EC800AB6-5847-6C40-A453-CFC361127CAA}"/>
              </a:ext>
            </a:extLst>
          </p:cNvPr>
          <p:cNvSpPr txBox="1"/>
          <p:nvPr/>
        </p:nvSpPr>
        <p:spPr>
          <a:xfrm>
            <a:off x="804623" y="164605"/>
            <a:ext cx="2280918" cy="754053"/>
          </a:xfrm>
          <a:prstGeom prst="rect">
            <a:avLst/>
          </a:prstGeom>
          <a:noFill/>
        </p:spPr>
        <p:txBody>
          <a:bodyPr wrap="square" lIns="0" tIns="0" rIns="0" bIns="45720" rtlCol="0" anchor="t">
            <a:spAutoFit/>
          </a:bodyPr>
          <a:lstStyle/>
          <a:p>
            <a:pPr>
              <a:lnSpc>
                <a:spcPct val="100000"/>
              </a:lnSpc>
              <a:defRPr/>
            </a:pPr>
            <a:r>
              <a:rPr lang="en-GB" sz="1600" b="1" dirty="0">
                <a:solidFill>
                  <a:srgbClr val="FFFFFF"/>
                </a:solidFill>
                <a:latin typeface="Graphik Black" panose="020B0A03030202060203" pitchFamily="34" charset="0"/>
              </a:rPr>
              <a:t>Tom Morgan</a:t>
            </a:r>
            <a:endParaRPr lang="nl-BE" sz="1600" b="1" dirty="0">
              <a:solidFill>
                <a:srgbClr val="FFFFFF"/>
              </a:solidFill>
              <a:latin typeface="Graphik Black" panose="020B0A03030202060203" pitchFamily="34" charset="0"/>
            </a:endParaRPr>
          </a:p>
          <a:p>
            <a:pPr>
              <a:lnSpc>
                <a:spcPct val="100000"/>
              </a:lnSpc>
              <a:defRPr/>
            </a:pPr>
            <a:r>
              <a:rPr kumimoji="0" lang="nl-BE" sz="1000" b="0" i="0" u="none" strike="noStrike" kern="1200" cap="none" spc="0" normalizeH="0" baseline="0" noProof="0" dirty="0">
                <a:ln>
                  <a:noFill/>
                </a:ln>
                <a:solidFill>
                  <a:srgbClr val="FFFFFF"/>
                </a:solidFill>
                <a:effectLst/>
                <a:uLnTx/>
                <a:uFillTx/>
                <a:latin typeface="Graphik"/>
                <a:ea typeface="+mn-ea"/>
                <a:cs typeface="+mn-cs"/>
              </a:rPr>
              <a:t>Augmented Insights </a:t>
            </a:r>
          </a:p>
          <a:p>
            <a:pPr>
              <a:lnSpc>
                <a:spcPct val="100000"/>
              </a:lnSpc>
              <a:defRPr/>
            </a:pPr>
            <a:r>
              <a:rPr kumimoji="0" lang="nl-BE" sz="1000" b="0" i="0" u="none" strike="noStrike" kern="1200" cap="none" spc="0" normalizeH="0" baseline="0" noProof="0" dirty="0">
                <a:ln>
                  <a:noFill/>
                </a:ln>
                <a:solidFill>
                  <a:srgbClr val="FFFFFF"/>
                </a:solidFill>
                <a:effectLst/>
                <a:uLnTx/>
                <a:uFillTx/>
                <a:latin typeface="Graphik"/>
                <a:ea typeface="+mn-ea"/>
                <a:cs typeface="+mn-cs"/>
              </a:rPr>
              <a:t>Associate Manager</a:t>
            </a:r>
          </a:p>
          <a:p>
            <a:pPr>
              <a:lnSpc>
                <a:spcPct val="100000"/>
              </a:lnSpc>
              <a:defRPr/>
            </a:pPr>
            <a:r>
              <a:rPr lang="nl-BE" sz="1000" dirty="0">
                <a:solidFill>
                  <a:srgbClr val="FFFFFF"/>
                </a:solidFill>
                <a:latin typeface="Graphik"/>
              </a:rPr>
              <a:t>CL8</a:t>
            </a:r>
            <a:endParaRPr kumimoji="0" lang="en-GB" sz="10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0" name="TextBox 9">
            <a:extLst>
              <a:ext uri="{FF2B5EF4-FFF2-40B4-BE49-F238E27FC236}">
                <a16:creationId xmlns:a16="http://schemas.microsoft.com/office/drawing/2014/main" id="{46E059BB-6A42-5E42-8A4E-0BF0D2F63C10}"/>
              </a:ext>
            </a:extLst>
          </p:cNvPr>
          <p:cNvSpPr txBox="1"/>
          <p:nvPr/>
        </p:nvSpPr>
        <p:spPr>
          <a:xfrm>
            <a:off x="3425847" y="74239"/>
            <a:ext cx="3904376" cy="261610"/>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A100FF"/>
                </a:solidFill>
                <a:effectLst/>
                <a:uLnTx/>
                <a:uFillTx/>
                <a:latin typeface="Graphik Light" panose="020B0403030202060203" pitchFamily="34" charset="77"/>
                <a:ea typeface="+mn-ea"/>
                <a:cs typeface="+mn-cs"/>
              </a:rPr>
              <a:t>SELECTED EXPERIENCE</a:t>
            </a:r>
          </a:p>
        </p:txBody>
      </p:sp>
      <p:sp>
        <p:nvSpPr>
          <p:cNvPr id="20" name="Rectangle 19">
            <a:extLst>
              <a:ext uri="{FF2B5EF4-FFF2-40B4-BE49-F238E27FC236}">
                <a16:creationId xmlns:a16="http://schemas.microsoft.com/office/drawing/2014/main" id="{8D055B95-562D-6442-8301-CFCF119DB249}"/>
              </a:ext>
            </a:extLst>
          </p:cNvPr>
          <p:cNvSpPr/>
          <p:nvPr/>
        </p:nvSpPr>
        <p:spPr>
          <a:xfrm>
            <a:off x="804623" y="1000519"/>
            <a:ext cx="2000406" cy="138499"/>
          </a:xfrm>
          <a:prstGeom prst="rect">
            <a:avLst/>
          </a:prstGeom>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900" dirty="0">
                <a:solidFill>
                  <a:schemeClr val="bg1"/>
                </a:solidFill>
                <a:latin typeface="Arial" panose="020B0604020202020204" pitchFamily="34" charset="0"/>
                <a:cs typeface="Arial" panose="020B0604020202020204" pitchFamily="34" charset="0"/>
              </a:rPr>
              <a:t>tom.d.morgan@accenture.com </a:t>
            </a:r>
            <a:endParaRPr kumimoji="0" lang="en-GB" sz="9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endParaRPr>
          </a:p>
        </p:txBody>
      </p:sp>
      <p:grpSp>
        <p:nvGrpSpPr>
          <p:cNvPr id="61" name="Group 60">
            <a:extLst>
              <a:ext uri="{FF2B5EF4-FFF2-40B4-BE49-F238E27FC236}">
                <a16:creationId xmlns:a16="http://schemas.microsoft.com/office/drawing/2014/main" id="{BCDE41B0-7BC8-7FD9-F53F-B4C95A6A9009}"/>
              </a:ext>
            </a:extLst>
          </p:cNvPr>
          <p:cNvGrpSpPr/>
          <p:nvPr/>
        </p:nvGrpSpPr>
        <p:grpSpPr>
          <a:xfrm>
            <a:off x="11170160" y="476906"/>
            <a:ext cx="869406" cy="108000"/>
            <a:chOff x="11166988" y="672169"/>
            <a:chExt cx="869406" cy="108000"/>
          </a:xfrm>
        </p:grpSpPr>
        <p:sp>
          <p:nvSpPr>
            <p:cNvPr id="26" name="Oval 25">
              <a:extLst>
                <a:ext uri="{FF2B5EF4-FFF2-40B4-BE49-F238E27FC236}">
                  <a16:creationId xmlns:a16="http://schemas.microsoft.com/office/drawing/2014/main" id="{8F452603-34A4-8A4A-8ACB-93E07D180528}"/>
                </a:ext>
              </a:extLst>
            </p:cNvPr>
            <p:cNvSpPr/>
            <p:nvPr/>
          </p:nvSpPr>
          <p:spPr>
            <a:xfrm>
              <a:off x="11166988"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7" name="Oval 26">
              <a:extLst>
                <a:ext uri="{FF2B5EF4-FFF2-40B4-BE49-F238E27FC236}">
                  <a16:creationId xmlns:a16="http://schemas.microsoft.com/office/drawing/2014/main" id="{E711DDB7-A896-974F-8696-F44E8391E06C}"/>
                </a:ext>
              </a:extLst>
            </p:cNvPr>
            <p:cNvSpPr/>
            <p:nvPr/>
          </p:nvSpPr>
          <p:spPr>
            <a:xfrm>
              <a:off x="11357759"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8" name="Oval 27">
              <a:extLst>
                <a:ext uri="{FF2B5EF4-FFF2-40B4-BE49-F238E27FC236}">
                  <a16:creationId xmlns:a16="http://schemas.microsoft.com/office/drawing/2014/main" id="{50D39289-5B91-2B45-AD27-BA691C11E260}"/>
                </a:ext>
              </a:extLst>
            </p:cNvPr>
            <p:cNvSpPr/>
            <p:nvPr/>
          </p:nvSpPr>
          <p:spPr>
            <a:xfrm>
              <a:off x="11548530"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9" name="Oval 28">
              <a:extLst>
                <a:ext uri="{FF2B5EF4-FFF2-40B4-BE49-F238E27FC236}">
                  <a16:creationId xmlns:a16="http://schemas.microsoft.com/office/drawing/2014/main" id="{2CA76ECE-4803-354E-AB53-95F015F6C571}"/>
                </a:ext>
              </a:extLst>
            </p:cNvPr>
            <p:cNvSpPr/>
            <p:nvPr/>
          </p:nvSpPr>
          <p:spPr>
            <a:xfrm>
              <a:off x="11739301"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0" name="Oval 29">
              <a:extLst>
                <a:ext uri="{FF2B5EF4-FFF2-40B4-BE49-F238E27FC236}">
                  <a16:creationId xmlns:a16="http://schemas.microsoft.com/office/drawing/2014/main" id="{19506B65-91F9-3741-9462-CBC21F0E35F1}"/>
                </a:ext>
              </a:extLst>
            </p:cNvPr>
            <p:cNvSpPr/>
            <p:nvPr/>
          </p:nvSpPr>
          <p:spPr>
            <a:xfrm>
              <a:off x="11930072"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6" name="Group 105">
            <a:extLst>
              <a:ext uri="{FF2B5EF4-FFF2-40B4-BE49-F238E27FC236}">
                <a16:creationId xmlns:a16="http://schemas.microsoft.com/office/drawing/2014/main" id="{C7B06F8E-7D80-CF5A-710F-5FDD6C8C997A}"/>
              </a:ext>
            </a:extLst>
          </p:cNvPr>
          <p:cNvGrpSpPr/>
          <p:nvPr/>
        </p:nvGrpSpPr>
        <p:grpSpPr>
          <a:xfrm>
            <a:off x="11166859" y="1056879"/>
            <a:ext cx="869406" cy="117053"/>
            <a:chOff x="11166988" y="1171237"/>
            <a:chExt cx="869406" cy="117053"/>
          </a:xfrm>
        </p:grpSpPr>
        <p:sp>
          <p:nvSpPr>
            <p:cNvPr id="36" name="Oval 35">
              <a:extLst>
                <a:ext uri="{FF2B5EF4-FFF2-40B4-BE49-F238E27FC236}">
                  <a16:creationId xmlns:a16="http://schemas.microsoft.com/office/drawing/2014/main" id="{5A371657-4F4F-E347-82F4-E44D7E6E7A3E}"/>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7" name="Oval 36">
              <a:extLst>
                <a:ext uri="{FF2B5EF4-FFF2-40B4-BE49-F238E27FC236}">
                  <a16:creationId xmlns:a16="http://schemas.microsoft.com/office/drawing/2014/main" id="{225F462B-7116-C243-BF36-DB9FC94E8B6F}"/>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8" name="Oval 37">
              <a:extLst>
                <a:ext uri="{FF2B5EF4-FFF2-40B4-BE49-F238E27FC236}">
                  <a16:creationId xmlns:a16="http://schemas.microsoft.com/office/drawing/2014/main" id="{ABE35F16-0780-8249-849C-CFE4EE432176}"/>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9" name="Oval 38">
              <a:extLst>
                <a:ext uri="{FF2B5EF4-FFF2-40B4-BE49-F238E27FC236}">
                  <a16:creationId xmlns:a16="http://schemas.microsoft.com/office/drawing/2014/main" id="{52E72923-CFF1-2C41-9DFA-FB45A3C7AB4E}"/>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7" name="Oval 16">
              <a:extLst>
                <a:ext uri="{FF2B5EF4-FFF2-40B4-BE49-F238E27FC236}">
                  <a16:creationId xmlns:a16="http://schemas.microsoft.com/office/drawing/2014/main" id="{CBD73293-B248-DD96-54AE-F6F357AF6EE4}"/>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5" name="Group 104">
            <a:extLst>
              <a:ext uri="{FF2B5EF4-FFF2-40B4-BE49-F238E27FC236}">
                <a16:creationId xmlns:a16="http://schemas.microsoft.com/office/drawing/2014/main" id="{DF1D7ECD-0D83-4BD8-A771-D9584732559B}"/>
              </a:ext>
            </a:extLst>
          </p:cNvPr>
          <p:cNvGrpSpPr/>
          <p:nvPr/>
        </p:nvGrpSpPr>
        <p:grpSpPr>
          <a:xfrm>
            <a:off x="11166988" y="668172"/>
            <a:ext cx="869406" cy="115957"/>
            <a:chOff x="11166988" y="924544"/>
            <a:chExt cx="869406" cy="115957"/>
          </a:xfrm>
        </p:grpSpPr>
        <p:sp>
          <p:nvSpPr>
            <p:cNvPr id="31" name="Oval 30">
              <a:extLst>
                <a:ext uri="{FF2B5EF4-FFF2-40B4-BE49-F238E27FC236}">
                  <a16:creationId xmlns:a16="http://schemas.microsoft.com/office/drawing/2014/main" id="{22406B17-B065-6D48-AAED-E5FAC822353E}"/>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2" name="Oval 31">
              <a:extLst>
                <a:ext uri="{FF2B5EF4-FFF2-40B4-BE49-F238E27FC236}">
                  <a16:creationId xmlns:a16="http://schemas.microsoft.com/office/drawing/2014/main" id="{1245B729-4AC1-2B46-BD15-178650546EFB}"/>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3" name="Oval 32">
              <a:extLst>
                <a:ext uri="{FF2B5EF4-FFF2-40B4-BE49-F238E27FC236}">
                  <a16:creationId xmlns:a16="http://schemas.microsoft.com/office/drawing/2014/main" id="{99BEFD4B-A82B-2045-BB7B-DC4B44638093}"/>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4" name="Oval 33">
              <a:extLst>
                <a:ext uri="{FF2B5EF4-FFF2-40B4-BE49-F238E27FC236}">
                  <a16:creationId xmlns:a16="http://schemas.microsoft.com/office/drawing/2014/main" id="{07984561-21EB-D449-A662-C18FF359719C}"/>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Oval 23">
              <a:extLst>
                <a:ext uri="{FF2B5EF4-FFF2-40B4-BE49-F238E27FC236}">
                  <a16:creationId xmlns:a16="http://schemas.microsoft.com/office/drawing/2014/main" id="{D1507610-D65E-303A-051C-B5003E76F153}"/>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cxnSp>
        <p:nvCxnSpPr>
          <p:cNvPr id="81" name="Straight Connector 80">
            <a:extLst>
              <a:ext uri="{FF2B5EF4-FFF2-40B4-BE49-F238E27FC236}">
                <a16:creationId xmlns:a16="http://schemas.microsoft.com/office/drawing/2014/main" id="{05F74AF1-95F0-4459-BACB-FFB19677AC64}"/>
              </a:ext>
            </a:extLst>
          </p:cNvPr>
          <p:cNvCxnSpPr>
            <a:cxnSpLocks/>
          </p:cNvCxnSpPr>
          <p:nvPr/>
        </p:nvCxnSpPr>
        <p:spPr>
          <a:xfrm flipH="1">
            <a:off x="3212745" y="492907"/>
            <a:ext cx="4573" cy="6365093"/>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75CF101F-D4F2-4956-87CC-A684BD157901}"/>
              </a:ext>
            </a:extLst>
          </p:cNvPr>
          <p:cNvSpPr txBox="1"/>
          <p:nvPr/>
        </p:nvSpPr>
        <p:spPr>
          <a:xfrm>
            <a:off x="3634664" y="2379174"/>
            <a:ext cx="4906443" cy="372445"/>
          </a:xfrm>
          <a:prstGeom prst="rect">
            <a:avLst/>
          </a:prstGeom>
          <a:noFill/>
        </p:spPr>
        <p:txBody>
          <a:bodyPr wrap="square" lIns="0" tIns="0" rIns="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7500C0"/>
              </a:solidFill>
              <a:effectLst/>
              <a:uLnTx/>
              <a:uFillTx/>
              <a:latin typeface="Graphik Light" panose="020B0403030202060203" pitchFamily="34" charset="77"/>
              <a:ea typeface="+mn-ea"/>
              <a:cs typeface="+mn-cs"/>
            </a:endParaRPr>
          </a:p>
        </p:txBody>
      </p:sp>
      <p:sp>
        <p:nvSpPr>
          <p:cNvPr id="86" name="Oval 85">
            <a:extLst>
              <a:ext uri="{FF2B5EF4-FFF2-40B4-BE49-F238E27FC236}">
                <a16:creationId xmlns:a16="http://schemas.microsoft.com/office/drawing/2014/main" id="{F3F48FA1-B90E-489E-B639-6191B0B17447}"/>
              </a:ext>
            </a:extLst>
          </p:cNvPr>
          <p:cNvSpPr/>
          <p:nvPr/>
        </p:nvSpPr>
        <p:spPr>
          <a:xfrm>
            <a:off x="3134349" y="331543"/>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95" name="Oval 94">
            <a:extLst>
              <a:ext uri="{FF2B5EF4-FFF2-40B4-BE49-F238E27FC236}">
                <a16:creationId xmlns:a16="http://schemas.microsoft.com/office/drawing/2014/main" id="{07F0EEB3-B523-4750-A150-76DCC65019AC}"/>
              </a:ext>
            </a:extLst>
          </p:cNvPr>
          <p:cNvSpPr/>
          <p:nvPr/>
        </p:nvSpPr>
        <p:spPr>
          <a:xfrm>
            <a:off x="3134349" y="134075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98" name="Straight Connector 97">
            <a:extLst>
              <a:ext uri="{FF2B5EF4-FFF2-40B4-BE49-F238E27FC236}">
                <a16:creationId xmlns:a16="http://schemas.microsoft.com/office/drawing/2014/main" id="{13163DDC-35BF-4D2F-A776-30BF61BC6BD4}"/>
              </a:ext>
            </a:extLst>
          </p:cNvPr>
          <p:cNvCxnSpPr>
            <a:cxnSpLocks/>
          </p:cNvCxnSpPr>
          <p:nvPr/>
        </p:nvCxnSpPr>
        <p:spPr>
          <a:xfrm>
            <a:off x="108646" y="2279722"/>
            <a:ext cx="27493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F4C3C5CA-D0DB-4124-BE0B-A9F0DDD0E658}"/>
              </a:ext>
            </a:extLst>
          </p:cNvPr>
          <p:cNvSpPr txBox="1"/>
          <p:nvPr/>
        </p:nvSpPr>
        <p:spPr>
          <a:xfrm>
            <a:off x="3360762" y="323017"/>
            <a:ext cx="5700854" cy="6279243"/>
          </a:xfrm>
          <a:prstGeom prst="rect">
            <a:avLst/>
          </a:prstGeom>
          <a:noFill/>
          <a:ln>
            <a:noFill/>
          </a:ln>
        </p:spPr>
        <p:txBody>
          <a:bodyPr wrap="square" lIns="0" tIns="0" rIns="0" bIns="45720" rtlCol="0">
            <a:noAutofit/>
          </a:bodyPr>
          <a:lstStyle/>
          <a:p>
            <a:pPr lvl="0">
              <a:defRPr/>
            </a:pPr>
            <a:r>
              <a:rPr lang="en-GB" sz="1100" b="1" dirty="0">
                <a:solidFill>
                  <a:srgbClr val="7500C0"/>
                </a:solidFill>
                <a:latin typeface="Graphik Light" panose="020B0403030202060203" pitchFamily="34" charset="77"/>
              </a:rPr>
              <a:t>NHSE / Palantir</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Working with Palantir to support report migration for the NHSE, specifically a Foundry Workshop dashboard highlighting patient waiting times</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In addition to dashboard development, I also took on business analysis tasks, supported data engineering, led team meetings and demoed to NHSE leadership </a:t>
            </a:r>
            <a:endParaRPr lang="en-GB" sz="1100" b="1" dirty="0">
              <a:solidFill>
                <a:srgbClr val="7500C0"/>
              </a:solidFill>
              <a:latin typeface="Graphik Light" panose="020B0403030202060203" pitchFamily="34" charset="77"/>
            </a:endParaRPr>
          </a:p>
          <a:p>
            <a:pPr lvl="0">
              <a:defRPr/>
            </a:pPr>
            <a:endParaRPr lang="en-GB" sz="1100" b="1" dirty="0">
              <a:solidFill>
                <a:srgbClr val="7500C0"/>
              </a:solidFill>
              <a:latin typeface="Graphik Light" panose="020B0403030202060203" pitchFamily="34" charset="77"/>
            </a:endParaRPr>
          </a:p>
          <a:p>
            <a:pPr lvl="0">
              <a:defRPr/>
            </a:pPr>
            <a:r>
              <a:rPr lang="en-GB" sz="1100" b="1" dirty="0">
                <a:solidFill>
                  <a:srgbClr val="7500C0"/>
                </a:solidFill>
                <a:latin typeface="Graphik Light" panose="020B0403030202060203" pitchFamily="34" charset="77"/>
              </a:rPr>
              <a:t>Scottish Power</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Initially came into the team as a Visualisation expert to help build </a:t>
            </a:r>
            <a:r>
              <a:rPr lang="en-GB" sz="1100" kern="0" dirty="0" err="1">
                <a:solidFill>
                  <a:prstClr val="black"/>
                </a:solidFill>
                <a:latin typeface="Graphik Light" panose="020B0403030202060203" pitchFamily="34" charset="0"/>
                <a:cs typeface="Arial" panose="020B0604020202020204" pitchFamily="34" charset="0"/>
              </a:rPr>
              <a:t>PowerBI</a:t>
            </a:r>
            <a:r>
              <a:rPr lang="en-GB" sz="1100" kern="0" dirty="0">
                <a:solidFill>
                  <a:prstClr val="black"/>
                </a:solidFill>
                <a:latin typeface="Graphik Light" panose="020B0403030202060203" pitchFamily="34" charset="0"/>
                <a:cs typeface="Arial" panose="020B0604020202020204" pitchFamily="34" charset="0"/>
              </a:rPr>
              <a:t> Dashboards within Scottish Power Complaints</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Subsequently required to lead the team and manage deliverables including assessing Goodwill reporting and ombudsman risk</a:t>
            </a:r>
            <a:endPar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b="1" dirty="0">
              <a:solidFill>
                <a:srgbClr val="7500C0"/>
              </a:solidFill>
              <a:latin typeface="Graphik Light" panose="020B0403030202060203" pitchFamily="34"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Supply Chain Decarbonisation Suite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teams of data scientists to build Gen AI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Focus on enhancing Sustainability processes by reducing manual effort by circa 90%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stakeholder meetings to gather requirements and drive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Lloyds Banking Group</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2</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development of Power BI dashboards to report on board level metrics</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Regular communication with board level personnel, leading demonstrations and revisiting project scope </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1</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Development of data quality dashboards in Tableau</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production of developed product and training for handover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UK Health Security Agency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Supporting the UKHSA with the covid-19 pandemic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Assisting the Head of Visualisation on key strategic planning and helping direct the team</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Undertaking and directing on dashboard development and delivering marketing and training sessions and artefacts to upskill the business in Qlik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err="1">
                <a:solidFill>
                  <a:srgbClr val="7500C0"/>
                </a:solidFill>
                <a:latin typeface="Graphik Light" panose="020B0403030202060203" pitchFamily="34" charset="77"/>
                <a:sym typeface="+mn-lt"/>
              </a:rPr>
              <a:t>Mudano</a:t>
            </a:r>
            <a:r>
              <a:rPr lang="en-GB" altLang="zh-CN" sz="1100" b="1" dirty="0">
                <a:solidFill>
                  <a:srgbClr val="7500C0"/>
                </a:solidFill>
                <a:latin typeface="Graphik Light" panose="020B0403030202060203" pitchFamily="34" charset="77"/>
                <a:sym typeface="+mn-lt"/>
              </a:rPr>
              <a:t> data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Building prototypes for general demonstration to prospective clients e.g. </a:t>
            </a:r>
            <a:r>
              <a:rPr lang="en-GB" altLang="zh-CN" sz="1100" kern="0" dirty="0" err="1">
                <a:solidFill>
                  <a:prstClr val="black"/>
                </a:solidFill>
                <a:latin typeface="Graphik Light" panose="020B0403030202060203" pitchFamily="34" charset="0"/>
                <a:cs typeface="Arial" panose="020B0604020202020204" pitchFamily="34" charset="0"/>
                <a:sym typeface="+mn-lt"/>
              </a:rPr>
              <a:t>Obeya</a:t>
            </a:r>
            <a:r>
              <a:rPr lang="en-GB" altLang="zh-CN" sz="1100" kern="0" dirty="0">
                <a:solidFill>
                  <a:prstClr val="black"/>
                </a:solidFill>
                <a:latin typeface="Graphik Light" panose="020B0403030202060203" pitchFamily="34" charset="0"/>
                <a:cs typeface="Arial" panose="020B0604020202020204" pitchFamily="34" charset="0"/>
                <a:sym typeface="+mn-lt"/>
              </a:rPr>
              <a:t> flow dashboards, Data Management Experience etc </a:t>
            </a:r>
          </a:p>
        </p:txBody>
      </p:sp>
      <p:grpSp>
        <p:nvGrpSpPr>
          <p:cNvPr id="108" name="Group 107">
            <a:extLst>
              <a:ext uri="{FF2B5EF4-FFF2-40B4-BE49-F238E27FC236}">
                <a16:creationId xmlns:a16="http://schemas.microsoft.com/office/drawing/2014/main" id="{B74B4C78-888D-2604-1274-7DC7D20C3D20}"/>
              </a:ext>
            </a:extLst>
          </p:cNvPr>
          <p:cNvGrpSpPr/>
          <p:nvPr/>
        </p:nvGrpSpPr>
        <p:grpSpPr>
          <a:xfrm>
            <a:off x="11166859" y="1418789"/>
            <a:ext cx="869406" cy="108000"/>
            <a:chOff x="11166988" y="1664232"/>
            <a:chExt cx="869406" cy="108000"/>
          </a:xfrm>
        </p:grpSpPr>
        <p:sp>
          <p:nvSpPr>
            <p:cNvPr id="15" name="Oval 14">
              <a:extLst>
                <a:ext uri="{FF2B5EF4-FFF2-40B4-BE49-F238E27FC236}">
                  <a16:creationId xmlns:a16="http://schemas.microsoft.com/office/drawing/2014/main" id="{A8DCF61F-ED2C-5A0E-F3B4-DAB3BCDA4DD7}"/>
                </a:ext>
              </a:extLst>
            </p:cNvPr>
            <p:cNvSpPr/>
            <p:nvPr/>
          </p:nvSpPr>
          <p:spPr>
            <a:xfrm>
              <a:off x="11166988"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6" name="Oval 15">
              <a:extLst>
                <a:ext uri="{FF2B5EF4-FFF2-40B4-BE49-F238E27FC236}">
                  <a16:creationId xmlns:a16="http://schemas.microsoft.com/office/drawing/2014/main" id="{AC96F3ED-A1BD-A80F-440C-7749F83956C1}"/>
                </a:ext>
              </a:extLst>
            </p:cNvPr>
            <p:cNvSpPr/>
            <p:nvPr/>
          </p:nvSpPr>
          <p:spPr>
            <a:xfrm>
              <a:off x="11357759"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Oval 17">
              <a:extLst>
                <a:ext uri="{FF2B5EF4-FFF2-40B4-BE49-F238E27FC236}">
                  <a16:creationId xmlns:a16="http://schemas.microsoft.com/office/drawing/2014/main" id="{D7BDFFD1-D103-21C4-0D22-2890966C836A}"/>
                </a:ext>
              </a:extLst>
            </p:cNvPr>
            <p:cNvSpPr/>
            <p:nvPr/>
          </p:nvSpPr>
          <p:spPr>
            <a:xfrm>
              <a:off x="11548530" y="1664232"/>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1" name="Oval 20">
              <a:extLst>
                <a:ext uri="{FF2B5EF4-FFF2-40B4-BE49-F238E27FC236}">
                  <a16:creationId xmlns:a16="http://schemas.microsoft.com/office/drawing/2014/main" id="{F6D5BE04-5700-0CAD-C6A0-27E769A2F2AC}"/>
                </a:ext>
              </a:extLst>
            </p:cNvPr>
            <p:cNvSpPr/>
            <p:nvPr/>
          </p:nvSpPr>
          <p:spPr>
            <a:xfrm>
              <a:off x="11739301"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2" name="Oval 21">
              <a:extLst>
                <a:ext uri="{FF2B5EF4-FFF2-40B4-BE49-F238E27FC236}">
                  <a16:creationId xmlns:a16="http://schemas.microsoft.com/office/drawing/2014/main" id="{07937323-8D6F-E07B-0C08-491460274289}"/>
                </a:ext>
              </a:extLst>
            </p:cNvPr>
            <p:cNvSpPr/>
            <p:nvPr/>
          </p:nvSpPr>
          <p:spPr>
            <a:xfrm>
              <a:off x="11930072"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2" name="TextBox 1">
            <a:extLst>
              <a:ext uri="{FF2B5EF4-FFF2-40B4-BE49-F238E27FC236}">
                <a16:creationId xmlns:a16="http://schemas.microsoft.com/office/drawing/2014/main" id="{3103C5AD-9115-B78A-B63F-A0D0ED0302F4}"/>
              </a:ext>
            </a:extLst>
          </p:cNvPr>
          <p:cNvSpPr txBox="1"/>
          <p:nvPr/>
        </p:nvSpPr>
        <p:spPr>
          <a:xfrm>
            <a:off x="0" y="2279722"/>
            <a:ext cx="3085541" cy="4124206"/>
          </a:xfrm>
          <a:prstGeom prst="rect">
            <a:avLst/>
          </a:prstGeom>
          <a:noFill/>
          <a:ln>
            <a:noFill/>
          </a:ln>
        </p:spPr>
        <p:txBody>
          <a:bodyPr wrap="square">
            <a:spAutoFit/>
          </a:bodyPr>
          <a:lstStyle/>
          <a:p>
            <a:pPr>
              <a:spcBef>
                <a:spcPts val="600"/>
              </a:spcBef>
              <a:spcAft>
                <a:spcPts val="600"/>
              </a:spcAft>
            </a:pPr>
            <a:r>
              <a:rPr lang="en-GB" altLang="zh-CN" sz="1100" dirty="0">
                <a:solidFill>
                  <a:schemeClr val="bg1"/>
                </a:solidFill>
                <a:latin typeface="Graphik Light" panose="020B0403030202060203" pitchFamily="34" charset="0"/>
                <a:cs typeface="Arial" panose="020B0604020202020204" pitchFamily="34" charset="0"/>
                <a:sym typeface="+mn-lt"/>
              </a:rPr>
              <a:t>I have extensive experience in scoping, designing, directing, developing and demonstrating dashboard creation in Tableau, Power BI and Qlik Sense. I am also experienced in SQL and can use it to engineer and re-purpose data to connect in with visualisation tools. More recently I have directed development of Gen AI solutions.</a:t>
            </a:r>
          </a:p>
          <a:p>
            <a:pPr>
              <a:spcBef>
                <a:spcPts val="600"/>
              </a:spcBef>
              <a:spcAft>
                <a:spcPts val="600"/>
              </a:spcAft>
            </a:pPr>
            <a:r>
              <a:rPr lang="en-GB" altLang="zh-CN" sz="1100" dirty="0">
                <a:solidFill>
                  <a:schemeClr val="bg1"/>
                </a:solidFill>
                <a:latin typeface="Graphik Light" panose="020B0403030202060203" pitchFamily="34" charset="0"/>
                <a:cs typeface="Arial" panose="020B0604020202020204" pitchFamily="34" charset="0"/>
                <a:sym typeface="+mn-lt"/>
              </a:rPr>
              <a:t>As well as my technical knowledge I can engage with key stakeholders to understand the desired outcome and lead other developers to achieve this. Examples of this include creating data quality tools, advanced prototypes and Gen AI data extraction capabilities.</a:t>
            </a:r>
          </a:p>
          <a:p>
            <a:pPr>
              <a:spcBef>
                <a:spcPts val="600"/>
              </a:spcBef>
              <a:spcAft>
                <a:spcPts val="600"/>
              </a:spcAft>
            </a:pPr>
            <a:r>
              <a:rPr lang="en-GB" altLang="zh-CN" sz="1100" dirty="0">
                <a:solidFill>
                  <a:schemeClr val="bg1"/>
                </a:solidFill>
                <a:latin typeface="Graphik Light" panose="020B0403030202060203" pitchFamily="34" charset="0"/>
                <a:cs typeface="Arial" panose="020B0604020202020204" pitchFamily="34" charset="0"/>
                <a:sym typeface="+mn-lt"/>
              </a:rPr>
              <a:t>I am particularly enthusiastic to support areas which try to make a difference to humanity, predominately across Health and Sustainability. I am also always looking to increase my technical skillset and am interested in further augmenting my experience in app development.</a:t>
            </a:r>
          </a:p>
        </p:txBody>
      </p:sp>
      <p:sp>
        <p:nvSpPr>
          <p:cNvPr id="5" name="Oval 4">
            <a:extLst>
              <a:ext uri="{FF2B5EF4-FFF2-40B4-BE49-F238E27FC236}">
                <a16:creationId xmlns:a16="http://schemas.microsoft.com/office/drawing/2014/main" id="{9C2C48DF-F43B-BF50-4CBB-922BBE8AB0A5}"/>
              </a:ext>
            </a:extLst>
          </p:cNvPr>
          <p:cNvSpPr/>
          <p:nvPr/>
        </p:nvSpPr>
        <p:spPr>
          <a:xfrm>
            <a:off x="3134349" y="5856465"/>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4" name="Oval 3">
            <a:extLst>
              <a:ext uri="{FF2B5EF4-FFF2-40B4-BE49-F238E27FC236}">
                <a16:creationId xmlns:a16="http://schemas.microsoft.com/office/drawing/2014/main" id="{E1134145-5E33-160F-5E9B-6E64182A019E}"/>
              </a:ext>
            </a:extLst>
          </p:cNvPr>
          <p:cNvSpPr/>
          <p:nvPr/>
        </p:nvSpPr>
        <p:spPr>
          <a:xfrm>
            <a:off x="3134349" y="467628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4A4A87AF-BE1F-B2AA-96E6-B60689B6009E}"/>
              </a:ext>
            </a:extLst>
          </p:cNvPr>
          <p:cNvGrpSpPr/>
          <p:nvPr/>
        </p:nvGrpSpPr>
        <p:grpSpPr>
          <a:xfrm>
            <a:off x="11166859" y="858914"/>
            <a:ext cx="869406" cy="115957"/>
            <a:chOff x="11166988" y="924544"/>
            <a:chExt cx="869406" cy="115957"/>
          </a:xfrm>
        </p:grpSpPr>
        <p:sp>
          <p:nvSpPr>
            <p:cNvPr id="13" name="Oval 12">
              <a:extLst>
                <a:ext uri="{FF2B5EF4-FFF2-40B4-BE49-F238E27FC236}">
                  <a16:creationId xmlns:a16="http://schemas.microsoft.com/office/drawing/2014/main" id="{D7559449-8C5A-8564-7B0E-3A751C4810CE}"/>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4" name="Oval 13">
              <a:extLst>
                <a:ext uri="{FF2B5EF4-FFF2-40B4-BE49-F238E27FC236}">
                  <a16:creationId xmlns:a16="http://schemas.microsoft.com/office/drawing/2014/main" id="{85D3B24C-98C5-7662-834B-9333359DE51D}"/>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9" name="Oval 18">
              <a:extLst>
                <a:ext uri="{FF2B5EF4-FFF2-40B4-BE49-F238E27FC236}">
                  <a16:creationId xmlns:a16="http://schemas.microsoft.com/office/drawing/2014/main" id="{EC88DD9C-471B-8FC1-13EC-BEC533355BB7}"/>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Oval 22">
              <a:extLst>
                <a:ext uri="{FF2B5EF4-FFF2-40B4-BE49-F238E27FC236}">
                  <a16:creationId xmlns:a16="http://schemas.microsoft.com/office/drawing/2014/main" id="{955DA601-06C0-DB1B-6450-67BDA2FFA182}"/>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5" name="Oval 24">
              <a:extLst>
                <a:ext uri="{FF2B5EF4-FFF2-40B4-BE49-F238E27FC236}">
                  <a16:creationId xmlns:a16="http://schemas.microsoft.com/office/drawing/2014/main" id="{0790A7B2-4828-66CC-E122-86FF9F4B8EF6}"/>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69" name="Group 68">
            <a:extLst>
              <a:ext uri="{FF2B5EF4-FFF2-40B4-BE49-F238E27FC236}">
                <a16:creationId xmlns:a16="http://schemas.microsoft.com/office/drawing/2014/main" id="{BDB968FF-4FF6-B464-00D4-EF3040AC6593}"/>
              </a:ext>
            </a:extLst>
          </p:cNvPr>
          <p:cNvGrpSpPr/>
          <p:nvPr/>
        </p:nvGrpSpPr>
        <p:grpSpPr>
          <a:xfrm>
            <a:off x="11166859" y="1235854"/>
            <a:ext cx="869406" cy="117053"/>
            <a:chOff x="11166988" y="1171237"/>
            <a:chExt cx="869406" cy="117053"/>
          </a:xfrm>
        </p:grpSpPr>
        <p:sp>
          <p:nvSpPr>
            <p:cNvPr id="70" name="Oval 69">
              <a:extLst>
                <a:ext uri="{FF2B5EF4-FFF2-40B4-BE49-F238E27FC236}">
                  <a16:creationId xmlns:a16="http://schemas.microsoft.com/office/drawing/2014/main" id="{64EA8FD5-7947-49F7-C099-7EC75C6AD78F}"/>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1" name="Oval 70">
              <a:extLst>
                <a:ext uri="{FF2B5EF4-FFF2-40B4-BE49-F238E27FC236}">
                  <a16:creationId xmlns:a16="http://schemas.microsoft.com/office/drawing/2014/main" id="{E3542E36-BB45-B869-39A6-6B9162D20804}"/>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2" name="Oval 71">
              <a:extLst>
                <a:ext uri="{FF2B5EF4-FFF2-40B4-BE49-F238E27FC236}">
                  <a16:creationId xmlns:a16="http://schemas.microsoft.com/office/drawing/2014/main" id="{D6785B98-DD01-0266-CE83-F503699BE82B}"/>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3" name="Oval 72">
              <a:extLst>
                <a:ext uri="{FF2B5EF4-FFF2-40B4-BE49-F238E27FC236}">
                  <a16:creationId xmlns:a16="http://schemas.microsoft.com/office/drawing/2014/main" id="{D4486E77-A7BF-089C-C78F-54512A888843}"/>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4" name="Oval 73">
              <a:extLst>
                <a:ext uri="{FF2B5EF4-FFF2-40B4-BE49-F238E27FC236}">
                  <a16:creationId xmlns:a16="http://schemas.microsoft.com/office/drawing/2014/main" id="{5119CF87-3322-7FCA-D761-F3C4120B1430}"/>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pic>
        <p:nvPicPr>
          <p:cNvPr id="6" name="Graphic 10">
            <a:extLst>
              <a:ext uri="{FF2B5EF4-FFF2-40B4-BE49-F238E27FC236}">
                <a16:creationId xmlns:a16="http://schemas.microsoft.com/office/drawing/2014/main" id="{12E6881E-2057-84D3-BDEC-24D0320A917C}"/>
              </a:ext>
            </a:extLst>
          </p:cNvPr>
          <p:cNvPicPr>
            <a:picLocks noChangeAspect="1"/>
          </p:cNvPicPr>
          <p:nvPr/>
        </p:nvPicPr>
        <p:blipFill>
          <a:blip r:embed="rId3" cstate="print">
            <a:extLst>
              <a:ext uri="{28A0092B-C50C-407E-A947-70E740481C1C}">
                <a14:useLocalDpi xmlns:a14="http://schemas.microsoft.com/office/drawing/2010/main" val="0"/>
              </a:ext>
            </a:extLst>
          </a:blip>
          <a:srcRect t="6493" b="6493"/>
          <a:stretch/>
        </p:blipFill>
        <p:spPr>
          <a:xfrm>
            <a:off x="108646" y="301481"/>
            <a:ext cx="611528" cy="611528"/>
          </a:xfrm>
          <a:prstGeom prst="flowChartConnector">
            <a:avLst/>
          </a:prstGeom>
        </p:spPr>
      </p:pic>
      <p:cxnSp>
        <p:nvCxnSpPr>
          <p:cNvPr id="8" name="Straight Connector 7">
            <a:extLst>
              <a:ext uri="{FF2B5EF4-FFF2-40B4-BE49-F238E27FC236}">
                <a16:creationId xmlns:a16="http://schemas.microsoft.com/office/drawing/2014/main" id="{DA7B1B25-483A-C350-4272-DF412A251981}"/>
              </a:ext>
            </a:extLst>
          </p:cNvPr>
          <p:cNvCxnSpPr>
            <a:cxnSpLocks/>
          </p:cNvCxnSpPr>
          <p:nvPr/>
        </p:nvCxnSpPr>
        <p:spPr>
          <a:xfrm>
            <a:off x="108646" y="1226528"/>
            <a:ext cx="27493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10E5A4D3-9574-1E67-61A9-BF48878B4362}"/>
              </a:ext>
            </a:extLst>
          </p:cNvPr>
          <p:cNvSpPr/>
          <p:nvPr/>
        </p:nvSpPr>
        <p:spPr>
          <a:xfrm>
            <a:off x="3132063" y="234368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40" name="Oval 39">
            <a:extLst>
              <a:ext uri="{FF2B5EF4-FFF2-40B4-BE49-F238E27FC236}">
                <a16:creationId xmlns:a16="http://schemas.microsoft.com/office/drawing/2014/main" id="{5042F588-CBDB-5879-D001-932CCE038E27}"/>
              </a:ext>
            </a:extLst>
          </p:cNvPr>
          <p:cNvSpPr/>
          <p:nvPr/>
        </p:nvSpPr>
        <p:spPr>
          <a:xfrm>
            <a:off x="3132063" y="3172243"/>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55892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A6161-A1ED-9CBE-4A5D-3E71378DD304}"/>
            </a:ext>
          </a:extLst>
        </p:cNvPr>
        <p:cNvGrpSpPr/>
        <p:nvPr/>
      </p:nvGrpSpPr>
      <p:grpSpPr>
        <a:xfrm>
          <a:off x="0" y="0"/>
          <a:ext cx="0" cy="0"/>
          <a:chOff x="0" y="0"/>
          <a:chExt cx="0" cy="0"/>
        </a:xfrm>
      </p:grpSpPr>
      <p:graphicFrame>
        <p:nvGraphicFramePr>
          <p:cNvPr id="97" name="Table 96">
            <a:extLst>
              <a:ext uri="{FF2B5EF4-FFF2-40B4-BE49-F238E27FC236}">
                <a16:creationId xmlns:a16="http://schemas.microsoft.com/office/drawing/2014/main" id="{04D2EE64-314B-D490-D7CF-80666017CCDB}"/>
              </a:ext>
            </a:extLst>
          </p:cNvPr>
          <p:cNvGraphicFramePr>
            <a:graphicFrameLocks noGrp="1"/>
          </p:cNvGraphicFramePr>
          <p:nvPr/>
        </p:nvGraphicFramePr>
        <p:xfrm>
          <a:off x="9181832" y="118129"/>
          <a:ext cx="2888302" cy="6155814"/>
        </p:xfrm>
        <a:graphic>
          <a:graphicData uri="http://schemas.openxmlformats.org/drawingml/2006/table">
            <a:tbl>
              <a:tblPr firstRow="1" bandRow="1">
                <a:tableStyleId>{5C22544A-7EE6-4342-B048-85BDC9FD1C3A}</a:tableStyleId>
              </a:tblPr>
              <a:tblGrid>
                <a:gridCol w="1801399">
                  <a:extLst>
                    <a:ext uri="{9D8B030D-6E8A-4147-A177-3AD203B41FA5}">
                      <a16:colId xmlns:a16="http://schemas.microsoft.com/office/drawing/2014/main" val="1736056633"/>
                    </a:ext>
                  </a:extLst>
                </a:gridCol>
                <a:gridCol w="1086903">
                  <a:extLst>
                    <a:ext uri="{9D8B030D-6E8A-4147-A177-3AD203B41FA5}">
                      <a16:colId xmlns:a16="http://schemas.microsoft.com/office/drawing/2014/main" val="1116441375"/>
                    </a:ext>
                  </a:extLst>
                </a:gridCol>
              </a:tblGrid>
              <a:tr h="30890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TOP SKILLS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4047514762"/>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Visualisation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9922307"/>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Analytics</a:t>
                      </a:r>
                      <a:endParaRPr lang="en-GB" sz="1200" dirty="0">
                        <a:solidFill>
                          <a:srgbClr val="FFFFFF"/>
                        </a:solidFill>
                        <a:latin typeface="Graphik Ligh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12475489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Stakeholder Management</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600307940"/>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Information Design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44858369"/>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Technical Leading</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6103134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Generative AI</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866542702"/>
                  </a:ext>
                </a:extLst>
              </a:tr>
              <a:tr h="191341">
                <a:tc gridSpan="2">
                  <a:txBody>
                    <a:bodyPr/>
                    <a:lstStyle/>
                    <a:p>
                      <a:endParaRPr lang="en-GB" sz="1200"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79860975"/>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rPr>
                        <a:t>T</a:t>
                      </a: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OOLS &amp; FRAMEWORKS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91747032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FFFFFF"/>
                          </a:solidFill>
                          <a:effectLst/>
                          <a:uLnTx/>
                          <a:uFillTx/>
                          <a:latin typeface="Graphik Light" panose="020B0403030202060203" pitchFamily="34" charset="77"/>
                          <a:ea typeface="+mn-ea"/>
                          <a:cs typeface="+mn-cs"/>
                        </a:rPr>
                        <a:t>Tableau</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93285675"/>
                  </a:ext>
                </a:extLst>
              </a:tr>
              <a:tr h="22020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Power BI</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09748070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Qlik Sense</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79329782"/>
                  </a:ext>
                </a:extLst>
              </a:tr>
              <a:tr h="6378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SQL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31483627"/>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Python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60843632"/>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8779466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CERTIFICATIONS</a:t>
                      </a:r>
                      <a:endPar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endParaRP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11220417"/>
                  </a:ext>
                </a:extLst>
              </a:tr>
              <a:tr h="38269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Tableau Desktop Certified Associate (expired)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11057166"/>
                  </a:ext>
                </a:extLst>
              </a:tr>
              <a:tr h="23695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Mathematics </a:t>
                      </a:r>
                      <a:r>
                        <a:rPr kumimoji="0" lang="en-GB" sz="1200" b="0" i="0" u="none" strike="noStrike" kern="1200" cap="none" spc="0" normalizeH="0" baseline="0" noProof="0" dirty="0" err="1">
                          <a:ln>
                            <a:noFill/>
                          </a:ln>
                          <a:solidFill>
                            <a:srgbClr val="FFFFFF"/>
                          </a:solidFill>
                          <a:effectLst/>
                          <a:uLnTx/>
                          <a:uFillTx/>
                          <a:latin typeface="Graphik Light" panose="020B0403030202060203" pitchFamily="34" charset="77"/>
                          <a:ea typeface="+mn-ea"/>
                          <a:cs typeface="+mn-cs"/>
                        </a:rPr>
                        <a:t>Bsc</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36837984"/>
                  </a:ext>
                </a:extLst>
              </a:tr>
              <a:tr h="245807">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Economics </a:t>
                      </a:r>
                      <a:r>
                        <a:rPr kumimoji="0" lang="en-GB" sz="1200" b="0" i="0" u="none" strike="noStrike" kern="1200" cap="none" spc="0" normalizeH="0" baseline="0" noProof="0" dirty="0" err="1">
                          <a:ln>
                            <a:noFill/>
                          </a:ln>
                          <a:solidFill>
                            <a:srgbClr val="FFFFFF"/>
                          </a:solidFill>
                          <a:effectLst/>
                          <a:uLnTx/>
                          <a:uFillTx/>
                          <a:latin typeface="Graphik Light" panose="020B0403030202060203" pitchFamily="34" charset="77"/>
                          <a:ea typeface="+mn-ea"/>
                          <a:cs typeface="+mn-cs"/>
                        </a:rPr>
                        <a:t>Msc</a:t>
                      </a: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860709267"/>
                  </a:ext>
                </a:extLst>
              </a:tr>
              <a:tr h="249601">
                <a:tc gridSpan="2">
                  <a:txBody>
                    <a:bodyPr/>
                    <a:lstStyle/>
                    <a:p>
                      <a:endParaRPr lang="en-GB" sz="120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214770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INDUSTRY EXPERTISE</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88280489"/>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Retail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856594090"/>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Health</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588940046"/>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Services</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502121854"/>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Sustainability</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495268952"/>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Energy</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57086706"/>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65149420"/>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7784711"/>
                  </a:ext>
                </a:extLst>
              </a:tr>
            </a:tbl>
          </a:graphicData>
        </a:graphic>
      </p:graphicFrame>
      <p:sp>
        <p:nvSpPr>
          <p:cNvPr id="60" name="TextBox 59">
            <a:extLst>
              <a:ext uri="{FF2B5EF4-FFF2-40B4-BE49-F238E27FC236}">
                <a16:creationId xmlns:a16="http://schemas.microsoft.com/office/drawing/2014/main" id="{F8B3CD47-D284-D282-C60F-D1940DC070A9}"/>
              </a:ext>
            </a:extLst>
          </p:cNvPr>
          <p:cNvSpPr txBox="1"/>
          <p:nvPr/>
        </p:nvSpPr>
        <p:spPr>
          <a:xfrm>
            <a:off x="1" y="1244907"/>
            <a:ext cx="3101674" cy="1015663"/>
          </a:xfrm>
          <a:prstGeom prst="rect">
            <a:avLst/>
          </a:prstGeom>
          <a:noFill/>
          <a:ln>
            <a:noFill/>
          </a:ln>
        </p:spPr>
        <p:txBody>
          <a:bodyPr wrap="square">
            <a:spAutoFit/>
          </a:bodyPr>
          <a:lstStyle/>
          <a:p>
            <a:pPr>
              <a:spcBef>
                <a:spcPts val="600"/>
              </a:spcBef>
              <a:spcAft>
                <a:spcPts val="600"/>
              </a:spcAft>
            </a:pPr>
            <a:r>
              <a:rPr lang="en-GB" altLang="zh-CN" sz="1200" dirty="0">
                <a:solidFill>
                  <a:schemeClr val="bg1"/>
                </a:solidFill>
                <a:latin typeface="Graphik Light" panose="020B0403030202060203" pitchFamily="34" charset="0"/>
                <a:cs typeface="Arial" panose="020B0604020202020204" pitchFamily="34" charset="0"/>
                <a:sym typeface="+mn-lt"/>
              </a:rPr>
              <a:t>A data solutions and development professional with 7+ years’ experience, passionate about visualisation and AI to facilitate and accelerate data driven decision making.</a:t>
            </a:r>
          </a:p>
        </p:txBody>
      </p:sp>
      <p:sp>
        <p:nvSpPr>
          <p:cNvPr id="3" name="TextBox 2">
            <a:extLst>
              <a:ext uri="{FF2B5EF4-FFF2-40B4-BE49-F238E27FC236}">
                <a16:creationId xmlns:a16="http://schemas.microsoft.com/office/drawing/2014/main" id="{DE3A93A2-D9D8-733C-2D46-75FDCD38B527}"/>
              </a:ext>
            </a:extLst>
          </p:cNvPr>
          <p:cNvSpPr txBox="1"/>
          <p:nvPr/>
        </p:nvSpPr>
        <p:spPr>
          <a:xfrm>
            <a:off x="804623" y="164605"/>
            <a:ext cx="2280918" cy="754053"/>
          </a:xfrm>
          <a:prstGeom prst="rect">
            <a:avLst/>
          </a:prstGeom>
          <a:noFill/>
        </p:spPr>
        <p:txBody>
          <a:bodyPr wrap="square" lIns="0" tIns="0" rIns="0" bIns="45720" rtlCol="0" anchor="t">
            <a:spAutoFit/>
          </a:bodyPr>
          <a:lstStyle/>
          <a:p>
            <a:pPr>
              <a:lnSpc>
                <a:spcPct val="100000"/>
              </a:lnSpc>
              <a:defRPr/>
            </a:pPr>
            <a:r>
              <a:rPr lang="en-GB" sz="1600" b="1" dirty="0">
                <a:solidFill>
                  <a:srgbClr val="FFFFFF"/>
                </a:solidFill>
                <a:latin typeface="Graphik Black" panose="020B0A03030202060203" pitchFamily="34" charset="0"/>
              </a:rPr>
              <a:t>Tom Morgan</a:t>
            </a:r>
            <a:endParaRPr lang="nl-BE" sz="1600" b="1" dirty="0">
              <a:solidFill>
                <a:srgbClr val="FFFFFF"/>
              </a:solidFill>
              <a:latin typeface="Graphik Black" panose="020B0A03030202060203" pitchFamily="34" charset="0"/>
            </a:endParaRPr>
          </a:p>
          <a:p>
            <a:pPr>
              <a:lnSpc>
                <a:spcPct val="100000"/>
              </a:lnSpc>
              <a:defRPr/>
            </a:pPr>
            <a:r>
              <a:rPr kumimoji="0" lang="nl-BE" sz="1000" b="0" i="0" u="none" strike="noStrike" kern="1200" cap="none" spc="0" normalizeH="0" baseline="0" noProof="0" dirty="0">
                <a:ln>
                  <a:noFill/>
                </a:ln>
                <a:solidFill>
                  <a:srgbClr val="FFFFFF"/>
                </a:solidFill>
                <a:effectLst/>
                <a:uLnTx/>
                <a:uFillTx/>
                <a:latin typeface="Graphik"/>
                <a:ea typeface="+mn-ea"/>
                <a:cs typeface="+mn-cs"/>
              </a:rPr>
              <a:t>Augmented Insights </a:t>
            </a:r>
          </a:p>
          <a:p>
            <a:pPr>
              <a:lnSpc>
                <a:spcPct val="100000"/>
              </a:lnSpc>
              <a:defRPr/>
            </a:pPr>
            <a:r>
              <a:rPr kumimoji="0" lang="nl-BE" sz="1000" b="0" i="0" u="none" strike="noStrike" kern="1200" cap="none" spc="0" normalizeH="0" baseline="0" noProof="0" dirty="0">
                <a:ln>
                  <a:noFill/>
                </a:ln>
                <a:solidFill>
                  <a:srgbClr val="FFFFFF"/>
                </a:solidFill>
                <a:effectLst/>
                <a:uLnTx/>
                <a:uFillTx/>
                <a:latin typeface="Graphik"/>
                <a:ea typeface="+mn-ea"/>
                <a:cs typeface="+mn-cs"/>
              </a:rPr>
              <a:t>Associate Manager</a:t>
            </a:r>
          </a:p>
          <a:p>
            <a:pPr>
              <a:lnSpc>
                <a:spcPct val="100000"/>
              </a:lnSpc>
              <a:defRPr/>
            </a:pPr>
            <a:r>
              <a:rPr lang="nl-BE" sz="1000" dirty="0">
                <a:solidFill>
                  <a:srgbClr val="FFFFFF"/>
                </a:solidFill>
                <a:latin typeface="Graphik"/>
              </a:rPr>
              <a:t>CL8</a:t>
            </a:r>
            <a:endParaRPr kumimoji="0" lang="en-GB" sz="10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0" name="TextBox 9">
            <a:extLst>
              <a:ext uri="{FF2B5EF4-FFF2-40B4-BE49-F238E27FC236}">
                <a16:creationId xmlns:a16="http://schemas.microsoft.com/office/drawing/2014/main" id="{684763A4-741C-77EE-3A1A-B59EFC35E46C}"/>
              </a:ext>
            </a:extLst>
          </p:cNvPr>
          <p:cNvSpPr txBox="1"/>
          <p:nvPr/>
        </p:nvSpPr>
        <p:spPr>
          <a:xfrm>
            <a:off x="3425847" y="74239"/>
            <a:ext cx="3904376" cy="261610"/>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A100FF"/>
                </a:solidFill>
                <a:effectLst/>
                <a:uLnTx/>
                <a:uFillTx/>
                <a:latin typeface="Graphik Light" panose="020B0403030202060203" pitchFamily="34" charset="77"/>
                <a:ea typeface="+mn-ea"/>
                <a:cs typeface="+mn-cs"/>
              </a:rPr>
              <a:t>SELECTED EXPERIENCE</a:t>
            </a:r>
          </a:p>
        </p:txBody>
      </p:sp>
      <p:sp>
        <p:nvSpPr>
          <p:cNvPr id="20" name="Rectangle 19">
            <a:extLst>
              <a:ext uri="{FF2B5EF4-FFF2-40B4-BE49-F238E27FC236}">
                <a16:creationId xmlns:a16="http://schemas.microsoft.com/office/drawing/2014/main" id="{E5848463-A481-F963-A5D7-8AABB84385A6}"/>
              </a:ext>
            </a:extLst>
          </p:cNvPr>
          <p:cNvSpPr/>
          <p:nvPr/>
        </p:nvSpPr>
        <p:spPr>
          <a:xfrm>
            <a:off x="804623" y="1000519"/>
            <a:ext cx="2000406" cy="138499"/>
          </a:xfrm>
          <a:prstGeom prst="rect">
            <a:avLst/>
          </a:prstGeom>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900" dirty="0">
                <a:solidFill>
                  <a:schemeClr val="bg1"/>
                </a:solidFill>
                <a:latin typeface="Arial" panose="020B0604020202020204" pitchFamily="34" charset="0"/>
                <a:cs typeface="Arial" panose="020B0604020202020204" pitchFamily="34" charset="0"/>
              </a:rPr>
              <a:t>tom.d.morgan@accenture.com </a:t>
            </a:r>
            <a:endParaRPr kumimoji="0" lang="en-GB" sz="9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endParaRPr>
          </a:p>
        </p:txBody>
      </p:sp>
      <p:grpSp>
        <p:nvGrpSpPr>
          <p:cNvPr id="61" name="Group 60">
            <a:extLst>
              <a:ext uri="{FF2B5EF4-FFF2-40B4-BE49-F238E27FC236}">
                <a16:creationId xmlns:a16="http://schemas.microsoft.com/office/drawing/2014/main" id="{5C7FDDD5-DB91-69BD-1173-0EE9EB26C692}"/>
              </a:ext>
            </a:extLst>
          </p:cNvPr>
          <p:cNvGrpSpPr/>
          <p:nvPr/>
        </p:nvGrpSpPr>
        <p:grpSpPr>
          <a:xfrm>
            <a:off x="11170160" y="476906"/>
            <a:ext cx="869406" cy="108000"/>
            <a:chOff x="11166988" y="672169"/>
            <a:chExt cx="869406" cy="108000"/>
          </a:xfrm>
        </p:grpSpPr>
        <p:sp>
          <p:nvSpPr>
            <p:cNvPr id="26" name="Oval 25">
              <a:extLst>
                <a:ext uri="{FF2B5EF4-FFF2-40B4-BE49-F238E27FC236}">
                  <a16:creationId xmlns:a16="http://schemas.microsoft.com/office/drawing/2014/main" id="{39781E23-CC80-DF34-B3F2-7B5753118B52}"/>
                </a:ext>
              </a:extLst>
            </p:cNvPr>
            <p:cNvSpPr/>
            <p:nvPr/>
          </p:nvSpPr>
          <p:spPr>
            <a:xfrm>
              <a:off x="11166988"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7" name="Oval 26">
              <a:extLst>
                <a:ext uri="{FF2B5EF4-FFF2-40B4-BE49-F238E27FC236}">
                  <a16:creationId xmlns:a16="http://schemas.microsoft.com/office/drawing/2014/main" id="{D3EFD7CA-7200-5EDC-3255-6AF44935A806}"/>
                </a:ext>
              </a:extLst>
            </p:cNvPr>
            <p:cNvSpPr/>
            <p:nvPr/>
          </p:nvSpPr>
          <p:spPr>
            <a:xfrm>
              <a:off x="11357759"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8" name="Oval 27">
              <a:extLst>
                <a:ext uri="{FF2B5EF4-FFF2-40B4-BE49-F238E27FC236}">
                  <a16:creationId xmlns:a16="http://schemas.microsoft.com/office/drawing/2014/main" id="{DADCC789-BF17-376D-72E5-617769FEB8EA}"/>
                </a:ext>
              </a:extLst>
            </p:cNvPr>
            <p:cNvSpPr/>
            <p:nvPr/>
          </p:nvSpPr>
          <p:spPr>
            <a:xfrm>
              <a:off x="11548530"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9" name="Oval 28">
              <a:extLst>
                <a:ext uri="{FF2B5EF4-FFF2-40B4-BE49-F238E27FC236}">
                  <a16:creationId xmlns:a16="http://schemas.microsoft.com/office/drawing/2014/main" id="{8D902F5F-090E-D182-C380-51B424A21055}"/>
                </a:ext>
              </a:extLst>
            </p:cNvPr>
            <p:cNvSpPr/>
            <p:nvPr/>
          </p:nvSpPr>
          <p:spPr>
            <a:xfrm>
              <a:off x="11739301"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0" name="Oval 29">
              <a:extLst>
                <a:ext uri="{FF2B5EF4-FFF2-40B4-BE49-F238E27FC236}">
                  <a16:creationId xmlns:a16="http://schemas.microsoft.com/office/drawing/2014/main" id="{618F0926-58AD-5B0A-9D3A-9F331CEAA87B}"/>
                </a:ext>
              </a:extLst>
            </p:cNvPr>
            <p:cNvSpPr/>
            <p:nvPr/>
          </p:nvSpPr>
          <p:spPr>
            <a:xfrm>
              <a:off x="11930072"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6" name="Group 105">
            <a:extLst>
              <a:ext uri="{FF2B5EF4-FFF2-40B4-BE49-F238E27FC236}">
                <a16:creationId xmlns:a16="http://schemas.microsoft.com/office/drawing/2014/main" id="{F4145993-E041-6BC7-55A5-442A8C591A03}"/>
              </a:ext>
            </a:extLst>
          </p:cNvPr>
          <p:cNvGrpSpPr/>
          <p:nvPr/>
        </p:nvGrpSpPr>
        <p:grpSpPr>
          <a:xfrm>
            <a:off x="11166859" y="1056879"/>
            <a:ext cx="869406" cy="117053"/>
            <a:chOff x="11166988" y="1171237"/>
            <a:chExt cx="869406" cy="117053"/>
          </a:xfrm>
        </p:grpSpPr>
        <p:sp>
          <p:nvSpPr>
            <p:cNvPr id="36" name="Oval 35">
              <a:extLst>
                <a:ext uri="{FF2B5EF4-FFF2-40B4-BE49-F238E27FC236}">
                  <a16:creationId xmlns:a16="http://schemas.microsoft.com/office/drawing/2014/main" id="{FC4F7F80-86E3-77DC-B349-D0E2531E2515}"/>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7" name="Oval 36">
              <a:extLst>
                <a:ext uri="{FF2B5EF4-FFF2-40B4-BE49-F238E27FC236}">
                  <a16:creationId xmlns:a16="http://schemas.microsoft.com/office/drawing/2014/main" id="{3818AA51-9E89-57CB-6676-CE39A04EC614}"/>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8" name="Oval 37">
              <a:extLst>
                <a:ext uri="{FF2B5EF4-FFF2-40B4-BE49-F238E27FC236}">
                  <a16:creationId xmlns:a16="http://schemas.microsoft.com/office/drawing/2014/main" id="{145C5BAE-E644-7B39-4DBE-952CBCB2534C}"/>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9" name="Oval 38">
              <a:extLst>
                <a:ext uri="{FF2B5EF4-FFF2-40B4-BE49-F238E27FC236}">
                  <a16:creationId xmlns:a16="http://schemas.microsoft.com/office/drawing/2014/main" id="{B8C32C7F-BEB9-A2DF-262B-AD0F2C8CE2DC}"/>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7" name="Oval 16">
              <a:extLst>
                <a:ext uri="{FF2B5EF4-FFF2-40B4-BE49-F238E27FC236}">
                  <a16:creationId xmlns:a16="http://schemas.microsoft.com/office/drawing/2014/main" id="{8E003639-7275-DA27-6DE3-376357E7E0B4}"/>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5" name="Group 104">
            <a:extLst>
              <a:ext uri="{FF2B5EF4-FFF2-40B4-BE49-F238E27FC236}">
                <a16:creationId xmlns:a16="http://schemas.microsoft.com/office/drawing/2014/main" id="{97D9C4B3-8A89-84EB-7620-C16AD0AFE978}"/>
              </a:ext>
            </a:extLst>
          </p:cNvPr>
          <p:cNvGrpSpPr/>
          <p:nvPr/>
        </p:nvGrpSpPr>
        <p:grpSpPr>
          <a:xfrm>
            <a:off x="11166988" y="668172"/>
            <a:ext cx="869406" cy="115957"/>
            <a:chOff x="11166988" y="924544"/>
            <a:chExt cx="869406" cy="115957"/>
          </a:xfrm>
        </p:grpSpPr>
        <p:sp>
          <p:nvSpPr>
            <p:cNvPr id="31" name="Oval 30">
              <a:extLst>
                <a:ext uri="{FF2B5EF4-FFF2-40B4-BE49-F238E27FC236}">
                  <a16:creationId xmlns:a16="http://schemas.microsoft.com/office/drawing/2014/main" id="{219FB828-5494-6EA3-3EC7-8B3C34580CAD}"/>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2" name="Oval 31">
              <a:extLst>
                <a:ext uri="{FF2B5EF4-FFF2-40B4-BE49-F238E27FC236}">
                  <a16:creationId xmlns:a16="http://schemas.microsoft.com/office/drawing/2014/main" id="{4C475982-DC1F-F783-309A-9D56B6B095DF}"/>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3" name="Oval 32">
              <a:extLst>
                <a:ext uri="{FF2B5EF4-FFF2-40B4-BE49-F238E27FC236}">
                  <a16:creationId xmlns:a16="http://schemas.microsoft.com/office/drawing/2014/main" id="{0EF260A4-17AF-17EE-D216-EAE94C38CA65}"/>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4" name="Oval 33">
              <a:extLst>
                <a:ext uri="{FF2B5EF4-FFF2-40B4-BE49-F238E27FC236}">
                  <a16:creationId xmlns:a16="http://schemas.microsoft.com/office/drawing/2014/main" id="{A63E2992-29A0-9313-3428-D29348341DEC}"/>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Oval 23">
              <a:extLst>
                <a:ext uri="{FF2B5EF4-FFF2-40B4-BE49-F238E27FC236}">
                  <a16:creationId xmlns:a16="http://schemas.microsoft.com/office/drawing/2014/main" id="{ADE4DE11-278B-1696-78F2-0B81FAB94195}"/>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cxnSp>
        <p:nvCxnSpPr>
          <p:cNvPr id="81" name="Straight Connector 80">
            <a:extLst>
              <a:ext uri="{FF2B5EF4-FFF2-40B4-BE49-F238E27FC236}">
                <a16:creationId xmlns:a16="http://schemas.microsoft.com/office/drawing/2014/main" id="{D9D2BCD3-2129-8B70-447C-D627645626AB}"/>
              </a:ext>
            </a:extLst>
          </p:cNvPr>
          <p:cNvCxnSpPr>
            <a:cxnSpLocks/>
          </p:cNvCxnSpPr>
          <p:nvPr/>
        </p:nvCxnSpPr>
        <p:spPr>
          <a:xfrm flipH="1">
            <a:off x="3212745" y="492907"/>
            <a:ext cx="4573" cy="6365093"/>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95B9A41-9832-D97C-46CF-2829138ED6A7}"/>
              </a:ext>
            </a:extLst>
          </p:cNvPr>
          <p:cNvSpPr txBox="1"/>
          <p:nvPr/>
        </p:nvSpPr>
        <p:spPr>
          <a:xfrm>
            <a:off x="3634664" y="2379174"/>
            <a:ext cx="4906443" cy="372445"/>
          </a:xfrm>
          <a:prstGeom prst="rect">
            <a:avLst/>
          </a:prstGeom>
          <a:noFill/>
        </p:spPr>
        <p:txBody>
          <a:bodyPr wrap="square" lIns="0" tIns="0" rIns="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7500C0"/>
              </a:solidFill>
              <a:effectLst/>
              <a:uLnTx/>
              <a:uFillTx/>
              <a:latin typeface="Graphik Light" panose="020B0403030202060203" pitchFamily="34" charset="77"/>
              <a:ea typeface="+mn-ea"/>
              <a:cs typeface="+mn-cs"/>
            </a:endParaRPr>
          </a:p>
        </p:txBody>
      </p:sp>
      <p:sp>
        <p:nvSpPr>
          <p:cNvPr id="86" name="Oval 85">
            <a:extLst>
              <a:ext uri="{FF2B5EF4-FFF2-40B4-BE49-F238E27FC236}">
                <a16:creationId xmlns:a16="http://schemas.microsoft.com/office/drawing/2014/main" id="{6000D495-B0CD-12F7-1936-36BC93D3A760}"/>
              </a:ext>
            </a:extLst>
          </p:cNvPr>
          <p:cNvSpPr/>
          <p:nvPr/>
        </p:nvSpPr>
        <p:spPr>
          <a:xfrm>
            <a:off x="3134349" y="331543"/>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95" name="Oval 94">
            <a:extLst>
              <a:ext uri="{FF2B5EF4-FFF2-40B4-BE49-F238E27FC236}">
                <a16:creationId xmlns:a16="http://schemas.microsoft.com/office/drawing/2014/main" id="{578CA9C2-E493-8037-9114-94601BEC28E0}"/>
              </a:ext>
            </a:extLst>
          </p:cNvPr>
          <p:cNvSpPr/>
          <p:nvPr/>
        </p:nvSpPr>
        <p:spPr>
          <a:xfrm>
            <a:off x="3134349" y="134075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98" name="Straight Connector 97">
            <a:extLst>
              <a:ext uri="{FF2B5EF4-FFF2-40B4-BE49-F238E27FC236}">
                <a16:creationId xmlns:a16="http://schemas.microsoft.com/office/drawing/2014/main" id="{AA7C54C7-9979-F8D8-1570-440E423881C5}"/>
              </a:ext>
            </a:extLst>
          </p:cNvPr>
          <p:cNvCxnSpPr>
            <a:cxnSpLocks/>
          </p:cNvCxnSpPr>
          <p:nvPr/>
        </p:nvCxnSpPr>
        <p:spPr>
          <a:xfrm>
            <a:off x="108646" y="2279722"/>
            <a:ext cx="27493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74495BE6-BF4F-A38E-698D-E96D751A259D}"/>
              </a:ext>
            </a:extLst>
          </p:cNvPr>
          <p:cNvSpPr txBox="1"/>
          <p:nvPr/>
        </p:nvSpPr>
        <p:spPr>
          <a:xfrm>
            <a:off x="3360762" y="323017"/>
            <a:ext cx="5700854" cy="6279243"/>
          </a:xfrm>
          <a:prstGeom prst="rect">
            <a:avLst/>
          </a:prstGeom>
          <a:noFill/>
          <a:ln>
            <a:noFill/>
          </a:ln>
        </p:spPr>
        <p:txBody>
          <a:bodyPr wrap="square" lIns="0" tIns="0" rIns="0" bIns="45720" rtlCol="0">
            <a:noAutofit/>
          </a:bodyPr>
          <a:lstStyle/>
          <a:p>
            <a:pPr lvl="0">
              <a:defRPr/>
            </a:pPr>
            <a:r>
              <a:rPr lang="en-GB" sz="1100" b="1" dirty="0">
                <a:solidFill>
                  <a:srgbClr val="7500C0"/>
                </a:solidFill>
                <a:latin typeface="Graphik Light" panose="020B0403030202060203" pitchFamily="34" charset="77"/>
              </a:rPr>
              <a:t>NHSE / Palantir</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Working with Palantir to support report migration for the NHSE, specifically a Foundry Workshop dashboard highlighting patient waiting times</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In addition to dashboard development, I also took on business analysis tasks, supported data engineering, led team meetings and demoed to NHSE leadership </a:t>
            </a:r>
            <a:endParaRPr lang="en-GB" sz="1100" b="1" dirty="0">
              <a:solidFill>
                <a:srgbClr val="7500C0"/>
              </a:solidFill>
              <a:latin typeface="Graphik Light" panose="020B0403030202060203" pitchFamily="34" charset="77"/>
            </a:endParaRPr>
          </a:p>
          <a:p>
            <a:pPr lvl="0">
              <a:defRPr/>
            </a:pPr>
            <a:endParaRPr lang="en-GB" sz="1100" b="1" dirty="0">
              <a:solidFill>
                <a:srgbClr val="7500C0"/>
              </a:solidFill>
              <a:latin typeface="Graphik Light" panose="020B0403030202060203" pitchFamily="34" charset="77"/>
            </a:endParaRPr>
          </a:p>
          <a:p>
            <a:pPr lvl="0">
              <a:defRPr/>
            </a:pPr>
            <a:r>
              <a:rPr lang="en-GB" sz="1100" b="1" dirty="0">
                <a:solidFill>
                  <a:srgbClr val="7500C0"/>
                </a:solidFill>
                <a:latin typeface="Graphik Light" panose="020B0403030202060203" pitchFamily="34" charset="77"/>
              </a:rPr>
              <a:t>Scottish Power</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Initially came into the team as a Visualisation expert to help build </a:t>
            </a:r>
            <a:r>
              <a:rPr lang="en-GB" sz="1100" kern="0" dirty="0" err="1">
                <a:solidFill>
                  <a:prstClr val="black"/>
                </a:solidFill>
                <a:latin typeface="Graphik Light" panose="020B0403030202060203" pitchFamily="34" charset="0"/>
                <a:cs typeface="Arial" panose="020B0604020202020204" pitchFamily="34" charset="0"/>
              </a:rPr>
              <a:t>PowerBI</a:t>
            </a:r>
            <a:r>
              <a:rPr lang="en-GB" sz="1100" kern="0" dirty="0">
                <a:solidFill>
                  <a:prstClr val="black"/>
                </a:solidFill>
                <a:latin typeface="Graphik Light" panose="020B0403030202060203" pitchFamily="34" charset="0"/>
                <a:cs typeface="Arial" panose="020B0604020202020204" pitchFamily="34" charset="0"/>
              </a:rPr>
              <a:t> Dashboards within Scottish Power Complaints</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Subsequently required to lead the team and manage deliverables including assessing Goodwill reporting and ombudsman risk</a:t>
            </a:r>
            <a:endPar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b="1" dirty="0">
              <a:solidFill>
                <a:srgbClr val="7500C0"/>
              </a:solidFill>
              <a:latin typeface="Graphik Light" panose="020B0403030202060203" pitchFamily="34"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Supply Chain Decarbonisation Suite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teams of data scientists to build Gen AI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Focus on enhancing Sustainability processes by reducing manual effort by circa 90%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stakeholder meetings to gather requirements and drive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Lloyds Banking Group</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2</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development of Power BI dashboards to report on board level metrics</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Regular communication with board level personnel, leading demonstrations and revisiting project scope </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1</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Development of data quality dashboards in Tableau</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production of developed product and training for handover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UK Health Security Agency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Supporting the UKHSA with the covid-19 pandemic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Assisting the Head of Visualisation on key strategic planning and helping direct the team</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Undertaking and directing on dashboard development and delivering marketing and training sessions and artefacts to upskill the business in Qlik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err="1">
                <a:solidFill>
                  <a:srgbClr val="7500C0"/>
                </a:solidFill>
                <a:latin typeface="Graphik Light" panose="020B0403030202060203" pitchFamily="34" charset="77"/>
                <a:sym typeface="+mn-lt"/>
              </a:rPr>
              <a:t>Mudano</a:t>
            </a:r>
            <a:r>
              <a:rPr lang="en-GB" altLang="zh-CN" sz="1100" b="1" dirty="0">
                <a:solidFill>
                  <a:srgbClr val="7500C0"/>
                </a:solidFill>
                <a:latin typeface="Graphik Light" panose="020B0403030202060203" pitchFamily="34" charset="77"/>
                <a:sym typeface="+mn-lt"/>
              </a:rPr>
              <a:t> data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Building prototypes for general demonstration to prospective clients e.g. </a:t>
            </a:r>
            <a:r>
              <a:rPr lang="en-GB" altLang="zh-CN" sz="1100" kern="0" dirty="0" err="1">
                <a:solidFill>
                  <a:prstClr val="black"/>
                </a:solidFill>
                <a:latin typeface="Graphik Light" panose="020B0403030202060203" pitchFamily="34" charset="0"/>
                <a:cs typeface="Arial" panose="020B0604020202020204" pitchFamily="34" charset="0"/>
                <a:sym typeface="+mn-lt"/>
              </a:rPr>
              <a:t>Obeya</a:t>
            </a:r>
            <a:r>
              <a:rPr lang="en-GB" altLang="zh-CN" sz="1100" kern="0" dirty="0">
                <a:solidFill>
                  <a:prstClr val="black"/>
                </a:solidFill>
                <a:latin typeface="Graphik Light" panose="020B0403030202060203" pitchFamily="34" charset="0"/>
                <a:cs typeface="Arial" panose="020B0604020202020204" pitchFamily="34" charset="0"/>
                <a:sym typeface="+mn-lt"/>
              </a:rPr>
              <a:t> flow dashboards, Data Management Experience etc </a:t>
            </a:r>
          </a:p>
        </p:txBody>
      </p:sp>
      <p:grpSp>
        <p:nvGrpSpPr>
          <p:cNvPr id="108" name="Group 107">
            <a:extLst>
              <a:ext uri="{FF2B5EF4-FFF2-40B4-BE49-F238E27FC236}">
                <a16:creationId xmlns:a16="http://schemas.microsoft.com/office/drawing/2014/main" id="{D369F785-BAE5-6B72-F569-ADC13D3B8BD3}"/>
              </a:ext>
            </a:extLst>
          </p:cNvPr>
          <p:cNvGrpSpPr/>
          <p:nvPr/>
        </p:nvGrpSpPr>
        <p:grpSpPr>
          <a:xfrm>
            <a:off x="11166859" y="1418789"/>
            <a:ext cx="869406" cy="108000"/>
            <a:chOff x="11166988" y="1664232"/>
            <a:chExt cx="869406" cy="108000"/>
          </a:xfrm>
        </p:grpSpPr>
        <p:sp>
          <p:nvSpPr>
            <p:cNvPr id="15" name="Oval 14">
              <a:extLst>
                <a:ext uri="{FF2B5EF4-FFF2-40B4-BE49-F238E27FC236}">
                  <a16:creationId xmlns:a16="http://schemas.microsoft.com/office/drawing/2014/main" id="{688B8D33-9563-86ED-E233-3A5F7FC3BD67}"/>
                </a:ext>
              </a:extLst>
            </p:cNvPr>
            <p:cNvSpPr/>
            <p:nvPr/>
          </p:nvSpPr>
          <p:spPr>
            <a:xfrm>
              <a:off x="11166988"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6" name="Oval 15">
              <a:extLst>
                <a:ext uri="{FF2B5EF4-FFF2-40B4-BE49-F238E27FC236}">
                  <a16:creationId xmlns:a16="http://schemas.microsoft.com/office/drawing/2014/main" id="{66BD0499-BF53-A260-D7C5-317F9FAE447F}"/>
                </a:ext>
              </a:extLst>
            </p:cNvPr>
            <p:cNvSpPr/>
            <p:nvPr/>
          </p:nvSpPr>
          <p:spPr>
            <a:xfrm>
              <a:off x="11357759"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Oval 17">
              <a:extLst>
                <a:ext uri="{FF2B5EF4-FFF2-40B4-BE49-F238E27FC236}">
                  <a16:creationId xmlns:a16="http://schemas.microsoft.com/office/drawing/2014/main" id="{48B92A0D-FBF1-A038-C86E-79B0C7121E60}"/>
                </a:ext>
              </a:extLst>
            </p:cNvPr>
            <p:cNvSpPr/>
            <p:nvPr/>
          </p:nvSpPr>
          <p:spPr>
            <a:xfrm>
              <a:off x="11548530" y="1664232"/>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1" name="Oval 20">
              <a:extLst>
                <a:ext uri="{FF2B5EF4-FFF2-40B4-BE49-F238E27FC236}">
                  <a16:creationId xmlns:a16="http://schemas.microsoft.com/office/drawing/2014/main" id="{8FCC4FDB-5538-7F68-1AB1-1C69D2EA16A5}"/>
                </a:ext>
              </a:extLst>
            </p:cNvPr>
            <p:cNvSpPr/>
            <p:nvPr/>
          </p:nvSpPr>
          <p:spPr>
            <a:xfrm>
              <a:off x="11739301"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2" name="Oval 21">
              <a:extLst>
                <a:ext uri="{FF2B5EF4-FFF2-40B4-BE49-F238E27FC236}">
                  <a16:creationId xmlns:a16="http://schemas.microsoft.com/office/drawing/2014/main" id="{5B4A4D72-46B1-CC1C-696D-5DAB1358D357}"/>
                </a:ext>
              </a:extLst>
            </p:cNvPr>
            <p:cNvSpPr/>
            <p:nvPr/>
          </p:nvSpPr>
          <p:spPr>
            <a:xfrm>
              <a:off x="11930072"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2" name="TextBox 1">
            <a:extLst>
              <a:ext uri="{FF2B5EF4-FFF2-40B4-BE49-F238E27FC236}">
                <a16:creationId xmlns:a16="http://schemas.microsoft.com/office/drawing/2014/main" id="{5728C87E-48D0-D924-ECF8-2F34EA54955F}"/>
              </a:ext>
            </a:extLst>
          </p:cNvPr>
          <p:cNvSpPr txBox="1"/>
          <p:nvPr/>
        </p:nvSpPr>
        <p:spPr>
          <a:xfrm>
            <a:off x="0" y="2279722"/>
            <a:ext cx="3085541" cy="4124206"/>
          </a:xfrm>
          <a:prstGeom prst="rect">
            <a:avLst/>
          </a:prstGeom>
          <a:noFill/>
          <a:ln>
            <a:noFill/>
          </a:ln>
        </p:spPr>
        <p:txBody>
          <a:bodyPr wrap="square">
            <a:spAutoFit/>
          </a:bodyPr>
          <a:lstStyle/>
          <a:p>
            <a:pPr>
              <a:spcBef>
                <a:spcPts val="600"/>
              </a:spcBef>
              <a:spcAft>
                <a:spcPts val="600"/>
              </a:spcAft>
            </a:pPr>
            <a:r>
              <a:rPr lang="en-GB" altLang="zh-CN" sz="1100" dirty="0">
                <a:solidFill>
                  <a:schemeClr val="bg1"/>
                </a:solidFill>
                <a:latin typeface="Graphik Light" panose="020B0403030202060203" pitchFamily="34" charset="0"/>
                <a:cs typeface="Arial" panose="020B0604020202020204" pitchFamily="34" charset="0"/>
                <a:sym typeface="+mn-lt"/>
              </a:rPr>
              <a:t>I have extensive experience in scoping, designing, directing, developing and demonstrating dashboard creation in Tableau, Power BI and Qlik Sense. I am also experienced in SQL and can use it to engineer and re-purpose data to connect in with visualisation tools. More recently I have directed development of Gen AI solutions.</a:t>
            </a:r>
          </a:p>
          <a:p>
            <a:pPr>
              <a:spcBef>
                <a:spcPts val="600"/>
              </a:spcBef>
              <a:spcAft>
                <a:spcPts val="600"/>
              </a:spcAft>
            </a:pPr>
            <a:r>
              <a:rPr lang="en-GB" altLang="zh-CN" sz="1100" dirty="0">
                <a:solidFill>
                  <a:schemeClr val="bg1"/>
                </a:solidFill>
                <a:latin typeface="Graphik Light" panose="020B0403030202060203" pitchFamily="34" charset="0"/>
                <a:cs typeface="Arial" panose="020B0604020202020204" pitchFamily="34" charset="0"/>
                <a:sym typeface="+mn-lt"/>
              </a:rPr>
              <a:t>As well as my technical knowledge I can engage with key stakeholders to understand the desired outcome and lead other developers to achieve this. Examples of this include creating data quality tools, advanced prototypes and Gen AI data extraction capabilities.</a:t>
            </a:r>
          </a:p>
          <a:p>
            <a:pPr>
              <a:spcBef>
                <a:spcPts val="600"/>
              </a:spcBef>
              <a:spcAft>
                <a:spcPts val="600"/>
              </a:spcAft>
            </a:pPr>
            <a:r>
              <a:rPr lang="en-GB" altLang="zh-CN" sz="1100" dirty="0">
                <a:solidFill>
                  <a:schemeClr val="bg1"/>
                </a:solidFill>
                <a:latin typeface="Graphik Light" panose="020B0403030202060203" pitchFamily="34" charset="0"/>
                <a:cs typeface="Arial" panose="020B0604020202020204" pitchFamily="34" charset="0"/>
                <a:sym typeface="+mn-lt"/>
              </a:rPr>
              <a:t>I am particularly enthusiastic to support areas which try to make a difference to humanity, predominately across Health and Sustainability. I am also always looking to increase my technical skillset and am interested in further augmenting my experience in app development.</a:t>
            </a:r>
          </a:p>
        </p:txBody>
      </p:sp>
      <p:sp>
        <p:nvSpPr>
          <p:cNvPr id="5" name="Oval 4">
            <a:extLst>
              <a:ext uri="{FF2B5EF4-FFF2-40B4-BE49-F238E27FC236}">
                <a16:creationId xmlns:a16="http://schemas.microsoft.com/office/drawing/2014/main" id="{B9B4CC88-CBC1-33EA-0DE3-77793E52B5D9}"/>
              </a:ext>
            </a:extLst>
          </p:cNvPr>
          <p:cNvSpPr/>
          <p:nvPr/>
        </p:nvSpPr>
        <p:spPr>
          <a:xfrm>
            <a:off x="3134349" y="5856465"/>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4" name="Oval 3">
            <a:extLst>
              <a:ext uri="{FF2B5EF4-FFF2-40B4-BE49-F238E27FC236}">
                <a16:creationId xmlns:a16="http://schemas.microsoft.com/office/drawing/2014/main" id="{E079802D-AADF-EBAB-2AA3-E4084B490773}"/>
              </a:ext>
            </a:extLst>
          </p:cNvPr>
          <p:cNvSpPr/>
          <p:nvPr/>
        </p:nvSpPr>
        <p:spPr>
          <a:xfrm>
            <a:off x="3134349" y="467628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9E3D012D-4893-2EB3-87FF-D44FEA490090}"/>
              </a:ext>
            </a:extLst>
          </p:cNvPr>
          <p:cNvGrpSpPr/>
          <p:nvPr/>
        </p:nvGrpSpPr>
        <p:grpSpPr>
          <a:xfrm>
            <a:off x="11166859" y="858914"/>
            <a:ext cx="869406" cy="115957"/>
            <a:chOff x="11166988" y="924544"/>
            <a:chExt cx="869406" cy="115957"/>
          </a:xfrm>
        </p:grpSpPr>
        <p:sp>
          <p:nvSpPr>
            <p:cNvPr id="13" name="Oval 12">
              <a:extLst>
                <a:ext uri="{FF2B5EF4-FFF2-40B4-BE49-F238E27FC236}">
                  <a16:creationId xmlns:a16="http://schemas.microsoft.com/office/drawing/2014/main" id="{B12140C4-5ADF-83FC-0D5C-7C8D7C36ADAB}"/>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4" name="Oval 13">
              <a:extLst>
                <a:ext uri="{FF2B5EF4-FFF2-40B4-BE49-F238E27FC236}">
                  <a16:creationId xmlns:a16="http://schemas.microsoft.com/office/drawing/2014/main" id="{27FA2876-0685-A3C4-8EE3-ED01627C6491}"/>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9" name="Oval 18">
              <a:extLst>
                <a:ext uri="{FF2B5EF4-FFF2-40B4-BE49-F238E27FC236}">
                  <a16:creationId xmlns:a16="http://schemas.microsoft.com/office/drawing/2014/main" id="{F89C6AF3-C73A-5C6C-B2CD-53691C314346}"/>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Oval 22">
              <a:extLst>
                <a:ext uri="{FF2B5EF4-FFF2-40B4-BE49-F238E27FC236}">
                  <a16:creationId xmlns:a16="http://schemas.microsoft.com/office/drawing/2014/main" id="{5726AF4B-0EA5-1776-4564-0CC1C1E688F6}"/>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5" name="Oval 24">
              <a:extLst>
                <a:ext uri="{FF2B5EF4-FFF2-40B4-BE49-F238E27FC236}">
                  <a16:creationId xmlns:a16="http://schemas.microsoft.com/office/drawing/2014/main" id="{6A95A6F3-9C5C-CE01-4D28-38EC195AE7C1}"/>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69" name="Group 68">
            <a:extLst>
              <a:ext uri="{FF2B5EF4-FFF2-40B4-BE49-F238E27FC236}">
                <a16:creationId xmlns:a16="http://schemas.microsoft.com/office/drawing/2014/main" id="{98ABC2EA-7A8E-D947-9FB4-002125C814BE}"/>
              </a:ext>
            </a:extLst>
          </p:cNvPr>
          <p:cNvGrpSpPr/>
          <p:nvPr/>
        </p:nvGrpSpPr>
        <p:grpSpPr>
          <a:xfrm>
            <a:off x="11166859" y="1235854"/>
            <a:ext cx="869406" cy="117053"/>
            <a:chOff x="11166988" y="1171237"/>
            <a:chExt cx="869406" cy="117053"/>
          </a:xfrm>
        </p:grpSpPr>
        <p:sp>
          <p:nvSpPr>
            <p:cNvPr id="70" name="Oval 69">
              <a:extLst>
                <a:ext uri="{FF2B5EF4-FFF2-40B4-BE49-F238E27FC236}">
                  <a16:creationId xmlns:a16="http://schemas.microsoft.com/office/drawing/2014/main" id="{D1A576EA-2EC6-342A-DD89-6CB918E1235F}"/>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1" name="Oval 70">
              <a:extLst>
                <a:ext uri="{FF2B5EF4-FFF2-40B4-BE49-F238E27FC236}">
                  <a16:creationId xmlns:a16="http://schemas.microsoft.com/office/drawing/2014/main" id="{01772E10-9A12-3040-B092-DB0C11AFA5EA}"/>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2" name="Oval 71">
              <a:extLst>
                <a:ext uri="{FF2B5EF4-FFF2-40B4-BE49-F238E27FC236}">
                  <a16:creationId xmlns:a16="http://schemas.microsoft.com/office/drawing/2014/main" id="{FC813EE6-AC0E-F978-0F8D-4D67CF831770}"/>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3" name="Oval 72">
              <a:extLst>
                <a:ext uri="{FF2B5EF4-FFF2-40B4-BE49-F238E27FC236}">
                  <a16:creationId xmlns:a16="http://schemas.microsoft.com/office/drawing/2014/main" id="{1D0E9B7F-5742-9521-EEB7-D1F6C50F4475}"/>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4" name="Oval 73">
              <a:extLst>
                <a:ext uri="{FF2B5EF4-FFF2-40B4-BE49-F238E27FC236}">
                  <a16:creationId xmlns:a16="http://schemas.microsoft.com/office/drawing/2014/main" id="{6A0912E9-8DC9-E557-D2B3-D0A83C4172EC}"/>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pic>
        <p:nvPicPr>
          <p:cNvPr id="6" name="Graphic 10">
            <a:extLst>
              <a:ext uri="{FF2B5EF4-FFF2-40B4-BE49-F238E27FC236}">
                <a16:creationId xmlns:a16="http://schemas.microsoft.com/office/drawing/2014/main" id="{BDC019F8-3047-A0FA-7A43-06ACD8EFB564}"/>
              </a:ext>
            </a:extLst>
          </p:cNvPr>
          <p:cNvPicPr>
            <a:picLocks noChangeAspect="1"/>
          </p:cNvPicPr>
          <p:nvPr/>
        </p:nvPicPr>
        <p:blipFill>
          <a:blip r:embed="rId3" cstate="print">
            <a:extLst>
              <a:ext uri="{28A0092B-C50C-407E-A947-70E740481C1C}">
                <a14:useLocalDpi xmlns:a14="http://schemas.microsoft.com/office/drawing/2010/main" val="0"/>
              </a:ext>
            </a:extLst>
          </a:blip>
          <a:srcRect t="6493" b="6493"/>
          <a:stretch/>
        </p:blipFill>
        <p:spPr>
          <a:xfrm>
            <a:off x="108646" y="301481"/>
            <a:ext cx="611528" cy="611528"/>
          </a:xfrm>
          <a:prstGeom prst="flowChartConnector">
            <a:avLst/>
          </a:prstGeom>
        </p:spPr>
      </p:pic>
      <p:cxnSp>
        <p:nvCxnSpPr>
          <p:cNvPr id="8" name="Straight Connector 7">
            <a:extLst>
              <a:ext uri="{FF2B5EF4-FFF2-40B4-BE49-F238E27FC236}">
                <a16:creationId xmlns:a16="http://schemas.microsoft.com/office/drawing/2014/main" id="{5F3AEF95-6840-D1CF-1A7D-763D3032FF68}"/>
              </a:ext>
            </a:extLst>
          </p:cNvPr>
          <p:cNvCxnSpPr>
            <a:cxnSpLocks/>
          </p:cNvCxnSpPr>
          <p:nvPr/>
        </p:nvCxnSpPr>
        <p:spPr>
          <a:xfrm>
            <a:off x="108646" y="1226528"/>
            <a:ext cx="27493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45409E23-0A21-FFA7-0197-9CA77B63B712}"/>
              </a:ext>
            </a:extLst>
          </p:cNvPr>
          <p:cNvSpPr/>
          <p:nvPr/>
        </p:nvSpPr>
        <p:spPr>
          <a:xfrm>
            <a:off x="3132063" y="234368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40" name="Oval 39">
            <a:extLst>
              <a:ext uri="{FF2B5EF4-FFF2-40B4-BE49-F238E27FC236}">
                <a16:creationId xmlns:a16="http://schemas.microsoft.com/office/drawing/2014/main" id="{C0A044F5-7FB9-9905-9C11-27844AFBFB39}"/>
              </a:ext>
            </a:extLst>
          </p:cNvPr>
          <p:cNvSpPr/>
          <p:nvPr/>
        </p:nvSpPr>
        <p:spPr>
          <a:xfrm>
            <a:off x="3132063" y="3172243"/>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3474461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272D3-D72A-6151-3566-D398C67AAD8E}"/>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C7EEA9E4-CA6C-7331-21EB-2A15537F0FF8}"/>
              </a:ext>
            </a:extLst>
          </p:cNvPr>
          <p:cNvPicPr>
            <a:picLocks noChangeAspect="1"/>
          </p:cNvPicPr>
          <p:nvPr/>
        </p:nvPicPr>
        <p:blipFill>
          <a:blip r:embed="rId3" cstate="print">
            <a:extLst>
              <a:ext uri="{28A0092B-C50C-407E-A947-70E740481C1C}">
                <a14:useLocalDpi xmlns:a14="http://schemas.microsoft.com/office/drawing/2010/main" val="0"/>
              </a:ext>
            </a:extLst>
          </a:blip>
          <a:srcRect l="8285" r="8285"/>
          <a:stretch/>
        </p:blipFill>
        <p:spPr>
          <a:xfrm>
            <a:off x="208859" y="100929"/>
            <a:ext cx="2585978" cy="2476315"/>
          </a:xfrm>
          <a:prstGeom prst="ellipse">
            <a:avLst/>
          </a:prstGeom>
        </p:spPr>
      </p:pic>
      <p:sp>
        <p:nvSpPr>
          <p:cNvPr id="2" name="Title 4">
            <a:extLst>
              <a:ext uri="{FF2B5EF4-FFF2-40B4-BE49-F238E27FC236}">
                <a16:creationId xmlns:a16="http://schemas.microsoft.com/office/drawing/2014/main" id="{04025BDE-38FA-CA69-0B8A-B8AE1627A76B}"/>
              </a:ext>
            </a:extLst>
          </p:cNvPr>
          <p:cNvSpPr txBox="1">
            <a:spLocks/>
          </p:cNvSpPr>
          <p:nvPr/>
        </p:nvSpPr>
        <p:spPr>
          <a:xfrm>
            <a:off x="3218181" y="136928"/>
            <a:ext cx="6124104" cy="990600"/>
          </a:xfrm>
          <a:prstGeom prst="rect">
            <a:avLst/>
          </a:prstGeom>
        </p:spPr>
        <p:txBody>
          <a:bodyPr>
            <a:noAutofit/>
          </a:bodyPr>
          <a:lstStyle>
            <a:lvl1pPr algn="l" defTabSz="685800" rtl="0" eaLnBrk="1" latinLnBrk="0" hangingPunct="1">
              <a:lnSpc>
                <a:spcPct val="80000"/>
              </a:lnSpc>
              <a:spcBef>
                <a:spcPct val="0"/>
              </a:spcBef>
              <a:buNone/>
              <a:defRPr sz="2400" kern="1200">
                <a:solidFill>
                  <a:schemeClr val="accent1"/>
                </a:solidFill>
                <a:latin typeface="+mj-lt"/>
                <a:ea typeface="+mj-ea"/>
                <a:cs typeface="+mj-cs"/>
              </a:defRPr>
            </a:lvl1pPr>
          </a:lstStyle>
          <a:p>
            <a:pPr marL="0" marR="0" lvl="0" indent="0" algn="l" defTabSz="685800" rtl="0" eaLnBrk="1" fontAlgn="auto" latinLnBrk="0" hangingPunct="1">
              <a:lnSpc>
                <a:spcPct val="80000"/>
              </a:lnSpc>
              <a:spcBef>
                <a:spcPct val="0"/>
              </a:spcBef>
              <a:spcAft>
                <a:spcPts val="0"/>
              </a:spcAft>
              <a:buClrTx/>
              <a:buSzTx/>
              <a:buFontTx/>
              <a:buNone/>
              <a:tabLst/>
              <a:defRPr/>
            </a:pPr>
            <a:r>
              <a:rPr kumimoji="0" lang="en-US" altLang="fi-FI" sz="3200" b="1" i="0" u="none" strike="noStrike" kern="1200" cap="none" spc="0" normalizeH="0" baseline="0" noProof="0">
                <a:ln>
                  <a:noFill/>
                </a:ln>
                <a:solidFill>
                  <a:srgbClr val="000000"/>
                </a:solidFill>
                <a:effectLst/>
                <a:uLnTx/>
                <a:uFillTx/>
                <a:latin typeface="Arial Black" panose="020B0604020202020204" pitchFamily="34" charset="0"/>
                <a:ea typeface="+mj-ea"/>
                <a:cs typeface="Arial Black" panose="020B0604020202020204" pitchFamily="34" charset="0"/>
              </a:rPr>
              <a:t>Henrietta Ridley</a:t>
            </a:r>
            <a:endParaRPr kumimoji="0" lang="en-US" sz="3200" b="1" i="0" u="none" strike="noStrike" kern="1200" cap="none" spc="0" normalizeH="0" baseline="0" noProof="0">
              <a:ln>
                <a:noFill/>
              </a:ln>
              <a:solidFill>
                <a:srgbClr val="000000"/>
              </a:solidFill>
              <a:effectLst/>
              <a:uLnTx/>
              <a:uFillTx/>
              <a:latin typeface="Arial Black" panose="020B0604020202020204" pitchFamily="34" charset="0"/>
              <a:ea typeface="+mj-ea"/>
              <a:cs typeface="Arial Black" panose="020B0604020202020204" pitchFamily="34" charset="0"/>
            </a:endParaRPr>
          </a:p>
        </p:txBody>
      </p:sp>
      <p:sp>
        <p:nvSpPr>
          <p:cNvPr id="3" name="Title 4">
            <a:extLst>
              <a:ext uri="{FF2B5EF4-FFF2-40B4-BE49-F238E27FC236}">
                <a16:creationId xmlns:a16="http://schemas.microsoft.com/office/drawing/2014/main" id="{122882FE-145C-EDBE-4A0A-FADCE215146D}"/>
              </a:ext>
            </a:extLst>
          </p:cNvPr>
          <p:cNvSpPr txBox="1">
            <a:spLocks/>
          </p:cNvSpPr>
          <p:nvPr/>
        </p:nvSpPr>
        <p:spPr>
          <a:xfrm>
            <a:off x="3359150" y="826288"/>
            <a:ext cx="3972186" cy="317657"/>
          </a:xfrm>
          <a:prstGeom prst="rect">
            <a:avLst/>
          </a:prstGeom>
        </p:spPr>
        <p:txBody>
          <a:bodyPr vert="horz" lIns="0" tIns="0" rIns="0" bIns="0" rtlCol="0" anchor="t">
            <a:normAutofit/>
          </a:bodyPr>
          <a:lstStyle>
            <a:lvl1pPr algn="l" defTabSz="685800" rtl="0" eaLnBrk="1" latinLnBrk="0" hangingPunct="1">
              <a:lnSpc>
                <a:spcPct val="80000"/>
              </a:lnSpc>
              <a:spcBef>
                <a:spcPct val="0"/>
              </a:spcBef>
              <a:buNone/>
              <a:defRPr sz="3000" kern="1200">
                <a:solidFill>
                  <a:schemeClr val="accent1"/>
                </a:solidFill>
                <a:latin typeface="+mj-lt"/>
                <a:ea typeface="+mj-ea"/>
                <a:cs typeface="+mj-cs"/>
              </a:defRPr>
            </a:lvl1pPr>
          </a:lstStyle>
          <a:p>
            <a:pPr marL="0" marR="0" lvl="0" indent="0" algn="l" defTabSz="449263" rtl="0" eaLnBrk="0" fontAlgn="base" latinLnBrk="0" hangingPunct="0">
              <a:lnSpc>
                <a:spcPct val="100000"/>
              </a:lnSpc>
              <a:spcBef>
                <a:spcPct val="0"/>
              </a:spcBef>
              <a:spcAft>
                <a:spcPct val="0"/>
              </a:spcAft>
              <a:buClrTx/>
              <a:buSzTx/>
              <a:buFontTx/>
              <a:buNone/>
              <a:tabLst/>
              <a:defRPr/>
            </a:pPr>
            <a:r>
              <a:rPr kumimoji="0" lang="en-US" altLang="fi-FI" sz="1400" b="0" i="0" u="none" strike="noStrike" kern="1200" cap="none" spc="0" normalizeH="0" baseline="0" noProof="0">
                <a:ln>
                  <a:noFill/>
                </a:ln>
                <a:solidFill>
                  <a:prstClr val="black"/>
                </a:solidFill>
                <a:effectLst/>
                <a:uLnTx/>
                <a:uFillTx/>
                <a:latin typeface="Arial" panose="020B0604020202020204" pitchFamily="34" charset="0"/>
                <a:ea typeface="+mj-ea"/>
                <a:cs typeface="Arial" panose="020B0604020202020204" pitchFamily="34" charset="0"/>
              </a:rPr>
              <a:t>Data Science Senior Manager</a:t>
            </a:r>
          </a:p>
        </p:txBody>
      </p:sp>
      <p:sp>
        <p:nvSpPr>
          <p:cNvPr id="16" name="Content Placeholder 15">
            <a:extLst>
              <a:ext uri="{FF2B5EF4-FFF2-40B4-BE49-F238E27FC236}">
                <a16:creationId xmlns:a16="http://schemas.microsoft.com/office/drawing/2014/main" id="{8878F66C-36D4-84C9-82CB-BF51AF7EF303}"/>
              </a:ext>
            </a:extLst>
          </p:cNvPr>
          <p:cNvSpPr>
            <a:spLocks noGrp="1"/>
          </p:cNvSpPr>
          <p:nvPr>
            <p:ph idx="1"/>
          </p:nvPr>
        </p:nvSpPr>
        <p:spPr>
          <a:xfrm>
            <a:off x="308142" y="2819402"/>
            <a:ext cx="2475908" cy="3813174"/>
          </a:xfrm>
        </p:spPr>
        <p:txBody>
          <a:bodyPr/>
          <a:lstStyle/>
          <a:p>
            <a:pPr>
              <a:lnSpc>
                <a:spcPct val="80000"/>
              </a:lnSpc>
              <a:spcAft>
                <a:spcPts val="450"/>
              </a:spcAft>
            </a:pPr>
            <a:r>
              <a:rPr lang="en-GB" sz="1400" b="1">
                <a:solidFill>
                  <a:schemeClr val="bg1"/>
                </a:solidFill>
                <a:latin typeface="Arial" panose="020B0604020202020204" pitchFamily="34" charset="0"/>
                <a:cs typeface="Arial" panose="020B0604020202020204" pitchFamily="34" charset="0"/>
              </a:rPr>
              <a:t>Professional Background</a:t>
            </a:r>
          </a:p>
          <a:p>
            <a:pPr>
              <a:spcAft>
                <a:spcPts val="450"/>
              </a:spcAft>
            </a:pPr>
            <a:r>
              <a:rPr lang="en-GB" sz="1000">
                <a:solidFill>
                  <a:srgbClr val="FFFFFF"/>
                </a:solidFill>
                <a:latin typeface="Arial" panose="020B0604020202020204" pitchFamily="34" charset="0"/>
                <a:cs typeface="Arial" panose="020B0604020202020204" pitchFamily="34" charset="0"/>
              </a:rPr>
              <a:t>Henrietta has 7.5+ years experience deploying advanced machine learning solutions across multiple industries. Her most recent work focuses within the Insurance sector and managing Data Science teams to deliver complex solutions. She has a strong interest in decision optimisation, model explainability techniques and on translating complex techniques into an easily digestible format for business users to understand. </a:t>
            </a:r>
          </a:p>
          <a:p>
            <a:pPr>
              <a:spcAft>
                <a:spcPts val="450"/>
              </a:spcAft>
            </a:pPr>
            <a:endParaRPr lang="en-GB" sz="1000">
              <a:solidFill>
                <a:srgbClr val="FFFFFF"/>
              </a:solidFill>
              <a:latin typeface="Arial" panose="020B0604020202020204" pitchFamily="34" charset="0"/>
              <a:cs typeface="Arial" panose="020B0604020202020204" pitchFamily="34" charset="0"/>
            </a:endParaRPr>
          </a:p>
          <a:p>
            <a:pPr>
              <a:spcAft>
                <a:spcPts val="450"/>
              </a:spcAft>
            </a:pPr>
            <a:r>
              <a:rPr lang="en-GB" sz="1000">
                <a:solidFill>
                  <a:srgbClr val="FFFFFF"/>
                </a:solidFill>
                <a:latin typeface="Arial" panose="020B0604020202020204" pitchFamily="34" charset="0"/>
                <a:cs typeface="Arial" panose="020B0604020202020204" pitchFamily="34" charset="0"/>
              </a:rPr>
              <a:t>Henrietta has developed multiple machine learning and AI models (random forests, GBM, uplift modelling, Variational Autoencoders, NLP and computer vision). She has a solid foundation in modelling techniques and is able to apply them to many different client use cases. </a:t>
            </a:r>
          </a:p>
          <a:p>
            <a:pPr algn="just"/>
            <a:endParaRPr lang="en-GB" sz="1000">
              <a:solidFill>
                <a:schemeClr val="bg1"/>
              </a:solidFill>
              <a:latin typeface="Arial" panose="020B0604020202020204" pitchFamily="34" charset="0"/>
              <a:cs typeface="Arial" panose="020B0604020202020204" pitchFamily="34" charset="0"/>
            </a:endParaRPr>
          </a:p>
        </p:txBody>
      </p:sp>
      <p:sp>
        <p:nvSpPr>
          <p:cNvPr id="17" name="Content Placeholder 16">
            <a:extLst>
              <a:ext uri="{FF2B5EF4-FFF2-40B4-BE49-F238E27FC236}">
                <a16:creationId xmlns:a16="http://schemas.microsoft.com/office/drawing/2014/main" id="{CA6A313B-DF4F-2ED8-2496-57BD358DC0BC}"/>
              </a:ext>
            </a:extLst>
          </p:cNvPr>
          <p:cNvSpPr>
            <a:spLocks noGrp="1"/>
          </p:cNvSpPr>
          <p:nvPr>
            <p:ph idx="13"/>
          </p:nvPr>
        </p:nvSpPr>
        <p:spPr>
          <a:xfrm>
            <a:off x="9248321" y="316406"/>
            <a:ext cx="2612100" cy="5730240"/>
          </a:xfrm>
          <a:solidFill>
            <a:schemeClr val="bg1"/>
          </a:solidFill>
        </p:spPr>
        <p:txBody>
          <a:bodyPr>
            <a:normAutofit lnSpcReduction="10000"/>
          </a:bodyPr>
          <a:lstStyle/>
          <a:p>
            <a:pPr>
              <a:spcAft>
                <a:spcPts val="200"/>
              </a:spcAft>
            </a:pPr>
            <a:r>
              <a:rPr lang="en-GB" sz="1200" b="1">
                <a:solidFill>
                  <a:schemeClr val="accent1"/>
                </a:solidFill>
                <a:latin typeface="Arial Black" panose="020B0604020202020204" pitchFamily="34" charset="0"/>
                <a:cs typeface="Arial Black" panose="020B0604020202020204" pitchFamily="34" charset="0"/>
              </a:rPr>
              <a:t>Functional and Technical skills</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Machine Learning</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Data Science</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Predictive and Prescriptive Modelling</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Computer Vision</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Natural Language Processing</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Variational Autoencoders</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Languages: R, Python</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Packages: </a:t>
            </a:r>
            <a:r>
              <a:rPr lang="en-GB" sz="1000" err="1">
                <a:latin typeface="Arial" panose="020B0604020202020204" pitchFamily="34" charset="0"/>
                <a:cs typeface="Arial" panose="020B0604020202020204" pitchFamily="34" charset="0"/>
              </a:rPr>
              <a:t>scipy</a:t>
            </a:r>
            <a:r>
              <a:rPr lang="en-GB" sz="1000">
                <a:latin typeface="Arial" panose="020B0604020202020204" pitchFamily="34" charset="0"/>
                <a:cs typeface="Arial" panose="020B0604020202020204" pitchFamily="34" charset="0"/>
              </a:rPr>
              <a:t>, </a:t>
            </a:r>
            <a:r>
              <a:rPr lang="en-GB" sz="1000" err="1">
                <a:latin typeface="Arial" panose="020B0604020202020204" pitchFamily="34" charset="0"/>
                <a:cs typeface="Arial" panose="020B0604020202020204" pitchFamily="34" charset="0"/>
              </a:rPr>
              <a:t>numpy</a:t>
            </a:r>
            <a:r>
              <a:rPr lang="en-GB" sz="1000">
                <a:latin typeface="Arial" panose="020B0604020202020204" pitchFamily="34" charset="0"/>
                <a:cs typeface="Arial" panose="020B0604020202020204" pitchFamily="34" charset="0"/>
              </a:rPr>
              <a:t>, </a:t>
            </a:r>
            <a:r>
              <a:rPr lang="en-GB" sz="1000" err="1">
                <a:latin typeface="Arial" panose="020B0604020202020204" pitchFamily="34" charset="0"/>
                <a:cs typeface="Arial" panose="020B0604020202020204" pitchFamily="34" charset="0"/>
              </a:rPr>
              <a:t>pyspark</a:t>
            </a:r>
            <a:r>
              <a:rPr lang="en-GB" sz="1000">
                <a:latin typeface="Arial" panose="020B0604020202020204" pitchFamily="34" charset="0"/>
                <a:cs typeface="Arial" panose="020B0604020202020204" pitchFamily="34" charset="0"/>
              </a:rPr>
              <a:t>, </a:t>
            </a:r>
            <a:r>
              <a:rPr lang="en-GB" sz="1000" err="1">
                <a:latin typeface="Arial" panose="020B0604020202020204" pitchFamily="34" charset="0"/>
                <a:cs typeface="Arial" panose="020B0604020202020204" pitchFamily="34" charset="0"/>
              </a:rPr>
              <a:t>tensorflow</a:t>
            </a:r>
            <a:r>
              <a:rPr lang="en-GB" sz="1000">
                <a:latin typeface="Arial" panose="020B0604020202020204" pitchFamily="34" charset="0"/>
                <a:cs typeface="Arial" panose="020B0604020202020204" pitchFamily="34" charset="0"/>
              </a:rPr>
              <a:t>, </a:t>
            </a:r>
            <a:r>
              <a:rPr lang="en-GB" sz="1000" err="1">
                <a:latin typeface="Arial" panose="020B0604020202020204" pitchFamily="34" charset="0"/>
                <a:cs typeface="Arial" panose="020B0604020202020204" pitchFamily="34" charset="0"/>
              </a:rPr>
              <a:t>pytorch</a:t>
            </a:r>
            <a:r>
              <a:rPr lang="en-GB" sz="1000">
                <a:latin typeface="Arial" panose="020B0604020202020204" pitchFamily="34" charset="0"/>
                <a:cs typeface="Arial" panose="020B0604020202020204" pitchFamily="34" charset="0"/>
              </a:rPr>
              <a:t> </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Platforms: GCP, AWS, Azure, Databricks</a:t>
            </a:r>
          </a:p>
          <a:p>
            <a:pPr marL="171450" indent="-171450">
              <a:spcAft>
                <a:spcPts val="200"/>
              </a:spcAft>
              <a:buFont typeface="Arial" panose="020B0604020202020204" pitchFamily="34" charset="0"/>
              <a:buChar char="•"/>
            </a:pPr>
            <a:r>
              <a:rPr lang="en-GB" sz="1000">
                <a:latin typeface="Arial" panose="020B0604020202020204" pitchFamily="34" charset="0"/>
                <a:cs typeface="Arial" panose="020B0604020202020204" pitchFamily="34" charset="0"/>
              </a:rPr>
              <a:t>Data Manipulation: Alteryx, Dataiku, SQL, HQL, </a:t>
            </a:r>
            <a:r>
              <a:rPr lang="en-GB" sz="1000" err="1">
                <a:latin typeface="Arial" panose="020B0604020202020204" pitchFamily="34" charset="0"/>
                <a:cs typeface="Arial" panose="020B0604020202020204" pitchFamily="34" charset="0"/>
              </a:rPr>
              <a:t>Pyspark</a:t>
            </a:r>
            <a:endParaRPr lang="en-GB" sz="1000">
              <a:latin typeface="Arial" panose="020B0604020202020204" pitchFamily="34" charset="0"/>
              <a:cs typeface="Arial" panose="020B0604020202020204" pitchFamily="34" charset="0"/>
            </a:endParaRPr>
          </a:p>
          <a:p>
            <a:pPr marL="99450" indent="-99450">
              <a:spcAft>
                <a:spcPts val="200"/>
              </a:spcAft>
              <a:buSzPct val="80000"/>
              <a:buFont typeface="System Font Regular"/>
              <a:buChar char="●"/>
            </a:pPr>
            <a:endParaRPr lang="en-GB" sz="1000">
              <a:latin typeface="Arial" panose="020B0604020202020204" pitchFamily="34" charset="0"/>
              <a:cs typeface="Arial" panose="020B0604020202020204" pitchFamily="34" charset="0"/>
            </a:endParaRPr>
          </a:p>
          <a:p>
            <a:pPr>
              <a:spcAft>
                <a:spcPts val="200"/>
              </a:spcAft>
            </a:pPr>
            <a:r>
              <a:rPr lang="en-GB" sz="1200" b="1">
                <a:solidFill>
                  <a:schemeClr val="accent1"/>
                </a:solidFill>
                <a:latin typeface="Arial Black" panose="020B0604020202020204" pitchFamily="34" charset="0"/>
                <a:cs typeface="Arial Black" panose="020B0604020202020204" pitchFamily="34" charset="0"/>
              </a:rPr>
              <a:t>Industry Experience</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Insurance</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Banking</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Resources</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CMT</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Policing</a:t>
            </a:r>
          </a:p>
          <a:p>
            <a:pPr marL="0" lvl="1" indent="0" fontAlgn="base">
              <a:spcAft>
                <a:spcPts val="200"/>
              </a:spcAft>
              <a:buClr>
                <a:schemeClr val="tx1"/>
              </a:buClr>
              <a:buSzPct val="100000"/>
              <a:buNone/>
            </a:pPr>
            <a:endParaRPr lang="en-GB" sz="1000">
              <a:latin typeface="Arial" panose="020B0604020202020204" pitchFamily="34" charset="0"/>
              <a:cs typeface="Arial" panose="020B0604020202020204" pitchFamily="34" charset="0"/>
            </a:endParaRPr>
          </a:p>
          <a:p>
            <a:pPr lvl="0" fontAlgn="base">
              <a:spcAft>
                <a:spcPts val="200"/>
              </a:spcAft>
              <a:defRPr/>
            </a:pPr>
            <a:r>
              <a:rPr lang="en-GB" sz="1200" b="1">
                <a:solidFill>
                  <a:srgbClr val="A100FF"/>
                </a:solidFill>
                <a:latin typeface="Arial Black" panose="020B0604020202020204" pitchFamily="34" charset="0"/>
                <a:cs typeface="Arial Black" panose="020B0604020202020204" pitchFamily="34" charset="0"/>
              </a:rPr>
              <a:t>Trainings &amp; Certifications</a:t>
            </a:r>
          </a:p>
          <a:p>
            <a:pPr marL="171450" lvl="0" indent="-171450" fontAlgn="base">
              <a:spcAft>
                <a:spcPts val="200"/>
              </a:spcAft>
              <a:buFont typeface="Arial" panose="020B0604020202020204" pitchFamily="34" charset="0"/>
              <a:buChar char="•"/>
              <a:defRPr/>
            </a:pPr>
            <a:r>
              <a:rPr lang="en-GB" sz="1000">
                <a:solidFill>
                  <a:srgbClr val="000000"/>
                </a:solidFill>
                <a:latin typeface="Arial" panose="020B0604020202020204" pitchFamily="34" charset="0"/>
                <a:cs typeface="Arial" panose="020B0604020202020204" pitchFamily="34" charset="0"/>
              </a:rPr>
              <a:t>AWS Cloud Practitioner</a:t>
            </a:r>
          </a:p>
          <a:p>
            <a:pPr marL="171450" lvl="0" indent="-171450" fontAlgn="base">
              <a:spcAft>
                <a:spcPts val="200"/>
              </a:spcAft>
              <a:buFont typeface="Arial" panose="020B0604020202020204" pitchFamily="34" charset="0"/>
              <a:buChar char="•"/>
              <a:defRPr/>
            </a:pPr>
            <a:r>
              <a:rPr lang="en-GB" sz="1000">
                <a:solidFill>
                  <a:srgbClr val="000000"/>
                </a:solidFill>
                <a:latin typeface="Arial" panose="020B0604020202020204" pitchFamily="34" charset="0"/>
                <a:cs typeface="Arial" panose="020B0604020202020204" pitchFamily="34" charset="0"/>
              </a:rPr>
              <a:t>University of Oxford - AI Cloud and Edge Implementations Certification</a:t>
            </a:r>
          </a:p>
          <a:p>
            <a:pPr lvl="0" fontAlgn="base">
              <a:spcAft>
                <a:spcPts val="200"/>
              </a:spcAft>
              <a:defRPr/>
            </a:pPr>
            <a:endParaRPr lang="en-GB" sz="1000">
              <a:solidFill>
                <a:srgbClr val="000000"/>
              </a:solidFill>
              <a:latin typeface="Arial" panose="020B0604020202020204" pitchFamily="34" charset="0"/>
              <a:cs typeface="Arial" panose="020B0604020202020204" pitchFamily="34" charset="0"/>
            </a:endParaRPr>
          </a:p>
          <a:p>
            <a:pPr fontAlgn="base">
              <a:spcAft>
                <a:spcPts val="200"/>
              </a:spcAft>
              <a:defRPr/>
            </a:pPr>
            <a:r>
              <a:rPr lang="en-GB" sz="1200" b="1">
                <a:solidFill>
                  <a:schemeClr val="accent1"/>
                </a:solidFill>
                <a:latin typeface="Arial Black" panose="020B0604020202020204" pitchFamily="34" charset="0"/>
                <a:cs typeface="Arial Black" panose="020B0604020202020204" pitchFamily="34" charset="0"/>
              </a:rPr>
              <a:t>Clearances</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SC-Clearance</a:t>
            </a:r>
          </a:p>
          <a:p>
            <a:pPr marL="171450" lvl="1" indent="-171450" fontAlgn="base">
              <a:spcAft>
                <a:spcPts val="200"/>
              </a:spcAft>
              <a:buClr>
                <a:schemeClr val="tx1"/>
              </a:buClr>
              <a:buSzPct val="100000"/>
              <a:buFont typeface="Arial" panose="020B0604020202020204" pitchFamily="34" charset="0"/>
              <a:buChar char="•"/>
            </a:pPr>
            <a:endParaRPr lang="en-GB" sz="1000">
              <a:solidFill>
                <a:srgbClr val="000000"/>
              </a:solidFill>
              <a:latin typeface="Arial" panose="020B0604020202020204" pitchFamily="34" charset="0"/>
              <a:cs typeface="Arial" panose="020B0604020202020204" pitchFamily="34" charset="0"/>
            </a:endParaRPr>
          </a:p>
          <a:p>
            <a:pPr>
              <a:spcAft>
                <a:spcPts val="200"/>
              </a:spcAft>
            </a:pPr>
            <a:r>
              <a:rPr lang="en-GB" sz="1200" b="1">
                <a:solidFill>
                  <a:schemeClr val="accent1"/>
                </a:solidFill>
                <a:latin typeface="Arial Black" panose="020B0604020202020204" pitchFamily="34" charset="0"/>
                <a:cs typeface="Arial Black" panose="020B0604020202020204" pitchFamily="34" charset="0"/>
              </a:rPr>
              <a:t>Education</a:t>
            </a:r>
          </a:p>
          <a:p>
            <a:pPr marL="171450" lvl="1" indent="-171450" fontAlgn="base">
              <a:spcAft>
                <a:spcPts val="200"/>
              </a:spcAft>
              <a:buClr>
                <a:schemeClr val="tx1"/>
              </a:buClr>
              <a:buSzPct val="100000"/>
              <a:buFont typeface="Arial" panose="020B0604020202020204" pitchFamily="34" charset="0"/>
              <a:buChar char="•"/>
            </a:pPr>
            <a:r>
              <a:rPr lang="en-GB" sz="1000">
                <a:latin typeface="Arial" panose="020B0604020202020204" pitchFamily="34" charset="0"/>
                <a:cs typeface="Arial" panose="020B0604020202020204" pitchFamily="34" charset="0"/>
              </a:rPr>
              <a:t>BSc Mathematics Hons, Kings College London</a:t>
            </a:r>
          </a:p>
          <a:p>
            <a:pPr lvl="0" fontAlgn="base">
              <a:spcAft>
                <a:spcPts val="200"/>
              </a:spcAft>
              <a:defRPr/>
            </a:pPr>
            <a:endParaRPr lang="en-GB" sz="1000">
              <a:solidFill>
                <a:srgbClr val="000000"/>
              </a:solidFill>
              <a:latin typeface="Arial" panose="020B0604020202020204" pitchFamily="34" charset="0"/>
              <a:cs typeface="Arial" panose="020B0604020202020204" pitchFamily="34" charset="0"/>
            </a:endParaRPr>
          </a:p>
          <a:p>
            <a:pPr marL="0" lvl="1" indent="0" fontAlgn="base">
              <a:lnSpc>
                <a:spcPct val="80000"/>
              </a:lnSpc>
              <a:spcBef>
                <a:spcPts val="600"/>
              </a:spcBef>
              <a:spcAft>
                <a:spcPts val="450"/>
              </a:spcAft>
              <a:buClr>
                <a:schemeClr val="tx1"/>
              </a:buClr>
              <a:buSzPct val="100000"/>
              <a:buNone/>
            </a:pPr>
            <a:endParaRPr lang="en-GB" sz="1000">
              <a:latin typeface="Arial" panose="020B0604020202020204" pitchFamily="34" charset="0"/>
              <a:cs typeface="Arial" panose="020B0604020202020204" pitchFamily="34" charset="0"/>
            </a:endParaRPr>
          </a:p>
          <a:p>
            <a:pPr>
              <a:spcAft>
                <a:spcPts val="450"/>
              </a:spcAft>
              <a:buSzPct val="80000"/>
            </a:pPr>
            <a:endParaRPr lang="en-GB" sz="900">
              <a:latin typeface="Arial" panose="020B0604020202020204" pitchFamily="34" charset="0"/>
              <a:cs typeface="Arial" panose="020B0604020202020204" pitchFamily="34" charset="0"/>
            </a:endParaRPr>
          </a:p>
        </p:txBody>
      </p:sp>
      <p:sp>
        <p:nvSpPr>
          <p:cNvPr id="22" name="Content Placeholder 17">
            <a:extLst>
              <a:ext uri="{FF2B5EF4-FFF2-40B4-BE49-F238E27FC236}">
                <a16:creationId xmlns:a16="http://schemas.microsoft.com/office/drawing/2014/main" id="{AC9D1923-C61B-9F64-F74D-BC9E424B881C}"/>
              </a:ext>
            </a:extLst>
          </p:cNvPr>
          <p:cNvSpPr>
            <a:spLocks noGrp="1"/>
          </p:cNvSpPr>
          <p:nvPr>
            <p:ph idx="14"/>
          </p:nvPr>
        </p:nvSpPr>
        <p:spPr>
          <a:xfrm>
            <a:off x="6172931" y="1240815"/>
            <a:ext cx="2868341" cy="4577797"/>
          </a:xfrm>
        </p:spPr>
        <p:txBody>
          <a:bodyPr/>
          <a:lstStyle/>
          <a:p>
            <a:pPr lvl="0">
              <a:spcAft>
                <a:spcPts val="600"/>
              </a:spcAft>
            </a:pPr>
            <a:r>
              <a:rPr lang="en-GB" sz="1000" b="1">
                <a:solidFill>
                  <a:prstClr val="black"/>
                </a:solidFill>
                <a:latin typeface="Arial" panose="020B0604020202020204" pitchFamily="34" charset="0"/>
                <a:cs typeface="Arial" panose="020B0604020202020204" pitchFamily="34" charset="0"/>
              </a:rPr>
              <a:t>Financial Services</a:t>
            </a:r>
          </a:p>
          <a:p>
            <a:pPr lvl="0">
              <a:spcAft>
                <a:spcPts val="600"/>
              </a:spcAft>
            </a:pPr>
            <a:r>
              <a:rPr lang="en-GB" sz="1000">
                <a:solidFill>
                  <a:prstClr val="black"/>
                </a:solidFill>
                <a:latin typeface="Arial" panose="020B0604020202020204" pitchFamily="34" charset="0"/>
                <a:cs typeface="Arial" panose="020B0604020202020204" pitchFamily="34" charset="0"/>
              </a:rPr>
              <a:t>Rapidly prototype machine learning use cases to improve the banks international trade offering. Leveraging multiple open source datasets and using the Google Cloud Platform to develop a framework for rapid scaling of each use case.</a:t>
            </a:r>
            <a:endParaRPr lang="en-GB" sz="1000" b="1">
              <a:solidFill>
                <a:prstClr val="black"/>
              </a:solidFill>
              <a:latin typeface="Arial" panose="020B0604020202020204" pitchFamily="34" charset="0"/>
              <a:cs typeface="Arial" panose="020B0604020202020204" pitchFamily="34" charset="0"/>
            </a:endParaRPr>
          </a:p>
          <a:p>
            <a:pPr lvl="0">
              <a:spcAft>
                <a:spcPts val="600"/>
              </a:spcAft>
            </a:pPr>
            <a:r>
              <a:rPr lang="en-GB" sz="1000" b="1">
                <a:solidFill>
                  <a:prstClr val="black"/>
                </a:solidFill>
                <a:latin typeface="Arial" panose="020B0604020202020204" pitchFamily="34" charset="0"/>
                <a:cs typeface="Arial" panose="020B0604020202020204" pitchFamily="34" charset="0"/>
              </a:rPr>
              <a:t>Major UK Bank</a:t>
            </a:r>
          </a:p>
          <a:p>
            <a:pPr lvl="0">
              <a:spcAft>
                <a:spcPts val="600"/>
              </a:spcAft>
            </a:pPr>
            <a:r>
              <a:rPr lang="en-GB" sz="1000">
                <a:solidFill>
                  <a:prstClr val="black"/>
                </a:solidFill>
                <a:latin typeface="Arial" panose="020B0604020202020204" pitchFamily="34" charset="0"/>
                <a:cs typeface="Arial" panose="020B0604020202020204" pitchFamily="34" charset="0"/>
              </a:rPr>
              <a:t>Delivered a natural language processing solution. Building out our expertise in the area. Project extension to build and shape the industrialisation phase, aimed to sell and our first analytics piece of work for the client. </a:t>
            </a:r>
          </a:p>
          <a:p>
            <a:pPr lvl="0">
              <a:spcAft>
                <a:spcPts val="600"/>
              </a:spcAft>
            </a:pPr>
            <a:r>
              <a:rPr lang="en-GB" sz="1000" b="1">
                <a:solidFill>
                  <a:prstClr val="black"/>
                </a:solidFill>
                <a:latin typeface="Arial" panose="020B0604020202020204" pitchFamily="34" charset="0"/>
                <a:cs typeface="Arial" panose="020B0604020202020204" pitchFamily="34" charset="0"/>
              </a:rPr>
              <a:t>Global Fuels Retailer</a:t>
            </a:r>
          </a:p>
          <a:p>
            <a:pPr lvl="0">
              <a:spcAft>
                <a:spcPts val="600"/>
              </a:spcAft>
            </a:pPr>
            <a:r>
              <a:rPr lang="en-GB" sz="1000">
                <a:solidFill>
                  <a:prstClr val="black"/>
                </a:solidFill>
                <a:latin typeface="Arial" panose="020B0604020202020204" pitchFamily="34" charset="0"/>
                <a:cs typeface="Arial" panose="020B0604020202020204" pitchFamily="34" charset="0"/>
              </a:rPr>
              <a:t>Develop a computer vision solution and video analytics framework. Using deep learning CNN’s, object detection and object tracking to accurately track the number of people within a store at a specific time. </a:t>
            </a:r>
            <a:endParaRPr lang="en-GB" sz="1000" b="1">
              <a:solidFill>
                <a:prstClr val="black"/>
              </a:solidFill>
              <a:latin typeface="Arial" panose="020B0604020202020204" pitchFamily="34" charset="0"/>
              <a:cs typeface="Arial" panose="020B0604020202020204" pitchFamily="34" charset="0"/>
            </a:endParaRPr>
          </a:p>
          <a:p>
            <a:r>
              <a:rPr lang="en-GB" sz="1000" b="1">
                <a:solidFill>
                  <a:prstClr val="black"/>
                </a:solidFill>
                <a:latin typeface="Arial" panose="020B0604020202020204" pitchFamily="34" charset="0"/>
                <a:cs typeface="Arial" panose="020B0604020202020204" pitchFamily="34" charset="0"/>
              </a:rPr>
              <a:t>UK GI Insurance Company</a:t>
            </a:r>
          </a:p>
          <a:p>
            <a:r>
              <a:rPr lang="en-GB" sz="1000">
                <a:solidFill>
                  <a:prstClr val="black"/>
                </a:solidFill>
                <a:latin typeface="Arial" panose="020B0604020202020204" pitchFamily="34" charset="0"/>
                <a:cs typeface="Arial" panose="020B0604020202020204" pitchFamily="34" charset="0"/>
              </a:rPr>
              <a:t>Used multivariate testing, uplift modelling and advanced machine learning to deliver actionable business insights. Led a team of data scientists to define test strategies. Defining a use case, running a test and creating machine learning models to prescribe actions based on a customer’s characteristics. Proven business value.</a:t>
            </a:r>
          </a:p>
          <a:p>
            <a:pPr lvl="0" defTabSz="685800">
              <a:spcAft>
                <a:spcPts val="0"/>
              </a:spcAft>
            </a:pPr>
            <a:endParaRPr lang="en-GB">
              <a:solidFill>
                <a:srgbClr val="FF9500"/>
              </a:solidFill>
              <a:latin typeface="Arial" panose="020B0604020202020204" pitchFamily="34" charset="0"/>
              <a:cs typeface="Arial" panose="020B0604020202020204" pitchFamily="34" charset="0"/>
            </a:endParaRPr>
          </a:p>
          <a:p>
            <a:endParaRPr lang="en-GB" sz="1000">
              <a:latin typeface="Arial" panose="020B0604020202020204" pitchFamily="34" charset="0"/>
              <a:ea typeface="Arial Unicode MS" pitchFamily="34" charset="-128"/>
              <a:cs typeface="Arial" panose="020B0604020202020204" pitchFamily="34" charset="0"/>
            </a:endParaRPr>
          </a:p>
        </p:txBody>
      </p:sp>
      <p:sp>
        <p:nvSpPr>
          <p:cNvPr id="19" name="Content Placeholder 18">
            <a:extLst>
              <a:ext uri="{FF2B5EF4-FFF2-40B4-BE49-F238E27FC236}">
                <a16:creationId xmlns:a16="http://schemas.microsoft.com/office/drawing/2014/main" id="{3FA1C923-5301-E700-5A7C-B0392998D1DE}"/>
              </a:ext>
            </a:extLst>
          </p:cNvPr>
          <p:cNvSpPr>
            <a:spLocks noGrp="1"/>
          </p:cNvSpPr>
          <p:nvPr>
            <p:ph idx="15"/>
          </p:nvPr>
        </p:nvSpPr>
        <p:spPr>
          <a:xfrm>
            <a:off x="3359149" y="1240815"/>
            <a:ext cx="2632771" cy="4476353"/>
          </a:xfrm>
        </p:spPr>
        <p:txBody>
          <a:bodyPr vert="horz" lIns="0" tIns="0" rIns="0" bIns="0" rtlCol="0" anchor="t">
            <a:noAutofit/>
          </a:bodyPr>
          <a:lstStyle/>
          <a:p>
            <a:pPr>
              <a:lnSpc>
                <a:spcPct val="80000"/>
              </a:lnSpc>
              <a:spcAft>
                <a:spcPts val="450"/>
              </a:spcAft>
            </a:pPr>
            <a:r>
              <a:rPr lang="en-GB" sz="1400" b="1" dirty="0">
                <a:solidFill>
                  <a:schemeClr val="accent1"/>
                </a:solidFill>
                <a:latin typeface="Arial Black"/>
                <a:ea typeface="Arial Unicode MS"/>
                <a:cs typeface="Arial Black" panose="020B0604020202020204" pitchFamily="34" charset="0"/>
              </a:rPr>
              <a:t>Project Experience</a:t>
            </a:r>
            <a:endParaRPr lang="en-GB" sz="1400" b="1" dirty="0">
              <a:solidFill>
                <a:schemeClr val="accent1"/>
              </a:solidFill>
              <a:latin typeface="Arial Black" panose="020B0604020202020204" pitchFamily="34" charset="0"/>
              <a:ea typeface="Arial Unicode MS" pitchFamily="34" charset="-128"/>
              <a:cs typeface="Arial Black" panose="020B0604020202020204" pitchFamily="34" charset="0"/>
            </a:endParaRPr>
          </a:p>
          <a:p>
            <a:r>
              <a:rPr lang="en-GB" sz="1000" b="1" dirty="0">
                <a:latin typeface="Arial"/>
                <a:cs typeface="Arial"/>
              </a:rPr>
              <a:t>UK Retail Insurance</a:t>
            </a:r>
          </a:p>
          <a:p>
            <a:r>
              <a:rPr lang="en-GB" sz="1000" dirty="0">
                <a:latin typeface="Arial"/>
                <a:cs typeface="Arial"/>
              </a:rPr>
              <a:t>Stepped up from just leading the Growth Lane to becoming the overall Data Science Lead for the whole lab (30 person team), accountable for all the data science work that was delivered and critical to the Lab team delivering our £8-£12m benefit target. Actively mentoring and coaching team members to raise technical standards and ensure use of the state of the art solutions.</a:t>
            </a:r>
          </a:p>
          <a:p>
            <a:r>
              <a:rPr lang="en-GB" sz="1000" dirty="0">
                <a:latin typeface="Arial"/>
                <a:cs typeface="Arial"/>
              </a:rPr>
              <a:t>Proving that there is £3.6million in value by delivering an Application Fraud detection model. The most complex Data Science model have experimented with using state of the art LSTM autoencoders.</a:t>
            </a:r>
          </a:p>
          <a:p>
            <a:r>
              <a:rPr lang="en-GB" sz="1000" dirty="0">
                <a:latin typeface="Arial"/>
                <a:cs typeface="Arial"/>
              </a:rPr>
              <a:t>Day to day management of a second use case evaluating external data enrichment sources to improve the pricing models being used across the business.</a:t>
            </a:r>
          </a:p>
          <a:p>
            <a:r>
              <a:rPr lang="en-GB" sz="1000" b="1" dirty="0">
                <a:latin typeface="Arial"/>
                <a:cs typeface="Arial"/>
              </a:rPr>
              <a:t>Global Health Insurer</a:t>
            </a:r>
          </a:p>
          <a:p>
            <a:r>
              <a:rPr lang="en-GB" sz="1000" dirty="0">
                <a:latin typeface="Arial"/>
                <a:cs typeface="Arial"/>
              </a:rPr>
              <a:t>Using Variational Autoencoders to synthetically generate data, maintaining all statistical properties but removing any PII and ability to trace back to individuals. That could be used for testing </a:t>
            </a:r>
            <a:endParaRPr lang="en-GB" sz="10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B0509B4-D355-AEB5-C8A7-29DC497582DC}"/>
              </a:ext>
            </a:extLst>
          </p:cNvPr>
          <p:cNvSpPr txBox="1"/>
          <p:nvPr/>
        </p:nvSpPr>
        <p:spPr>
          <a:xfrm>
            <a:off x="10262795" y="1731981"/>
            <a:ext cx="914400" cy="914400"/>
          </a:xfrm>
          <a:prstGeom prst="rect">
            <a:avLst/>
          </a:prstGeom>
        </p:spPr>
        <p:txBody>
          <a:bodyPr vert="horz" wrap="none" lIns="0" tIns="0" rIns="0" bIns="0" rtlCol="0" anchor="t">
            <a:normAutofit/>
          </a:bodyPr>
          <a:lstStyle/>
          <a:p>
            <a:pPr marL="0" marR="0" lvl="0" indent="0" algn="l" defTabSz="449263"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9339E1D2-F4F3-B71E-5DFC-6BF6523A6491}"/>
              </a:ext>
            </a:extLst>
          </p:cNvPr>
          <p:cNvSpPr txBox="1"/>
          <p:nvPr/>
        </p:nvSpPr>
        <p:spPr>
          <a:xfrm>
            <a:off x="10508974" y="6467061"/>
            <a:ext cx="0" cy="0"/>
          </a:xfrm>
          <a:prstGeom prst="rect">
            <a:avLst/>
          </a:prstGeom>
          <a:noFill/>
        </p:spPr>
        <p:txBody>
          <a:bodyPr wrap="none" lIns="0" tIns="0" rIns="0" bIns="0" rtlCol="0">
            <a:noAutofit/>
          </a:bodyPr>
          <a:lstStyle/>
          <a:p>
            <a:pPr marL="0" marR="0" lvl="0" indent="0" algn="l" defTabSz="228600" rtl="0" eaLnBrk="0" fontAlgn="base" latinLnBrk="0" hangingPunct="0">
              <a:lnSpc>
                <a:spcPct val="100000"/>
              </a:lnSpc>
              <a:spcBef>
                <a:spcPct val="0"/>
              </a:spcBef>
              <a:spcAft>
                <a:spcPts val="1200"/>
              </a:spcAft>
              <a:buClrTx/>
              <a:buSzTx/>
              <a:buFontTx/>
              <a:buNone/>
              <a:tabLst/>
              <a:defRPr/>
            </a:pPr>
            <a:endParaRPr kumimoji="0" lang="en-LV"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2" name="TextBox 11">
            <a:extLst>
              <a:ext uri="{FF2B5EF4-FFF2-40B4-BE49-F238E27FC236}">
                <a16:creationId xmlns:a16="http://schemas.microsoft.com/office/drawing/2014/main" id="{D9AACD36-4189-0ADF-18DB-9AC7B123DDF9}"/>
              </a:ext>
            </a:extLst>
          </p:cNvPr>
          <p:cNvSpPr txBox="1"/>
          <p:nvPr/>
        </p:nvSpPr>
        <p:spPr>
          <a:xfrm>
            <a:off x="3359149" y="5835368"/>
            <a:ext cx="7014211" cy="555272"/>
          </a:xfrm>
          <a:prstGeom prst="rect">
            <a:avLst/>
          </a:prstGeom>
          <a:noFill/>
        </p:spPr>
        <p:txBody>
          <a:bodyPr wrap="square" lIns="0" tIns="0" rIns="0" bIns="0" rtlCol="0">
            <a:noAutofit/>
          </a:bodyPr>
          <a:lstStyle/>
          <a:p>
            <a:pPr defTabSz="228600" fontAlgn="base">
              <a:lnSpc>
                <a:spcPct val="80000"/>
              </a:lnSpc>
              <a:spcAft>
                <a:spcPts val="450"/>
              </a:spcAft>
              <a:defRPr/>
            </a:pPr>
            <a:r>
              <a:rPr lang="en-GB" sz="1400" b="1">
                <a:solidFill>
                  <a:schemeClr val="accent1"/>
                </a:solidFill>
                <a:latin typeface="Arial Black"/>
                <a:ea typeface="Arial Unicode MS"/>
              </a:rPr>
              <a:t>Side Of Desk</a:t>
            </a:r>
          </a:p>
          <a:p>
            <a:pPr defTabSz="228600">
              <a:spcAft>
                <a:spcPts val="600"/>
              </a:spcAft>
            </a:pPr>
            <a:r>
              <a:rPr lang="en-GB" sz="1000" b="1">
                <a:latin typeface="Arial"/>
                <a:cs typeface="Arial"/>
              </a:rPr>
              <a:t>Model Review Framework</a:t>
            </a:r>
          </a:p>
          <a:p>
            <a:pPr defTabSz="228600">
              <a:spcAft>
                <a:spcPts val="600"/>
              </a:spcAft>
            </a:pPr>
            <a:r>
              <a:rPr lang="en-GB" sz="1000">
                <a:latin typeface="Arial"/>
                <a:cs typeface="Arial"/>
              </a:rPr>
              <a:t>Created a standardized explainability toolkit for insurance models, combining SHAP values with business-friendly visualizations to streamline regulatory compliance reviews and accelerate stakeholder sign-off across client engagements.</a:t>
            </a:r>
          </a:p>
          <a:p>
            <a:pPr defTabSz="228600" fontAlgn="base">
              <a:spcAft>
                <a:spcPts val="600"/>
              </a:spcAft>
              <a:defRPr/>
            </a:pPr>
            <a:endParaRPr lang="en-GB" sz="1000" b="1">
              <a:latin typeface="Arial"/>
              <a:cs typeface="Arial"/>
            </a:endParaRPr>
          </a:p>
          <a:p>
            <a:pPr marL="0" marR="0" lvl="0" indent="0" algn="l" defTabSz="228600" rtl="0" eaLnBrk="1" fontAlgn="base" latinLnBrk="0" hangingPunct="1">
              <a:lnSpc>
                <a:spcPct val="80000"/>
              </a:lnSpc>
              <a:spcBef>
                <a:spcPts val="0"/>
              </a:spcBef>
              <a:spcAft>
                <a:spcPts val="45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80412DD1-E54C-6CD1-CCE2-4493A154B62D}"/>
              </a:ext>
            </a:extLst>
          </p:cNvPr>
          <p:cNvSpPr txBox="1"/>
          <p:nvPr/>
        </p:nvSpPr>
        <p:spPr>
          <a:xfrm rot="20272076">
            <a:off x="1548260" y="4217633"/>
            <a:ext cx="3060256" cy="91440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6000" b="1" i="0" u="none" strike="noStrike" kern="1200" cap="none" spc="0" normalizeH="0" baseline="0" noProof="0">
                <a:ln>
                  <a:noFill/>
                </a:ln>
                <a:solidFill>
                  <a:srgbClr val="96968C"/>
                </a:solidFill>
                <a:effectLst/>
                <a:uLnTx/>
                <a:uFillTx/>
                <a:latin typeface="Graphik"/>
                <a:ea typeface="+mn-ea"/>
                <a:cs typeface="+mn-cs"/>
              </a:rPr>
              <a:t>EXAMPLE TEMPLATE CV</a:t>
            </a:r>
          </a:p>
        </p:txBody>
      </p:sp>
      <p:sp>
        <p:nvSpPr>
          <p:cNvPr id="6" name="Title 4">
            <a:extLst>
              <a:ext uri="{FF2B5EF4-FFF2-40B4-BE49-F238E27FC236}">
                <a16:creationId xmlns:a16="http://schemas.microsoft.com/office/drawing/2014/main" id="{C3706B84-DDE9-4491-2927-8A7510B07723}"/>
              </a:ext>
            </a:extLst>
          </p:cNvPr>
          <p:cNvSpPr txBox="1">
            <a:spLocks/>
          </p:cNvSpPr>
          <p:nvPr/>
        </p:nvSpPr>
        <p:spPr>
          <a:xfrm>
            <a:off x="3359149" y="573722"/>
            <a:ext cx="3972186" cy="317657"/>
          </a:xfrm>
          <a:prstGeom prst="rect">
            <a:avLst/>
          </a:prstGeom>
        </p:spPr>
        <p:txBody>
          <a:bodyPr vert="horz" lIns="0" tIns="0" rIns="0" bIns="0" rtlCol="0" anchor="t">
            <a:normAutofit/>
          </a:bodyPr>
          <a:lstStyle>
            <a:lvl1pPr algn="l" defTabSz="685800" rtl="0" eaLnBrk="1" latinLnBrk="0" hangingPunct="1">
              <a:lnSpc>
                <a:spcPct val="80000"/>
              </a:lnSpc>
              <a:spcBef>
                <a:spcPct val="0"/>
              </a:spcBef>
              <a:buNone/>
              <a:defRPr sz="3000" kern="1200">
                <a:solidFill>
                  <a:schemeClr val="accent1"/>
                </a:solidFill>
                <a:latin typeface="+mj-lt"/>
                <a:ea typeface="+mj-ea"/>
                <a:cs typeface="+mj-cs"/>
              </a:defRPr>
            </a:lvl1pPr>
          </a:lstStyle>
          <a:p>
            <a:pPr marL="0" marR="0" lvl="0" indent="0" algn="l" defTabSz="449263" rtl="0" eaLnBrk="0" fontAlgn="base" latinLnBrk="0" hangingPunct="0">
              <a:lnSpc>
                <a:spcPct val="100000"/>
              </a:lnSpc>
              <a:spcBef>
                <a:spcPct val="0"/>
              </a:spcBef>
              <a:spcAft>
                <a:spcPct val="0"/>
              </a:spcAft>
              <a:buClrTx/>
              <a:buSzTx/>
              <a:buFontTx/>
              <a:buNone/>
              <a:tabLst/>
              <a:defRPr/>
            </a:pPr>
            <a:r>
              <a:rPr lang="en-US" altLang="fi-FI" sz="1400">
                <a:solidFill>
                  <a:prstClr val="black"/>
                </a:solidFill>
                <a:latin typeface="Arial" panose="020B0604020202020204" pitchFamily="34" charset="0"/>
                <a:cs typeface="Arial" panose="020B0604020202020204" pitchFamily="34" charset="0"/>
                <a:hlinkClick r:id="rId4"/>
              </a:rPr>
              <a:t>h</a:t>
            </a:r>
            <a:r>
              <a:rPr kumimoji="0" lang="en-US" altLang="fi-FI" sz="1400" b="0" i="0" u="none" strike="noStrike" kern="1200" cap="none" spc="0" normalizeH="0" baseline="0" noProof="0">
                <a:ln>
                  <a:noFill/>
                </a:ln>
                <a:solidFill>
                  <a:prstClr val="black"/>
                </a:solidFill>
                <a:effectLst/>
                <a:uLnTx/>
                <a:uFillTx/>
                <a:latin typeface="Arial" panose="020B0604020202020204" pitchFamily="34" charset="0"/>
                <a:ea typeface="+mj-ea"/>
                <a:cs typeface="Arial" panose="020B0604020202020204" pitchFamily="34" charset="0"/>
                <a:hlinkClick r:id="rId4"/>
              </a:rPr>
              <a:t>enrietta.ridley@accenture.com</a:t>
            </a:r>
            <a:endParaRPr kumimoji="0" lang="en-US" altLang="fi-FI" sz="1400" b="0" i="0" u="none" strike="noStrike" kern="1200" cap="none" spc="0" normalizeH="0" baseline="0" noProof="0">
              <a:ln>
                <a:noFill/>
              </a:ln>
              <a:solidFill>
                <a:prstClr val="black"/>
              </a:solidFill>
              <a:effectLst/>
              <a:uLnTx/>
              <a:uFillTx/>
              <a:latin typeface="Arial" panose="020B0604020202020204" pitchFamily="34" charset="0"/>
              <a:ea typeface="+mj-ea"/>
              <a:cs typeface="Arial" panose="020B0604020202020204" pitchFamily="34" charset="0"/>
            </a:endParaRPr>
          </a:p>
          <a:p>
            <a:pPr marL="0" marR="0" lvl="0" indent="0" algn="l" defTabSz="449263" rtl="0" eaLnBrk="0" fontAlgn="base" latinLnBrk="0" hangingPunct="0">
              <a:lnSpc>
                <a:spcPct val="100000"/>
              </a:lnSpc>
              <a:spcBef>
                <a:spcPct val="0"/>
              </a:spcBef>
              <a:spcAft>
                <a:spcPct val="0"/>
              </a:spcAft>
              <a:buClrTx/>
              <a:buSzTx/>
              <a:buFontTx/>
              <a:buNone/>
              <a:tabLst/>
              <a:defRPr/>
            </a:pPr>
            <a:endParaRPr kumimoji="0" lang="en-US" altLang="fi-FI" sz="1400" b="0" i="0" u="none" strike="noStrike" kern="1200" cap="none" spc="0" normalizeH="0" baseline="0" noProof="0">
              <a:ln>
                <a:noFill/>
              </a:ln>
              <a:solidFill>
                <a:prstClr val="black"/>
              </a:solidFill>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680201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 name="Table 96">
            <a:extLst>
              <a:ext uri="{FF2B5EF4-FFF2-40B4-BE49-F238E27FC236}">
                <a16:creationId xmlns:a16="http://schemas.microsoft.com/office/drawing/2014/main" id="{67931F84-CDCB-C4A7-8A82-5E384F971E9F}"/>
              </a:ext>
            </a:extLst>
          </p:cNvPr>
          <p:cNvGraphicFramePr>
            <a:graphicFrameLocks noGrp="1"/>
          </p:cNvGraphicFramePr>
          <p:nvPr/>
        </p:nvGraphicFramePr>
        <p:xfrm>
          <a:off x="9181832" y="118129"/>
          <a:ext cx="2888302" cy="6848096"/>
        </p:xfrm>
        <a:graphic>
          <a:graphicData uri="http://schemas.openxmlformats.org/drawingml/2006/table">
            <a:tbl>
              <a:tblPr firstRow="1" bandRow="1">
                <a:tableStyleId>{5C22544A-7EE6-4342-B048-85BDC9FD1C3A}</a:tableStyleId>
              </a:tblPr>
              <a:tblGrid>
                <a:gridCol w="1801399">
                  <a:extLst>
                    <a:ext uri="{9D8B030D-6E8A-4147-A177-3AD203B41FA5}">
                      <a16:colId xmlns:a16="http://schemas.microsoft.com/office/drawing/2014/main" val="1736056633"/>
                    </a:ext>
                  </a:extLst>
                </a:gridCol>
                <a:gridCol w="1086903">
                  <a:extLst>
                    <a:ext uri="{9D8B030D-6E8A-4147-A177-3AD203B41FA5}">
                      <a16:colId xmlns:a16="http://schemas.microsoft.com/office/drawing/2014/main" val="1116441375"/>
                    </a:ext>
                  </a:extLst>
                </a:gridCol>
              </a:tblGrid>
              <a:tr h="30890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TOP SKILLS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4047514762"/>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Visualisation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9922307"/>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Analytics</a:t>
                      </a:r>
                      <a:endParaRPr lang="en-GB" sz="1200" dirty="0">
                        <a:solidFill>
                          <a:srgbClr val="FFFFFF"/>
                        </a:solidFill>
                        <a:latin typeface="Graphik Ligh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12475489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Stakeholder Management</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600307940"/>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Information Design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44858369"/>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Technical Leading</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6103134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Generative AI</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866542702"/>
                  </a:ext>
                </a:extLst>
              </a:tr>
              <a:tr h="191341">
                <a:tc gridSpan="2">
                  <a:txBody>
                    <a:bodyPr/>
                    <a:lstStyle/>
                    <a:p>
                      <a:endParaRPr lang="en-GB" sz="1200"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79860975"/>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rPr>
                        <a:t>T</a:t>
                      </a: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OOLS &amp; FRAMEWORKS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91747032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FFFFFF"/>
                          </a:solidFill>
                          <a:effectLst/>
                          <a:uLnTx/>
                          <a:uFillTx/>
                          <a:latin typeface="Graphik Light" panose="020B0403030202060203" pitchFamily="34" charset="77"/>
                          <a:ea typeface="+mn-ea"/>
                          <a:cs typeface="+mn-cs"/>
                        </a:rPr>
                        <a:t>Tableau</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93285675"/>
                  </a:ext>
                </a:extLst>
              </a:tr>
              <a:tr h="22020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Power BI</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09748070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Qlik Sense</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79329782"/>
                  </a:ext>
                </a:extLst>
              </a:tr>
              <a:tr h="6378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SQL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31483627"/>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Python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60843632"/>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8779466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CERTIFICATIONS</a:t>
                      </a:r>
                      <a:endPar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endParaRP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11220417"/>
                  </a:ext>
                </a:extLst>
              </a:tr>
              <a:tr h="38269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Tableau Desktop Certified Associate (expired)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11057166"/>
                  </a:ext>
                </a:extLst>
              </a:tr>
              <a:tr h="23695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Mathematics </a:t>
                      </a:r>
                      <a:r>
                        <a:rPr kumimoji="0" lang="en-GB" sz="1200" b="0" i="0" u="none" strike="noStrike" kern="1200" cap="none" spc="0" normalizeH="0" baseline="0" noProof="0" dirty="0" err="1">
                          <a:ln>
                            <a:noFill/>
                          </a:ln>
                          <a:solidFill>
                            <a:srgbClr val="FFFFFF"/>
                          </a:solidFill>
                          <a:effectLst/>
                          <a:uLnTx/>
                          <a:uFillTx/>
                          <a:latin typeface="Graphik Light" panose="020B0403030202060203" pitchFamily="34" charset="77"/>
                          <a:ea typeface="+mn-ea"/>
                          <a:cs typeface="+mn-cs"/>
                        </a:rPr>
                        <a:t>Bsc</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36837984"/>
                  </a:ext>
                </a:extLst>
              </a:tr>
              <a:tr h="245807">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Economics </a:t>
                      </a:r>
                      <a:r>
                        <a:rPr kumimoji="0" lang="en-GB" sz="1200" b="0" i="0" u="none" strike="noStrike" kern="1200" cap="none" spc="0" normalizeH="0" baseline="0" noProof="0" dirty="0" err="1">
                          <a:ln>
                            <a:noFill/>
                          </a:ln>
                          <a:solidFill>
                            <a:srgbClr val="FFFFFF"/>
                          </a:solidFill>
                          <a:effectLst/>
                          <a:uLnTx/>
                          <a:uFillTx/>
                          <a:latin typeface="Graphik Light" panose="020B0403030202060203" pitchFamily="34" charset="77"/>
                          <a:ea typeface="+mn-ea"/>
                          <a:cs typeface="+mn-cs"/>
                        </a:rPr>
                        <a:t>Msc</a:t>
                      </a: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860709267"/>
                  </a:ext>
                </a:extLst>
              </a:tr>
              <a:tr h="249601">
                <a:tc gridSpan="2">
                  <a:txBody>
                    <a:bodyPr/>
                    <a:lstStyle/>
                    <a:p>
                      <a:endParaRPr lang="en-GB" sz="120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214770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INDUSTRY EXPERTISE</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88280489"/>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Retail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856594090"/>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Health</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588940046"/>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Services</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502121854"/>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Sustainability</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495268952"/>
                  </a:ext>
                </a:extLst>
              </a:tr>
              <a:tr h="191341">
                <a:tc gridSpan="2">
                  <a:txBody>
                    <a:bodyPr/>
                    <a:lstStyle/>
                    <a:p>
                      <a:endParaRPr lang="en-GB" sz="120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57086706"/>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A100FF"/>
                          </a:solidFill>
                          <a:effectLst/>
                          <a:uLnTx/>
                          <a:uFillTx/>
                          <a:latin typeface="Graphik Light" panose="020B0403030202060203" pitchFamily="34" charset="77"/>
                          <a:ea typeface="+mn-ea"/>
                          <a:cs typeface="+mn-cs"/>
                        </a:rPr>
                        <a:t>LANGUAGES</a:t>
                      </a:r>
                      <a:endParaRPr kumimoji="0" lang="en-GB" sz="1400" b="0" i="0" u="none" strike="noStrike" kern="1200" cap="none" spc="0" normalizeH="0" baseline="0" dirty="0">
                        <a:ln>
                          <a:noFill/>
                        </a:ln>
                        <a:solidFill>
                          <a:srgbClr val="A100FF"/>
                        </a:solidFill>
                        <a:effectLst/>
                        <a:uLnTx/>
                        <a:uFillTx/>
                        <a:latin typeface="Graphik Light" panose="020B0403030202060203" pitchFamily="34" charset="77"/>
                        <a:ea typeface="+mn-ea"/>
                        <a:cs typeface="+mn-cs"/>
                      </a:endParaRP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07555101"/>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solidFill>
                          <a:effectLst/>
                          <a:uLnTx/>
                          <a:uFillTx/>
                          <a:latin typeface="Graphik Light" panose="020B0403030202060203" pitchFamily="34" charset="77"/>
                          <a:ea typeface="+mn-ea"/>
                          <a:cs typeface="+mn-cs"/>
                        </a:rPr>
                        <a:t>English</a:t>
                      </a: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00684928"/>
                  </a:ext>
                </a:extLst>
              </a:tr>
              <a:tr h="191341">
                <a:tc>
                  <a:txBody>
                    <a:bodyPr/>
                    <a:lstStyle/>
                    <a:p>
                      <a:pPr marL="1587" marR="0" lvl="0" indent="0" algn="l" defTabSz="457200" rtl="0" eaLnBrk="0" fontAlgn="base" latinLnBrk="0" hangingPunct="0">
                        <a:lnSpc>
                          <a:spcPct val="105000"/>
                        </a:lnSpc>
                        <a:spcBef>
                          <a:spcPts val="378"/>
                        </a:spcBef>
                        <a:spcAft>
                          <a:spcPts val="0"/>
                        </a:spcAft>
                        <a:buClrTx/>
                        <a:buSzTx/>
                        <a:buFont typeface="Arial" panose="020B0604020202020204" pitchFamily="34" charset="0"/>
                        <a:buNone/>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05902357"/>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65149420"/>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7784711"/>
                  </a:ext>
                </a:extLst>
              </a:tr>
            </a:tbl>
          </a:graphicData>
        </a:graphic>
      </p:graphicFrame>
      <p:sp>
        <p:nvSpPr>
          <p:cNvPr id="60" name="TextBox 59">
            <a:extLst>
              <a:ext uri="{FF2B5EF4-FFF2-40B4-BE49-F238E27FC236}">
                <a16:creationId xmlns:a16="http://schemas.microsoft.com/office/drawing/2014/main" id="{BC157F01-A997-E3BA-B974-0E9CF6E66FE8}"/>
              </a:ext>
            </a:extLst>
          </p:cNvPr>
          <p:cNvSpPr txBox="1"/>
          <p:nvPr/>
        </p:nvSpPr>
        <p:spPr>
          <a:xfrm>
            <a:off x="3236461" y="323017"/>
            <a:ext cx="2756823" cy="1600438"/>
          </a:xfrm>
          <a:prstGeom prst="rect">
            <a:avLst/>
          </a:prstGeom>
          <a:noFill/>
          <a:ln>
            <a:noFill/>
          </a:ln>
        </p:spPr>
        <p:txBody>
          <a:bodyPr wrap="square">
            <a:spAutoFit/>
          </a:bodyPr>
          <a:lstStyle/>
          <a:p>
            <a:pPr>
              <a:spcBef>
                <a:spcPts val="600"/>
              </a:spcBef>
              <a:spcAft>
                <a:spcPts val="600"/>
              </a:spcAft>
            </a:pPr>
            <a:r>
              <a:rPr lang="en-GB" altLang="zh-CN" sz="1400" dirty="0">
                <a:solidFill>
                  <a:schemeClr val="tx1"/>
                </a:solidFill>
                <a:latin typeface="Graphik Light" panose="020B0403030202060203" pitchFamily="34" charset="0"/>
                <a:cs typeface="Arial" panose="020B0604020202020204" pitchFamily="34" charset="0"/>
                <a:sym typeface="+mn-lt"/>
              </a:rPr>
              <a:t>A data solutions and development professional with 8+ years’ experience, passionate about visualisation and AI to facilitate and accelerate data driven decision making.</a:t>
            </a:r>
          </a:p>
        </p:txBody>
      </p:sp>
      <p:sp>
        <p:nvSpPr>
          <p:cNvPr id="3" name="TextBox 2">
            <a:extLst>
              <a:ext uri="{FF2B5EF4-FFF2-40B4-BE49-F238E27FC236}">
                <a16:creationId xmlns:a16="http://schemas.microsoft.com/office/drawing/2014/main" id="{EC800AB6-5847-6C40-A453-CFC361127CAA}"/>
              </a:ext>
            </a:extLst>
          </p:cNvPr>
          <p:cNvSpPr txBox="1"/>
          <p:nvPr/>
        </p:nvSpPr>
        <p:spPr>
          <a:xfrm>
            <a:off x="236531" y="2697533"/>
            <a:ext cx="1924375" cy="1000274"/>
          </a:xfrm>
          <a:prstGeom prst="rect">
            <a:avLst/>
          </a:prstGeom>
          <a:noFill/>
        </p:spPr>
        <p:txBody>
          <a:bodyPr wrap="square" lIns="0" tIns="0" rIns="0" bIns="45720" rtlCol="0" anchor="t">
            <a:spAutoFit/>
          </a:bodyPr>
          <a:lstStyle/>
          <a:p>
            <a:pPr>
              <a:lnSpc>
                <a:spcPct val="100000"/>
              </a:lnSpc>
              <a:defRPr/>
            </a:pPr>
            <a:r>
              <a:rPr lang="en-GB" sz="2000" b="1" dirty="0">
                <a:solidFill>
                  <a:srgbClr val="FFFFFF"/>
                </a:solidFill>
                <a:latin typeface="Graphik Black" panose="020B0A03030202060203" pitchFamily="34" charset="0"/>
              </a:rPr>
              <a:t>Tom Morgan</a:t>
            </a:r>
            <a:endParaRPr lang="nl-BE" sz="2000" b="1" dirty="0">
              <a:solidFill>
                <a:srgbClr val="FFFFFF"/>
              </a:solidFill>
              <a:latin typeface="Graphik Black" panose="020B0A03030202060203" pitchFamily="34" charset="0"/>
            </a:endParaRPr>
          </a:p>
          <a:p>
            <a:pPr>
              <a:lnSpc>
                <a:spcPct val="100000"/>
              </a:lnSpc>
              <a:defRPr/>
            </a:pPr>
            <a:r>
              <a:rPr kumimoji="0" lang="nl-BE" sz="1400" b="0" i="0" u="none" strike="noStrike" kern="1200" cap="none" spc="0" normalizeH="0" baseline="0" noProof="0" dirty="0">
                <a:ln>
                  <a:noFill/>
                </a:ln>
                <a:solidFill>
                  <a:srgbClr val="FFFFFF"/>
                </a:solidFill>
                <a:effectLst/>
                <a:uLnTx/>
                <a:uFillTx/>
                <a:latin typeface="Graphik"/>
                <a:ea typeface="+mn-ea"/>
                <a:cs typeface="+mn-cs"/>
              </a:rPr>
              <a:t>Augmented Insights Associate Manager</a:t>
            </a:r>
          </a:p>
          <a:p>
            <a:pPr>
              <a:lnSpc>
                <a:spcPct val="100000"/>
              </a:lnSpc>
              <a:defRPr/>
            </a:pPr>
            <a:r>
              <a:rPr lang="nl-BE" sz="1400" dirty="0">
                <a:solidFill>
                  <a:srgbClr val="FFFFFF"/>
                </a:solidFill>
                <a:latin typeface="Graphik"/>
              </a:rPr>
              <a:t>CL8</a:t>
            </a:r>
            <a:endParaRPr kumimoji="0" lang="en-GB" sz="14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0" name="TextBox 9">
            <a:extLst>
              <a:ext uri="{FF2B5EF4-FFF2-40B4-BE49-F238E27FC236}">
                <a16:creationId xmlns:a16="http://schemas.microsoft.com/office/drawing/2014/main" id="{46E059BB-6A42-5E42-8A4E-0BF0D2F63C10}"/>
              </a:ext>
            </a:extLst>
          </p:cNvPr>
          <p:cNvSpPr txBox="1"/>
          <p:nvPr/>
        </p:nvSpPr>
        <p:spPr>
          <a:xfrm>
            <a:off x="6223911" y="74239"/>
            <a:ext cx="1957267" cy="261610"/>
          </a:xfrm>
          <a:prstGeom prst="rect">
            <a:avLst/>
          </a:prstGeom>
          <a:noFill/>
        </p:spPr>
        <p:txBody>
          <a:bodyPr wrap="non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A100FF"/>
                </a:solidFill>
                <a:effectLst/>
                <a:uLnTx/>
                <a:uFillTx/>
                <a:latin typeface="Graphik Light" panose="020B0403030202060203" pitchFamily="34" charset="77"/>
                <a:ea typeface="+mn-ea"/>
                <a:cs typeface="+mn-cs"/>
              </a:rPr>
              <a:t>SELECTED EXPERIENCE</a:t>
            </a:r>
          </a:p>
        </p:txBody>
      </p:sp>
      <p:cxnSp>
        <p:nvCxnSpPr>
          <p:cNvPr id="12" name="Straight Connector 11">
            <a:extLst>
              <a:ext uri="{FF2B5EF4-FFF2-40B4-BE49-F238E27FC236}">
                <a16:creationId xmlns:a16="http://schemas.microsoft.com/office/drawing/2014/main" id="{61A7A279-2DE9-E349-B215-AA42D181AFF1}"/>
              </a:ext>
            </a:extLst>
          </p:cNvPr>
          <p:cNvCxnSpPr>
            <a:cxnSpLocks/>
          </p:cNvCxnSpPr>
          <p:nvPr/>
        </p:nvCxnSpPr>
        <p:spPr>
          <a:xfrm>
            <a:off x="236531" y="3743366"/>
            <a:ext cx="308366"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D055B95-562D-6442-8301-CFCF119DB249}"/>
              </a:ext>
            </a:extLst>
          </p:cNvPr>
          <p:cNvSpPr/>
          <p:nvPr/>
        </p:nvSpPr>
        <p:spPr>
          <a:xfrm>
            <a:off x="250222" y="3925622"/>
            <a:ext cx="2645173" cy="782587"/>
          </a:xfrm>
          <a:prstGeom prst="rect">
            <a:avLst/>
          </a:prstGeom>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000" dirty="0">
                <a:solidFill>
                  <a:schemeClr val="bg1"/>
                </a:solidFill>
                <a:latin typeface="Arial" panose="020B0604020202020204" pitchFamily="34" charset="0"/>
                <a:cs typeface="Arial" panose="020B0604020202020204" pitchFamily="34" charset="0"/>
              </a:rPr>
              <a:t>tom.d.morgan@accenture.com </a:t>
            </a:r>
            <a:br>
              <a:rPr kumimoji="0" lang="en-GB" sz="10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rPr>
            </a:br>
            <a:r>
              <a:rPr kumimoji="0" lang="en-GB" sz="10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rPr>
              <a:t>Accenture Technology – London</a:t>
            </a:r>
          </a:p>
          <a:p>
            <a:pPr defTabSz="457200">
              <a:defRPr/>
            </a:pPr>
            <a:endParaRPr lang="en-GB" sz="1000" dirty="0">
              <a:solidFill>
                <a:schemeClr val="bg1"/>
              </a:solidFill>
              <a:latin typeface="Graphik Light" panose="020B0403030202060203" pitchFamily="34" charset="77"/>
            </a:endParaRPr>
          </a:p>
          <a:p>
            <a:pPr defTabSz="457200">
              <a:defRPr/>
            </a:pPr>
            <a:endParaRPr kumimoji="0" lang="en-GB" sz="10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chemeClr val="bg1"/>
              </a:solidFill>
              <a:effectLst/>
              <a:uLnTx/>
              <a:uFillTx/>
              <a:latin typeface="Graphik"/>
              <a:ea typeface="+mn-ea"/>
              <a:cs typeface="+mn-cs"/>
            </a:endParaRPr>
          </a:p>
        </p:txBody>
      </p:sp>
      <p:grpSp>
        <p:nvGrpSpPr>
          <p:cNvPr id="61" name="Group 60">
            <a:extLst>
              <a:ext uri="{FF2B5EF4-FFF2-40B4-BE49-F238E27FC236}">
                <a16:creationId xmlns:a16="http://schemas.microsoft.com/office/drawing/2014/main" id="{BCDE41B0-7BC8-7FD9-F53F-B4C95A6A9009}"/>
              </a:ext>
            </a:extLst>
          </p:cNvPr>
          <p:cNvGrpSpPr/>
          <p:nvPr/>
        </p:nvGrpSpPr>
        <p:grpSpPr>
          <a:xfrm>
            <a:off x="11170160" y="476906"/>
            <a:ext cx="869406" cy="108000"/>
            <a:chOff x="11166988" y="672169"/>
            <a:chExt cx="869406" cy="108000"/>
          </a:xfrm>
        </p:grpSpPr>
        <p:sp>
          <p:nvSpPr>
            <p:cNvPr id="26" name="Oval 25">
              <a:extLst>
                <a:ext uri="{FF2B5EF4-FFF2-40B4-BE49-F238E27FC236}">
                  <a16:creationId xmlns:a16="http://schemas.microsoft.com/office/drawing/2014/main" id="{8F452603-34A4-8A4A-8ACB-93E07D180528}"/>
                </a:ext>
              </a:extLst>
            </p:cNvPr>
            <p:cNvSpPr/>
            <p:nvPr/>
          </p:nvSpPr>
          <p:spPr>
            <a:xfrm>
              <a:off x="11166988"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7" name="Oval 26">
              <a:extLst>
                <a:ext uri="{FF2B5EF4-FFF2-40B4-BE49-F238E27FC236}">
                  <a16:creationId xmlns:a16="http://schemas.microsoft.com/office/drawing/2014/main" id="{E711DDB7-A896-974F-8696-F44E8391E06C}"/>
                </a:ext>
              </a:extLst>
            </p:cNvPr>
            <p:cNvSpPr/>
            <p:nvPr/>
          </p:nvSpPr>
          <p:spPr>
            <a:xfrm>
              <a:off x="11357759"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8" name="Oval 27">
              <a:extLst>
                <a:ext uri="{FF2B5EF4-FFF2-40B4-BE49-F238E27FC236}">
                  <a16:creationId xmlns:a16="http://schemas.microsoft.com/office/drawing/2014/main" id="{50D39289-5B91-2B45-AD27-BA691C11E260}"/>
                </a:ext>
              </a:extLst>
            </p:cNvPr>
            <p:cNvSpPr/>
            <p:nvPr/>
          </p:nvSpPr>
          <p:spPr>
            <a:xfrm>
              <a:off x="11548530"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9" name="Oval 28">
              <a:extLst>
                <a:ext uri="{FF2B5EF4-FFF2-40B4-BE49-F238E27FC236}">
                  <a16:creationId xmlns:a16="http://schemas.microsoft.com/office/drawing/2014/main" id="{2CA76ECE-4803-354E-AB53-95F015F6C571}"/>
                </a:ext>
              </a:extLst>
            </p:cNvPr>
            <p:cNvSpPr/>
            <p:nvPr/>
          </p:nvSpPr>
          <p:spPr>
            <a:xfrm>
              <a:off x="11739301"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0" name="Oval 29">
              <a:extLst>
                <a:ext uri="{FF2B5EF4-FFF2-40B4-BE49-F238E27FC236}">
                  <a16:creationId xmlns:a16="http://schemas.microsoft.com/office/drawing/2014/main" id="{19506B65-91F9-3741-9462-CBC21F0E35F1}"/>
                </a:ext>
              </a:extLst>
            </p:cNvPr>
            <p:cNvSpPr/>
            <p:nvPr/>
          </p:nvSpPr>
          <p:spPr>
            <a:xfrm>
              <a:off x="11930072"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6" name="Group 105">
            <a:extLst>
              <a:ext uri="{FF2B5EF4-FFF2-40B4-BE49-F238E27FC236}">
                <a16:creationId xmlns:a16="http://schemas.microsoft.com/office/drawing/2014/main" id="{C7B06F8E-7D80-CF5A-710F-5FDD6C8C997A}"/>
              </a:ext>
            </a:extLst>
          </p:cNvPr>
          <p:cNvGrpSpPr/>
          <p:nvPr/>
        </p:nvGrpSpPr>
        <p:grpSpPr>
          <a:xfrm>
            <a:off x="11166859" y="1056879"/>
            <a:ext cx="869406" cy="117053"/>
            <a:chOff x="11166988" y="1171237"/>
            <a:chExt cx="869406" cy="117053"/>
          </a:xfrm>
        </p:grpSpPr>
        <p:sp>
          <p:nvSpPr>
            <p:cNvPr id="36" name="Oval 35">
              <a:extLst>
                <a:ext uri="{FF2B5EF4-FFF2-40B4-BE49-F238E27FC236}">
                  <a16:creationId xmlns:a16="http://schemas.microsoft.com/office/drawing/2014/main" id="{5A371657-4F4F-E347-82F4-E44D7E6E7A3E}"/>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7" name="Oval 36">
              <a:extLst>
                <a:ext uri="{FF2B5EF4-FFF2-40B4-BE49-F238E27FC236}">
                  <a16:creationId xmlns:a16="http://schemas.microsoft.com/office/drawing/2014/main" id="{225F462B-7116-C243-BF36-DB9FC94E8B6F}"/>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8" name="Oval 37">
              <a:extLst>
                <a:ext uri="{FF2B5EF4-FFF2-40B4-BE49-F238E27FC236}">
                  <a16:creationId xmlns:a16="http://schemas.microsoft.com/office/drawing/2014/main" id="{ABE35F16-0780-8249-849C-CFE4EE432176}"/>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9" name="Oval 38">
              <a:extLst>
                <a:ext uri="{FF2B5EF4-FFF2-40B4-BE49-F238E27FC236}">
                  <a16:creationId xmlns:a16="http://schemas.microsoft.com/office/drawing/2014/main" id="{52E72923-CFF1-2C41-9DFA-FB45A3C7AB4E}"/>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7" name="Oval 16">
              <a:extLst>
                <a:ext uri="{FF2B5EF4-FFF2-40B4-BE49-F238E27FC236}">
                  <a16:creationId xmlns:a16="http://schemas.microsoft.com/office/drawing/2014/main" id="{CBD73293-B248-DD96-54AE-F6F357AF6EE4}"/>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5" name="Group 104">
            <a:extLst>
              <a:ext uri="{FF2B5EF4-FFF2-40B4-BE49-F238E27FC236}">
                <a16:creationId xmlns:a16="http://schemas.microsoft.com/office/drawing/2014/main" id="{DF1D7ECD-0D83-4BD8-A771-D9584732559B}"/>
              </a:ext>
            </a:extLst>
          </p:cNvPr>
          <p:cNvGrpSpPr/>
          <p:nvPr/>
        </p:nvGrpSpPr>
        <p:grpSpPr>
          <a:xfrm>
            <a:off x="11166988" y="668172"/>
            <a:ext cx="869406" cy="115957"/>
            <a:chOff x="11166988" y="924544"/>
            <a:chExt cx="869406" cy="115957"/>
          </a:xfrm>
        </p:grpSpPr>
        <p:sp>
          <p:nvSpPr>
            <p:cNvPr id="31" name="Oval 30">
              <a:extLst>
                <a:ext uri="{FF2B5EF4-FFF2-40B4-BE49-F238E27FC236}">
                  <a16:creationId xmlns:a16="http://schemas.microsoft.com/office/drawing/2014/main" id="{22406B17-B065-6D48-AAED-E5FAC822353E}"/>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2" name="Oval 31">
              <a:extLst>
                <a:ext uri="{FF2B5EF4-FFF2-40B4-BE49-F238E27FC236}">
                  <a16:creationId xmlns:a16="http://schemas.microsoft.com/office/drawing/2014/main" id="{1245B729-4AC1-2B46-BD15-178650546EFB}"/>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3" name="Oval 32">
              <a:extLst>
                <a:ext uri="{FF2B5EF4-FFF2-40B4-BE49-F238E27FC236}">
                  <a16:creationId xmlns:a16="http://schemas.microsoft.com/office/drawing/2014/main" id="{99BEFD4B-A82B-2045-BB7B-DC4B44638093}"/>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4" name="Oval 33">
              <a:extLst>
                <a:ext uri="{FF2B5EF4-FFF2-40B4-BE49-F238E27FC236}">
                  <a16:creationId xmlns:a16="http://schemas.microsoft.com/office/drawing/2014/main" id="{07984561-21EB-D449-A662-C18FF359719C}"/>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Oval 23">
              <a:extLst>
                <a:ext uri="{FF2B5EF4-FFF2-40B4-BE49-F238E27FC236}">
                  <a16:creationId xmlns:a16="http://schemas.microsoft.com/office/drawing/2014/main" id="{D1507610-D65E-303A-051C-B5003E76F153}"/>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82" name="TextBox 81">
            <a:extLst>
              <a:ext uri="{FF2B5EF4-FFF2-40B4-BE49-F238E27FC236}">
                <a16:creationId xmlns:a16="http://schemas.microsoft.com/office/drawing/2014/main" id="{75CF101F-D4F2-4956-87CC-A684BD157901}"/>
              </a:ext>
            </a:extLst>
          </p:cNvPr>
          <p:cNvSpPr txBox="1"/>
          <p:nvPr/>
        </p:nvSpPr>
        <p:spPr>
          <a:xfrm>
            <a:off x="6432729" y="2379174"/>
            <a:ext cx="2459604" cy="372445"/>
          </a:xfrm>
          <a:prstGeom prst="rect">
            <a:avLst/>
          </a:prstGeom>
          <a:noFill/>
        </p:spPr>
        <p:txBody>
          <a:bodyPr wrap="square" lIns="0" tIns="0" rIns="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7500C0"/>
              </a:solidFill>
              <a:effectLst/>
              <a:uLnTx/>
              <a:uFillTx/>
              <a:latin typeface="Graphik Light" panose="020B0403030202060203" pitchFamily="34" charset="77"/>
              <a:ea typeface="+mn-ea"/>
              <a:cs typeface="+mn-cs"/>
            </a:endParaRPr>
          </a:p>
        </p:txBody>
      </p:sp>
      <p:cxnSp>
        <p:nvCxnSpPr>
          <p:cNvPr id="98" name="Straight Connector 97">
            <a:extLst>
              <a:ext uri="{FF2B5EF4-FFF2-40B4-BE49-F238E27FC236}">
                <a16:creationId xmlns:a16="http://schemas.microsoft.com/office/drawing/2014/main" id="{13163DDC-35BF-4D2F-A776-30BF61BC6BD4}"/>
              </a:ext>
            </a:extLst>
          </p:cNvPr>
          <p:cNvCxnSpPr>
            <a:cxnSpLocks/>
          </p:cNvCxnSpPr>
          <p:nvPr/>
        </p:nvCxnSpPr>
        <p:spPr>
          <a:xfrm>
            <a:off x="3236461" y="1985423"/>
            <a:ext cx="308366"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F4C3C5CA-D0DB-4124-BE0B-A9F0DDD0E658}"/>
              </a:ext>
            </a:extLst>
          </p:cNvPr>
          <p:cNvSpPr txBox="1"/>
          <p:nvPr/>
        </p:nvSpPr>
        <p:spPr>
          <a:xfrm>
            <a:off x="6256061" y="323017"/>
            <a:ext cx="2847376" cy="6279243"/>
          </a:xfrm>
          <a:prstGeom prst="rect">
            <a:avLst/>
          </a:prstGeom>
          <a:noFill/>
          <a:ln>
            <a:noFill/>
          </a:ln>
        </p:spPr>
        <p:txBody>
          <a:bodyPr wrap="square" lIns="0" tIns="0" rIns="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United Nations Global Compact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Tableau developers to build and enhance dashboards to indicate external companies’ sustainability policies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Creation of operating model for strategic planning of visualization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b="1" dirty="0">
              <a:solidFill>
                <a:srgbClr val="7500C0"/>
              </a:solidFill>
              <a:latin typeface="Graphik Light" panose="020B0403030202060203" pitchFamily="34"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Supply Chain Decarbonisation Suite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teams of data scientists to build Gen AI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Focus on enhancing Sustainability processes by reducing manual effort by circa 90%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Lloyds Banking Group</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2</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development of Power BI dashboards to report on board level metrics</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1</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Development of data quality dashboards in Tableau</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production of developed product and training for handover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UK Health Security Agency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Supporting the UKHSA with the covid-19 pandemic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Assisting the Head of Visualisation on key strategic planning and helping direct the team</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Undertaking and directing on dashboard development and delivering marketing and training sessions and artefacts to upskill the business in Qlik Sense</a:t>
            </a:r>
          </a:p>
        </p:txBody>
      </p:sp>
      <p:grpSp>
        <p:nvGrpSpPr>
          <p:cNvPr id="108" name="Group 107">
            <a:extLst>
              <a:ext uri="{FF2B5EF4-FFF2-40B4-BE49-F238E27FC236}">
                <a16:creationId xmlns:a16="http://schemas.microsoft.com/office/drawing/2014/main" id="{B74B4C78-888D-2604-1274-7DC7D20C3D20}"/>
              </a:ext>
            </a:extLst>
          </p:cNvPr>
          <p:cNvGrpSpPr/>
          <p:nvPr/>
        </p:nvGrpSpPr>
        <p:grpSpPr>
          <a:xfrm>
            <a:off x="11166859" y="1418789"/>
            <a:ext cx="869406" cy="108000"/>
            <a:chOff x="11166988" y="1664232"/>
            <a:chExt cx="869406" cy="108000"/>
          </a:xfrm>
        </p:grpSpPr>
        <p:sp>
          <p:nvSpPr>
            <p:cNvPr id="15" name="Oval 14">
              <a:extLst>
                <a:ext uri="{FF2B5EF4-FFF2-40B4-BE49-F238E27FC236}">
                  <a16:creationId xmlns:a16="http://schemas.microsoft.com/office/drawing/2014/main" id="{A8DCF61F-ED2C-5A0E-F3B4-DAB3BCDA4DD7}"/>
                </a:ext>
              </a:extLst>
            </p:cNvPr>
            <p:cNvSpPr/>
            <p:nvPr/>
          </p:nvSpPr>
          <p:spPr>
            <a:xfrm>
              <a:off x="11166988"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6" name="Oval 15">
              <a:extLst>
                <a:ext uri="{FF2B5EF4-FFF2-40B4-BE49-F238E27FC236}">
                  <a16:creationId xmlns:a16="http://schemas.microsoft.com/office/drawing/2014/main" id="{AC96F3ED-A1BD-A80F-440C-7749F83956C1}"/>
                </a:ext>
              </a:extLst>
            </p:cNvPr>
            <p:cNvSpPr/>
            <p:nvPr/>
          </p:nvSpPr>
          <p:spPr>
            <a:xfrm>
              <a:off x="11357759"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Oval 17">
              <a:extLst>
                <a:ext uri="{FF2B5EF4-FFF2-40B4-BE49-F238E27FC236}">
                  <a16:creationId xmlns:a16="http://schemas.microsoft.com/office/drawing/2014/main" id="{D7BDFFD1-D103-21C4-0D22-2890966C836A}"/>
                </a:ext>
              </a:extLst>
            </p:cNvPr>
            <p:cNvSpPr/>
            <p:nvPr/>
          </p:nvSpPr>
          <p:spPr>
            <a:xfrm>
              <a:off x="11548530" y="1664232"/>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1" name="Oval 20">
              <a:extLst>
                <a:ext uri="{FF2B5EF4-FFF2-40B4-BE49-F238E27FC236}">
                  <a16:creationId xmlns:a16="http://schemas.microsoft.com/office/drawing/2014/main" id="{F6D5BE04-5700-0CAD-C6A0-27E769A2F2AC}"/>
                </a:ext>
              </a:extLst>
            </p:cNvPr>
            <p:cNvSpPr/>
            <p:nvPr/>
          </p:nvSpPr>
          <p:spPr>
            <a:xfrm>
              <a:off x="11739301"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2" name="Oval 21">
              <a:extLst>
                <a:ext uri="{FF2B5EF4-FFF2-40B4-BE49-F238E27FC236}">
                  <a16:creationId xmlns:a16="http://schemas.microsoft.com/office/drawing/2014/main" id="{07937323-8D6F-E07B-0C08-491460274289}"/>
                </a:ext>
              </a:extLst>
            </p:cNvPr>
            <p:cNvSpPr/>
            <p:nvPr/>
          </p:nvSpPr>
          <p:spPr>
            <a:xfrm>
              <a:off x="11930072"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62" name="Group 61">
            <a:extLst>
              <a:ext uri="{FF2B5EF4-FFF2-40B4-BE49-F238E27FC236}">
                <a16:creationId xmlns:a16="http://schemas.microsoft.com/office/drawing/2014/main" id="{0CCAAD77-1982-9A3A-8AF1-17BAA6943704}"/>
              </a:ext>
            </a:extLst>
          </p:cNvPr>
          <p:cNvGrpSpPr/>
          <p:nvPr/>
        </p:nvGrpSpPr>
        <p:grpSpPr>
          <a:xfrm>
            <a:off x="11113698" y="6245099"/>
            <a:ext cx="869406" cy="108000"/>
            <a:chOff x="11166988" y="672169"/>
            <a:chExt cx="869406" cy="108000"/>
          </a:xfrm>
        </p:grpSpPr>
        <p:sp>
          <p:nvSpPr>
            <p:cNvPr id="63" name="Oval 62">
              <a:extLst>
                <a:ext uri="{FF2B5EF4-FFF2-40B4-BE49-F238E27FC236}">
                  <a16:creationId xmlns:a16="http://schemas.microsoft.com/office/drawing/2014/main" id="{ED9D12E3-F94A-8D66-5214-AA262EA8AF23}"/>
                </a:ext>
              </a:extLst>
            </p:cNvPr>
            <p:cNvSpPr/>
            <p:nvPr/>
          </p:nvSpPr>
          <p:spPr>
            <a:xfrm>
              <a:off x="11166988"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4" name="Oval 63">
              <a:extLst>
                <a:ext uri="{FF2B5EF4-FFF2-40B4-BE49-F238E27FC236}">
                  <a16:creationId xmlns:a16="http://schemas.microsoft.com/office/drawing/2014/main" id="{BDF0EFB1-C136-FE08-40F5-D9105F342683}"/>
                </a:ext>
              </a:extLst>
            </p:cNvPr>
            <p:cNvSpPr/>
            <p:nvPr/>
          </p:nvSpPr>
          <p:spPr>
            <a:xfrm>
              <a:off x="11357759"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5" name="Oval 64">
              <a:extLst>
                <a:ext uri="{FF2B5EF4-FFF2-40B4-BE49-F238E27FC236}">
                  <a16:creationId xmlns:a16="http://schemas.microsoft.com/office/drawing/2014/main" id="{3E758647-1EA0-CB0A-7F38-0AEB258D7269}"/>
                </a:ext>
              </a:extLst>
            </p:cNvPr>
            <p:cNvSpPr/>
            <p:nvPr/>
          </p:nvSpPr>
          <p:spPr>
            <a:xfrm>
              <a:off x="11548530"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6" name="Oval 65">
              <a:extLst>
                <a:ext uri="{FF2B5EF4-FFF2-40B4-BE49-F238E27FC236}">
                  <a16:creationId xmlns:a16="http://schemas.microsoft.com/office/drawing/2014/main" id="{C41213B4-A6F0-76A5-7D83-25FA53C7F1E5}"/>
                </a:ext>
              </a:extLst>
            </p:cNvPr>
            <p:cNvSpPr/>
            <p:nvPr/>
          </p:nvSpPr>
          <p:spPr>
            <a:xfrm>
              <a:off x="11739301"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7" name="Oval 66">
              <a:extLst>
                <a:ext uri="{FF2B5EF4-FFF2-40B4-BE49-F238E27FC236}">
                  <a16:creationId xmlns:a16="http://schemas.microsoft.com/office/drawing/2014/main" id="{EEA644AC-C8C0-024E-5B5B-D1D154CAAEC9}"/>
                </a:ext>
              </a:extLst>
            </p:cNvPr>
            <p:cNvSpPr/>
            <p:nvPr/>
          </p:nvSpPr>
          <p:spPr>
            <a:xfrm>
              <a:off x="11930072"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2" name="TextBox 1">
            <a:extLst>
              <a:ext uri="{FF2B5EF4-FFF2-40B4-BE49-F238E27FC236}">
                <a16:creationId xmlns:a16="http://schemas.microsoft.com/office/drawing/2014/main" id="{3103C5AD-9115-B78A-B63F-A0D0ED0302F4}"/>
              </a:ext>
            </a:extLst>
          </p:cNvPr>
          <p:cNvSpPr txBox="1"/>
          <p:nvPr/>
        </p:nvSpPr>
        <p:spPr>
          <a:xfrm>
            <a:off x="3222591" y="2066860"/>
            <a:ext cx="2730417" cy="4462760"/>
          </a:xfrm>
          <a:prstGeom prst="rect">
            <a:avLst/>
          </a:prstGeom>
          <a:noFill/>
          <a:ln>
            <a:noFill/>
          </a:ln>
        </p:spPr>
        <p:txBody>
          <a:bodyPr wrap="square">
            <a:spAutoFit/>
          </a:bodyPr>
          <a:lstStyle/>
          <a:p>
            <a:pPr>
              <a:spcBef>
                <a:spcPts val="600"/>
              </a:spcBef>
              <a:spcAft>
                <a:spcPts val="600"/>
              </a:spcAft>
            </a:pPr>
            <a:r>
              <a:rPr lang="en-GB" altLang="zh-CN" sz="1100" dirty="0">
                <a:solidFill>
                  <a:schemeClr val="tx1"/>
                </a:solidFill>
                <a:latin typeface="Graphik Light" panose="020B0403030202060203" pitchFamily="34" charset="0"/>
                <a:cs typeface="Arial" panose="020B0604020202020204" pitchFamily="34" charset="0"/>
                <a:sym typeface="+mn-lt"/>
              </a:rPr>
              <a:t>I have extensive experience in scoping, designing, directing, developing and demonstrating dashboard creation in Tableau, Power BI and Qlik Sense. I am also experienced in SQL and can use it to engineer and re-purpose data to connect in with visualisation tools. More recently I have directed development of Gen AI solutions.</a:t>
            </a:r>
          </a:p>
          <a:p>
            <a:pPr>
              <a:spcBef>
                <a:spcPts val="600"/>
              </a:spcBef>
              <a:spcAft>
                <a:spcPts val="600"/>
              </a:spcAft>
            </a:pPr>
            <a:r>
              <a:rPr lang="en-GB" altLang="zh-CN" sz="1100" dirty="0">
                <a:solidFill>
                  <a:schemeClr val="tx1"/>
                </a:solidFill>
                <a:latin typeface="Graphik Light" panose="020B0403030202060203" pitchFamily="34" charset="0"/>
                <a:cs typeface="Arial" panose="020B0604020202020204" pitchFamily="34" charset="0"/>
                <a:sym typeface="+mn-lt"/>
              </a:rPr>
              <a:t>As well as my technical knowledge I can engage with key stakeholders to understand the desired outcome and lead other developers to achieve this. Examples of this include creating data quality tools, advanced prototypes and Gen AI data extraction capabilities.</a:t>
            </a:r>
          </a:p>
          <a:p>
            <a:pPr>
              <a:spcBef>
                <a:spcPts val="600"/>
              </a:spcBef>
              <a:spcAft>
                <a:spcPts val="600"/>
              </a:spcAft>
            </a:pPr>
            <a:r>
              <a:rPr lang="en-GB" altLang="zh-CN" sz="1100" dirty="0">
                <a:solidFill>
                  <a:schemeClr val="tx1"/>
                </a:solidFill>
                <a:latin typeface="Graphik Light" panose="020B0403030202060203" pitchFamily="34" charset="0"/>
                <a:cs typeface="Arial" panose="020B0604020202020204" pitchFamily="34" charset="0"/>
                <a:sym typeface="+mn-lt"/>
              </a:rPr>
              <a:t>I am particularly enthusiastic to support areas which try to make a difference to humanity, predominately across Health and Sustainability. I am also always looking to increase my technical skillset and am interested in further augmenting my experience in app development.</a:t>
            </a:r>
          </a:p>
        </p:txBody>
      </p:sp>
      <p:pic>
        <p:nvPicPr>
          <p:cNvPr id="11" name="Graphic 10">
            <a:extLst>
              <a:ext uri="{FF2B5EF4-FFF2-40B4-BE49-F238E27FC236}">
                <a16:creationId xmlns:a16="http://schemas.microsoft.com/office/drawing/2014/main" id="{4FEBA25F-5459-8FB9-1A3F-DD2E19B370FF}"/>
              </a:ext>
            </a:extLst>
          </p:cNvPr>
          <p:cNvPicPr>
            <a:picLocks noChangeAspect="1"/>
          </p:cNvPicPr>
          <p:nvPr/>
        </p:nvPicPr>
        <p:blipFill>
          <a:blip r:embed="rId3" cstate="print">
            <a:extLst>
              <a:ext uri="{28A0092B-C50C-407E-A947-70E740481C1C}">
                <a14:useLocalDpi xmlns:a14="http://schemas.microsoft.com/office/drawing/2010/main" val="0"/>
              </a:ext>
            </a:extLst>
          </a:blip>
          <a:srcRect t="6493" b="6493"/>
          <a:stretch/>
        </p:blipFill>
        <p:spPr>
          <a:xfrm>
            <a:off x="532508" y="454799"/>
            <a:ext cx="1924375" cy="1924375"/>
          </a:xfrm>
          <a:prstGeom prst="flowChartConnector">
            <a:avLst/>
          </a:prstGeom>
        </p:spPr>
      </p:pic>
      <p:cxnSp>
        <p:nvCxnSpPr>
          <p:cNvPr id="81" name="Straight Connector 80">
            <a:extLst>
              <a:ext uri="{FF2B5EF4-FFF2-40B4-BE49-F238E27FC236}">
                <a16:creationId xmlns:a16="http://schemas.microsoft.com/office/drawing/2014/main" id="{05F74AF1-95F0-4459-BACB-FFB19677AC64}"/>
              </a:ext>
            </a:extLst>
          </p:cNvPr>
          <p:cNvCxnSpPr>
            <a:cxnSpLocks/>
          </p:cNvCxnSpPr>
          <p:nvPr/>
        </p:nvCxnSpPr>
        <p:spPr>
          <a:xfrm flipH="1">
            <a:off x="6102249" y="492907"/>
            <a:ext cx="4573" cy="6365093"/>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F3F48FA1-B90E-489E-B639-6191B0B17447}"/>
              </a:ext>
            </a:extLst>
          </p:cNvPr>
          <p:cNvSpPr/>
          <p:nvPr/>
        </p:nvSpPr>
        <p:spPr>
          <a:xfrm>
            <a:off x="6023853" y="488857"/>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95" name="Oval 94">
            <a:extLst>
              <a:ext uri="{FF2B5EF4-FFF2-40B4-BE49-F238E27FC236}">
                <a16:creationId xmlns:a16="http://schemas.microsoft.com/office/drawing/2014/main" id="{07F0EEB3-B523-4750-A150-76DCC65019AC}"/>
              </a:ext>
            </a:extLst>
          </p:cNvPr>
          <p:cNvSpPr/>
          <p:nvPr/>
        </p:nvSpPr>
        <p:spPr>
          <a:xfrm>
            <a:off x="6023853" y="1679874"/>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5" name="Oval 4">
            <a:extLst>
              <a:ext uri="{FF2B5EF4-FFF2-40B4-BE49-F238E27FC236}">
                <a16:creationId xmlns:a16="http://schemas.microsoft.com/office/drawing/2014/main" id="{9C2C48DF-F43B-BF50-4CBB-922BBE8AB0A5}"/>
              </a:ext>
            </a:extLst>
          </p:cNvPr>
          <p:cNvSpPr/>
          <p:nvPr/>
        </p:nvSpPr>
        <p:spPr>
          <a:xfrm>
            <a:off x="6023853" y="4670495"/>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4" name="Oval 3">
            <a:extLst>
              <a:ext uri="{FF2B5EF4-FFF2-40B4-BE49-F238E27FC236}">
                <a16:creationId xmlns:a16="http://schemas.microsoft.com/office/drawing/2014/main" id="{E1134145-5E33-160F-5E9B-6E64182A019E}"/>
              </a:ext>
            </a:extLst>
          </p:cNvPr>
          <p:cNvSpPr/>
          <p:nvPr/>
        </p:nvSpPr>
        <p:spPr>
          <a:xfrm>
            <a:off x="6023853" y="2840602"/>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4A4A87AF-BE1F-B2AA-96E6-B60689B6009E}"/>
              </a:ext>
            </a:extLst>
          </p:cNvPr>
          <p:cNvGrpSpPr/>
          <p:nvPr/>
        </p:nvGrpSpPr>
        <p:grpSpPr>
          <a:xfrm>
            <a:off x="11166859" y="858914"/>
            <a:ext cx="869406" cy="115957"/>
            <a:chOff x="11166988" y="924544"/>
            <a:chExt cx="869406" cy="115957"/>
          </a:xfrm>
        </p:grpSpPr>
        <p:sp>
          <p:nvSpPr>
            <p:cNvPr id="13" name="Oval 12">
              <a:extLst>
                <a:ext uri="{FF2B5EF4-FFF2-40B4-BE49-F238E27FC236}">
                  <a16:creationId xmlns:a16="http://schemas.microsoft.com/office/drawing/2014/main" id="{D7559449-8C5A-8564-7B0E-3A751C4810CE}"/>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4" name="Oval 13">
              <a:extLst>
                <a:ext uri="{FF2B5EF4-FFF2-40B4-BE49-F238E27FC236}">
                  <a16:creationId xmlns:a16="http://schemas.microsoft.com/office/drawing/2014/main" id="{85D3B24C-98C5-7662-834B-9333359DE51D}"/>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9" name="Oval 18">
              <a:extLst>
                <a:ext uri="{FF2B5EF4-FFF2-40B4-BE49-F238E27FC236}">
                  <a16:creationId xmlns:a16="http://schemas.microsoft.com/office/drawing/2014/main" id="{EC88DD9C-471B-8FC1-13EC-BEC533355BB7}"/>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Oval 22">
              <a:extLst>
                <a:ext uri="{FF2B5EF4-FFF2-40B4-BE49-F238E27FC236}">
                  <a16:creationId xmlns:a16="http://schemas.microsoft.com/office/drawing/2014/main" id="{955DA601-06C0-DB1B-6450-67BDA2FFA182}"/>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5" name="Oval 24">
              <a:extLst>
                <a:ext uri="{FF2B5EF4-FFF2-40B4-BE49-F238E27FC236}">
                  <a16:creationId xmlns:a16="http://schemas.microsoft.com/office/drawing/2014/main" id="{0790A7B2-4828-66CC-E122-86FF9F4B8EF6}"/>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69" name="Group 68">
            <a:extLst>
              <a:ext uri="{FF2B5EF4-FFF2-40B4-BE49-F238E27FC236}">
                <a16:creationId xmlns:a16="http://schemas.microsoft.com/office/drawing/2014/main" id="{BDB968FF-4FF6-B464-00D4-EF3040AC6593}"/>
              </a:ext>
            </a:extLst>
          </p:cNvPr>
          <p:cNvGrpSpPr/>
          <p:nvPr/>
        </p:nvGrpSpPr>
        <p:grpSpPr>
          <a:xfrm>
            <a:off x="11166859" y="1235854"/>
            <a:ext cx="869406" cy="117053"/>
            <a:chOff x="11166988" y="1171237"/>
            <a:chExt cx="869406" cy="117053"/>
          </a:xfrm>
        </p:grpSpPr>
        <p:sp>
          <p:nvSpPr>
            <p:cNvPr id="70" name="Oval 69">
              <a:extLst>
                <a:ext uri="{FF2B5EF4-FFF2-40B4-BE49-F238E27FC236}">
                  <a16:creationId xmlns:a16="http://schemas.microsoft.com/office/drawing/2014/main" id="{64EA8FD5-7947-49F7-C099-7EC75C6AD78F}"/>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1" name="Oval 70">
              <a:extLst>
                <a:ext uri="{FF2B5EF4-FFF2-40B4-BE49-F238E27FC236}">
                  <a16:creationId xmlns:a16="http://schemas.microsoft.com/office/drawing/2014/main" id="{E3542E36-BB45-B869-39A6-6B9162D20804}"/>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2" name="Oval 71">
              <a:extLst>
                <a:ext uri="{FF2B5EF4-FFF2-40B4-BE49-F238E27FC236}">
                  <a16:creationId xmlns:a16="http://schemas.microsoft.com/office/drawing/2014/main" id="{D6785B98-DD01-0266-CE83-F503699BE82B}"/>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3" name="Oval 72">
              <a:extLst>
                <a:ext uri="{FF2B5EF4-FFF2-40B4-BE49-F238E27FC236}">
                  <a16:creationId xmlns:a16="http://schemas.microsoft.com/office/drawing/2014/main" id="{D4486E77-A7BF-089C-C78F-54512A888843}"/>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4" name="Oval 73">
              <a:extLst>
                <a:ext uri="{FF2B5EF4-FFF2-40B4-BE49-F238E27FC236}">
                  <a16:creationId xmlns:a16="http://schemas.microsoft.com/office/drawing/2014/main" id="{5119CF87-3322-7FCA-D761-F3C4120B1430}"/>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Tree>
    <p:extLst>
      <p:ext uri="{BB962C8B-B14F-4D97-AF65-F5344CB8AC3E}">
        <p14:creationId xmlns:p14="http://schemas.microsoft.com/office/powerpoint/2010/main" val="3859072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8D1E59E-F484-D279-252B-4B6FFEEF6D16}"/>
              </a:ext>
            </a:extLst>
          </p:cNvPr>
          <p:cNvSpPr txBox="1"/>
          <p:nvPr/>
        </p:nvSpPr>
        <p:spPr>
          <a:xfrm>
            <a:off x="149590" y="556825"/>
            <a:ext cx="13895702" cy="6464608"/>
          </a:xfrm>
          <a:prstGeom prst="rect">
            <a:avLst/>
          </a:prstGeom>
          <a:noFill/>
          <a:ln>
            <a:noFill/>
          </a:ln>
        </p:spPr>
        <p:txBody>
          <a:bodyPr wrap="square" lIns="0" tIns="0" rIns="0" bIns="45720" rtlCol="0">
            <a:noAutofit/>
          </a:bodyPr>
          <a:lstStyle/>
          <a:p>
            <a:pPr lvl="0">
              <a:defRPr/>
            </a:pPr>
            <a:r>
              <a:rPr lang="en-GB" sz="1100" b="1" dirty="0">
                <a:solidFill>
                  <a:srgbClr val="7500C0"/>
                </a:solidFill>
                <a:latin typeface="Graphik Light" panose="020B0403030202060203" pitchFamily="34" charset="77"/>
              </a:rPr>
              <a:t>NHSE / Palantir</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Working with Palantir to support report migration for the NHSE, specifically a Foundry Workshop dashboard highlighting patient waiting times</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In addition to dashboard development I also took on business analysis tasks, led team meetings and demoed to NHSE leadership </a:t>
            </a:r>
            <a:endPar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b="1" dirty="0">
              <a:solidFill>
                <a:srgbClr val="7500C0"/>
              </a:solidFill>
              <a:latin typeface="Graphik Light" panose="020B0403030202060203" pitchFamily="34"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Scottish Power</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Initially came into the team as a Visualisation expert to help build </a:t>
            </a:r>
            <a:r>
              <a:rPr lang="en-GB" sz="1100" kern="0" dirty="0" err="1">
                <a:solidFill>
                  <a:prstClr val="black"/>
                </a:solidFill>
                <a:latin typeface="Graphik Light" panose="020B0403030202060203" pitchFamily="34" charset="0"/>
                <a:cs typeface="Arial" panose="020B0604020202020204" pitchFamily="34" charset="0"/>
              </a:rPr>
              <a:t>PowerBI</a:t>
            </a:r>
            <a:r>
              <a:rPr lang="en-GB" sz="1100" kern="0" dirty="0">
                <a:solidFill>
                  <a:prstClr val="black"/>
                </a:solidFill>
                <a:latin typeface="Graphik Light" panose="020B0403030202060203" pitchFamily="34" charset="0"/>
                <a:cs typeface="Arial" panose="020B0604020202020204" pitchFamily="34" charset="0"/>
              </a:rPr>
              <a:t> Dashboards within Scottish Power Complaints</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Subsequently required to lead the team and manage deliverables including assessing Goodwill reporting and ombudsman risk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b="1" dirty="0">
              <a:solidFill>
                <a:srgbClr val="7500C0"/>
              </a:solidFill>
              <a:latin typeface="Graphik Light" panose="020B0403030202060203" pitchFamily="34"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United Nations Global Compact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Tableau developers to build and enhance dashboards to indicate external companies’ sustainability policies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Creation of operating model for strategic planning of visualization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b="1" dirty="0">
              <a:solidFill>
                <a:srgbClr val="7500C0"/>
              </a:solidFill>
              <a:latin typeface="Graphik Light" panose="020B0403030202060203" pitchFamily="34"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Supply Chain Decarbonisation Suite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teams of data scientists to build Gen AI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Focus on enhancing Sustainability processes by reducing manual effort by circa 90%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stakeholder meetings to gather requirements and drive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Lloyds Banking Group</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2</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development of Power BI dashboards to report on board level metrics</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Regular communication with board level personnel, leading demonstrations and revisiting project scope </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1</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Development of data quality dashboards in Tableau</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production of developed product and training for handover</a:t>
            </a:r>
          </a:p>
          <a:p>
            <a:pPr marL="171450" indent="-171450">
              <a:buFont typeface="Arial" panose="020B0604020202020204" pitchFamily="34" charset="0"/>
              <a:buChar char="•"/>
              <a:defRPr/>
            </a:pPr>
            <a:endParaRPr lang="en-GB" altLang="zh-CN" sz="1100" b="1" dirty="0">
              <a:solidFill>
                <a:srgbClr val="7500C0"/>
              </a:solidFill>
              <a:latin typeface="Graphik Light" panose="020B0403030202060203" pitchFamily="34" charset="77"/>
              <a:sym typeface="+mn-lt"/>
            </a:endParaRPr>
          </a:p>
          <a:p>
            <a:r>
              <a:rPr lang="en-GB" sz="1100" b="1" dirty="0">
                <a:solidFill>
                  <a:srgbClr val="7500C0"/>
                </a:solidFill>
                <a:latin typeface="Graphik Light" panose="020B0403030202060203" pitchFamily="34" charset="77"/>
              </a:rPr>
              <a:t>NHS Mail</a:t>
            </a:r>
          </a:p>
          <a:p>
            <a:pPr marL="171450" indent="-171450">
              <a:buFont typeface="Arial" panose="020B0604020202020204" pitchFamily="34" charset="0"/>
              <a:buChar char="•"/>
            </a:pPr>
            <a:r>
              <a:rPr lang="en-GB" sz="1100" kern="0" dirty="0">
                <a:solidFill>
                  <a:prstClr val="black"/>
                </a:solidFill>
                <a:latin typeface="Graphik Light" panose="020B0403030202060203" pitchFamily="34" charset="0"/>
                <a:cs typeface="Arial" panose="020B0604020202020204" pitchFamily="34" charset="0"/>
              </a:rPr>
              <a:t>Leading a team of five to analyse, support and enhance the usage of Microsoft Office products including Outlook and Teams</a:t>
            </a:r>
          </a:p>
          <a:p>
            <a:pPr marL="171450" indent="-171450">
              <a:buFont typeface="Arial" panose="020B0604020202020204" pitchFamily="34" charset="0"/>
              <a:buChar char="•"/>
            </a:pPr>
            <a:r>
              <a:rPr lang="en-GB" sz="1100" kern="0" dirty="0">
                <a:solidFill>
                  <a:prstClr val="black"/>
                </a:solidFill>
                <a:latin typeface="Graphik Light" panose="020B0403030202060203" pitchFamily="34" charset="0"/>
                <a:cs typeface="Arial" panose="020B0604020202020204" pitchFamily="34" charset="0"/>
              </a:rPr>
              <a:t>Designing, directing and developing dashboard in Power BI</a:t>
            </a:r>
          </a:p>
          <a:p>
            <a:pPr marL="171450" indent="-171450">
              <a:buFont typeface="Arial" panose="020B0604020202020204" pitchFamily="34" charset="0"/>
              <a:buChar char="•"/>
            </a:pPr>
            <a:r>
              <a:rPr lang="en-GB" sz="1100" kern="0" dirty="0">
                <a:solidFill>
                  <a:prstClr val="black"/>
                </a:solidFill>
                <a:latin typeface="Graphik Light" panose="020B0403030202060203" pitchFamily="34" charset="0"/>
                <a:cs typeface="Arial" panose="020B0604020202020204" pitchFamily="34" charset="0"/>
              </a:rPr>
              <a:t>Directing and supporting creation of cloud-based (Azure) data pipeline solution; as well as bespoke analytical 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UK Health Security Agency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Supporting the UKHSA with the covid-19 pandemic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Assisting the Head of Visualisation on key strategic planning and helping direct the team</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Undertaking and directing on dashboard development and delivering marketing and training sessions and artefacts to upskill the business in Qlik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err="1">
                <a:solidFill>
                  <a:srgbClr val="7500C0"/>
                </a:solidFill>
                <a:latin typeface="Graphik Light" panose="020B0403030202060203" pitchFamily="34" charset="77"/>
                <a:sym typeface="+mn-lt"/>
              </a:rPr>
              <a:t>Mudano</a:t>
            </a:r>
            <a:r>
              <a:rPr lang="en-GB" altLang="zh-CN" sz="1100" b="1" dirty="0">
                <a:solidFill>
                  <a:srgbClr val="7500C0"/>
                </a:solidFill>
                <a:latin typeface="Graphik Light" panose="020B0403030202060203" pitchFamily="34" charset="77"/>
                <a:sym typeface="+mn-lt"/>
              </a:rPr>
              <a:t> data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Building pre-emptive data solutions for general demonstration to prospective clients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Building and facilitating ‘Data Management Experience’ game which is used as to illustrate to clients the importance of a strong data culture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build of </a:t>
            </a:r>
            <a:r>
              <a:rPr lang="en-GB" altLang="zh-CN" sz="1100" kern="0" dirty="0" err="1">
                <a:solidFill>
                  <a:prstClr val="black"/>
                </a:solidFill>
                <a:latin typeface="Graphik Light" panose="020B0403030202060203" pitchFamily="34" charset="0"/>
                <a:cs typeface="Arial" panose="020B0604020202020204" pitchFamily="34" charset="0"/>
                <a:sym typeface="+mn-lt"/>
              </a:rPr>
              <a:t>Obeya</a:t>
            </a:r>
            <a:r>
              <a:rPr lang="en-GB" altLang="zh-CN" sz="1100" kern="0" dirty="0">
                <a:solidFill>
                  <a:prstClr val="black"/>
                </a:solidFill>
                <a:latin typeface="Graphik Light" panose="020B0403030202060203" pitchFamily="34" charset="0"/>
                <a:cs typeface="Arial" panose="020B0604020202020204" pitchFamily="34" charset="0"/>
                <a:sym typeface="+mn-lt"/>
              </a:rPr>
              <a:t> flow dashboards, which takes users on a journey from board level metrics down to whatever level of granularity the drilldown may take them e.g. project level dependencies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Designing and building prototypes: Initiatives Optimisation, Delivery Status Score, Digital Boardroom POC &amp; Data Driven Portfolio Management Suite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ltLang="zh-CN" sz="1100" kern="0" dirty="0">
              <a:solidFill>
                <a:prstClr val="black"/>
              </a:solidFill>
              <a:latin typeface="Graphik Light" panose="020B0403030202060203" pitchFamily="34" charset="0"/>
              <a:cs typeface="Arial" panose="020B0604020202020204" pitchFamily="34" charset="0"/>
              <a:sym typeface="+mn-lt"/>
            </a:endParaRPr>
          </a:p>
          <a:p>
            <a:pPr lvl="0">
              <a:defRPr/>
            </a:pPr>
            <a:r>
              <a:rPr lang="en-GB" sz="1100" b="1" dirty="0">
                <a:solidFill>
                  <a:srgbClr val="7500C0"/>
                </a:solidFill>
                <a:latin typeface="Graphik Light" panose="020B0403030202060203" pitchFamily="34" charset="77"/>
              </a:rPr>
              <a:t>A.S. Watson, Insights Reporting Analyst:</a:t>
            </a:r>
          </a:p>
          <a:p>
            <a:pPr marL="171450" lvl="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Management of Tableau workbook lifespan from design, dataset manipulation (SQL), dashboard build and company roll-out.</a:t>
            </a:r>
          </a:p>
          <a:p>
            <a:pPr marL="171450" lvl="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Construction and implementation of Tableau reports across Europe and Asia Business Units.</a:t>
            </a:r>
          </a:p>
          <a:p>
            <a:pPr marL="171450" lvl="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Administering Tableau Server.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0" u="none" strike="noStrike" kern="1200" cap="none" spc="0" normalizeH="0" baseline="0" noProof="0" dirty="0">
              <a:ln>
                <a:noFill/>
              </a:ln>
              <a:solidFill>
                <a:prstClr val="black"/>
              </a:solidFill>
              <a:effectLst/>
              <a:uLnTx/>
              <a:uFillTx/>
              <a:latin typeface="Graphik" panose="020B0503030202060203" pitchFamily="34" charset="0"/>
            </a:endParaRPr>
          </a:p>
          <a:p>
            <a:pPr>
              <a:defRPr/>
            </a:pPr>
            <a:r>
              <a:rPr lang="en-GB" sz="1100" b="1" dirty="0">
                <a:solidFill>
                  <a:srgbClr val="7500C0"/>
                </a:solidFill>
                <a:latin typeface="Graphik Light" panose="020B0403030202060203" pitchFamily="34" charset="77"/>
              </a:rPr>
              <a:t>New Look, Group Analyst:</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Writing SQL scripts to build large datasets to provide insight and analysis at request of directors and heads of department. </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Building and maintaining Tableau dashboards for business-wide use.</a:t>
            </a:r>
          </a:p>
          <a:p>
            <a:pPr marL="171450" indent="-171450">
              <a:buFont typeface="Arial" panose="020B0604020202020204" pitchFamily="34" charset="0"/>
              <a:buChar char="•"/>
              <a:defRPr/>
            </a:pPr>
            <a:r>
              <a:rPr lang="en-GB" sz="1100" kern="0" dirty="0">
                <a:solidFill>
                  <a:prstClr val="black"/>
                </a:solidFill>
                <a:latin typeface="Graphik Light" panose="020B0403030202060203" pitchFamily="34" charset="0"/>
                <a:cs typeface="Arial" panose="020B0604020202020204" pitchFamily="34" charset="0"/>
              </a:rPr>
              <a:t>Development of new processes critical to business-wide systems upgrade.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ltLang="zh-CN" sz="1100" kern="0" dirty="0">
              <a:solidFill>
                <a:prstClr val="black"/>
              </a:solidFill>
              <a:latin typeface="Graphik Light" panose="020B0403030202060203" pitchFamily="34" charset="0"/>
              <a:cs typeface="Arial" panose="020B0604020202020204" pitchFamily="34" charset="0"/>
              <a:sym typeface="+mn-lt"/>
            </a:endParaRPr>
          </a:p>
        </p:txBody>
      </p:sp>
      <p:sp>
        <p:nvSpPr>
          <p:cNvPr id="10" name="Title 3">
            <a:extLst>
              <a:ext uri="{FF2B5EF4-FFF2-40B4-BE49-F238E27FC236}">
                <a16:creationId xmlns:a16="http://schemas.microsoft.com/office/drawing/2014/main" id="{3EE082D7-C922-4527-3FA9-2B2400EB6F91}"/>
              </a:ext>
            </a:extLst>
          </p:cNvPr>
          <p:cNvSpPr txBox="1">
            <a:spLocks/>
          </p:cNvSpPr>
          <p:nvPr/>
        </p:nvSpPr>
        <p:spPr>
          <a:xfrm>
            <a:off x="149590" y="0"/>
            <a:ext cx="5838597" cy="556825"/>
          </a:xfrm>
        </p:spPr>
        <p:txBody>
          <a:bodyPr anchor="t"/>
          <a:lst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a:lstStyle>
          <a:p>
            <a:r>
              <a:rPr lang="en-CA" dirty="0">
                <a:latin typeface="Arial Black" panose="020B0A04020102020204" pitchFamily="34" charset="0"/>
              </a:rPr>
              <a:t>Other experience</a:t>
            </a:r>
          </a:p>
        </p:txBody>
      </p:sp>
    </p:spTree>
    <p:extLst>
      <p:ext uri="{BB962C8B-B14F-4D97-AF65-F5344CB8AC3E}">
        <p14:creationId xmlns:p14="http://schemas.microsoft.com/office/powerpoint/2010/main" val="317671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9E3A1-2E1B-07C4-4D46-FD44BC27B5AD}"/>
            </a:ext>
          </a:extLst>
        </p:cNvPr>
        <p:cNvGrpSpPr/>
        <p:nvPr/>
      </p:nvGrpSpPr>
      <p:grpSpPr>
        <a:xfrm>
          <a:off x="0" y="0"/>
          <a:ext cx="0" cy="0"/>
          <a:chOff x="0" y="0"/>
          <a:chExt cx="0" cy="0"/>
        </a:xfrm>
      </p:grpSpPr>
      <p:graphicFrame>
        <p:nvGraphicFramePr>
          <p:cNvPr id="97" name="Table 96">
            <a:extLst>
              <a:ext uri="{FF2B5EF4-FFF2-40B4-BE49-F238E27FC236}">
                <a16:creationId xmlns:a16="http://schemas.microsoft.com/office/drawing/2014/main" id="{F0BE5216-9E55-6235-EECD-AE9C3693DEFF}"/>
              </a:ext>
            </a:extLst>
          </p:cNvPr>
          <p:cNvGraphicFramePr>
            <a:graphicFrameLocks noGrp="1"/>
          </p:cNvGraphicFramePr>
          <p:nvPr/>
        </p:nvGraphicFramePr>
        <p:xfrm>
          <a:off x="9181832" y="118129"/>
          <a:ext cx="2888302" cy="6848096"/>
        </p:xfrm>
        <a:graphic>
          <a:graphicData uri="http://schemas.openxmlformats.org/drawingml/2006/table">
            <a:tbl>
              <a:tblPr firstRow="1" bandRow="1">
                <a:tableStyleId>{5C22544A-7EE6-4342-B048-85BDC9FD1C3A}</a:tableStyleId>
              </a:tblPr>
              <a:tblGrid>
                <a:gridCol w="1801399">
                  <a:extLst>
                    <a:ext uri="{9D8B030D-6E8A-4147-A177-3AD203B41FA5}">
                      <a16:colId xmlns:a16="http://schemas.microsoft.com/office/drawing/2014/main" val="1736056633"/>
                    </a:ext>
                  </a:extLst>
                </a:gridCol>
                <a:gridCol w="1086903">
                  <a:extLst>
                    <a:ext uri="{9D8B030D-6E8A-4147-A177-3AD203B41FA5}">
                      <a16:colId xmlns:a16="http://schemas.microsoft.com/office/drawing/2014/main" val="1116441375"/>
                    </a:ext>
                  </a:extLst>
                </a:gridCol>
              </a:tblGrid>
              <a:tr h="30890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TOP SKILLS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4047514762"/>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Visualisation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9922307"/>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Data Analytics</a:t>
                      </a:r>
                      <a:endParaRPr lang="en-GB" sz="1200" dirty="0">
                        <a:solidFill>
                          <a:srgbClr val="FFFFFF"/>
                        </a:solidFill>
                        <a:latin typeface="Graphik Ligh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12475489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Stakeholder Management</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600307940"/>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Information Design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44858369"/>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Technical Leading</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61031344"/>
                  </a:ext>
                </a:extLst>
              </a:tr>
              <a:tr h="191341">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Graphik Light"/>
                          <a:ea typeface="+mn-ea"/>
                          <a:cs typeface="+mn-cs"/>
                        </a:rPr>
                        <a:t>Generative AI</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866542702"/>
                  </a:ext>
                </a:extLst>
              </a:tr>
              <a:tr h="191341">
                <a:tc gridSpan="2">
                  <a:txBody>
                    <a:bodyPr/>
                    <a:lstStyle/>
                    <a:p>
                      <a:endParaRPr lang="en-GB" sz="1200"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79860975"/>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rPr>
                        <a:t>T</a:t>
                      </a: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OOLS &amp; FRAMEWORKS</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91747032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FFFFFF"/>
                          </a:solidFill>
                          <a:effectLst/>
                          <a:uLnTx/>
                          <a:uFillTx/>
                          <a:latin typeface="Graphik Light" panose="020B0403030202060203" pitchFamily="34" charset="77"/>
                          <a:ea typeface="+mn-ea"/>
                          <a:cs typeface="+mn-cs"/>
                        </a:rPr>
                        <a:t>Tableau</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693285675"/>
                  </a:ext>
                </a:extLst>
              </a:tr>
              <a:tr h="22020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Power BI</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097480703"/>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Qlik Sense</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79329782"/>
                  </a:ext>
                </a:extLst>
              </a:tr>
              <a:tr h="6378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SQL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31483627"/>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Python</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60843632"/>
                  </a:ext>
                </a:extLst>
              </a:tr>
              <a:tr h="0">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148779466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CERTIFICATIONS</a:t>
                      </a:r>
                      <a:endParaRPr kumimoji="0" lang="en-GB" sz="1400" b="0" i="0" u="none" strike="noStrike" kern="1200" cap="none" spc="0" normalizeH="0" baseline="0">
                        <a:ln>
                          <a:noFill/>
                        </a:ln>
                        <a:solidFill>
                          <a:srgbClr val="A100FF"/>
                        </a:solidFill>
                        <a:effectLst/>
                        <a:uLnTx/>
                        <a:uFillTx/>
                        <a:latin typeface="Graphik Light" panose="020B0403030202060203" pitchFamily="34" charset="77"/>
                        <a:ea typeface="+mn-ea"/>
                        <a:cs typeface="+mn-cs"/>
                      </a:endParaRP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11220417"/>
                  </a:ext>
                </a:extLst>
              </a:tr>
              <a:tr h="38269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Tableau Desktop Certified Associate (expired)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11057166"/>
                  </a:ext>
                </a:extLst>
              </a:tr>
              <a:tr h="236953">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Mathematics </a:t>
                      </a:r>
                      <a:r>
                        <a:rPr kumimoji="0" lang="en-GB" sz="1200" b="0" i="0" u="none" strike="noStrike" kern="1200" cap="none" spc="0" normalizeH="0" baseline="0" noProof="0" dirty="0" err="1">
                          <a:ln>
                            <a:noFill/>
                          </a:ln>
                          <a:solidFill>
                            <a:srgbClr val="FFFFFF"/>
                          </a:solidFill>
                          <a:effectLst/>
                          <a:uLnTx/>
                          <a:uFillTx/>
                          <a:latin typeface="Graphik Light" panose="020B0403030202060203" pitchFamily="34" charset="77"/>
                          <a:ea typeface="+mn-ea"/>
                          <a:cs typeface="+mn-cs"/>
                        </a:rPr>
                        <a:t>Bsc</a:t>
                      </a:r>
                      <a:endPar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36837984"/>
                  </a:ext>
                </a:extLst>
              </a:tr>
              <a:tr h="245807">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Economics </a:t>
                      </a:r>
                      <a:r>
                        <a:rPr kumimoji="0" lang="en-GB" sz="1200" b="0" i="0" u="none" strike="noStrike" kern="1200" cap="none" spc="0" normalizeH="0" baseline="0" noProof="0" dirty="0" err="1">
                          <a:ln>
                            <a:noFill/>
                          </a:ln>
                          <a:solidFill>
                            <a:srgbClr val="FFFFFF"/>
                          </a:solidFill>
                          <a:effectLst/>
                          <a:uLnTx/>
                          <a:uFillTx/>
                          <a:latin typeface="Graphik Light" panose="020B0403030202060203" pitchFamily="34" charset="77"/>
                          <a:ea typeface="+mn-ea"/>
                          <a:cs typeface="+mn-cs"/>
                        </a:rPr>
                        <a:t>Msc</a:t>
                      </a: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860709267"/>
                  </a:ext>
                </a:extLst>
              </a:tr>
              <a:tr h="249601">
                <a:tc gridSpan="2">
                  <a:txBody>
                    <a:bodyPr/>
                    <a:lstStyle/>
                    <a:p>
                      <a:endParaRPr lang="en-GB" sz="120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62147709"/>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A100FF"/>
                          </a:solidFill>
                          <a:effectLst/>
                          <a:uLnTx/>
                          <a:uFillTx/>
                          <a:latin typeface="Graphik Light" panose="020B0403030202060203" pitchFamily="34" charset="77"/>
                          <a:ea typeface="+mn-ea"/>
                          <a:cs typeface="+mn-cs"/>
                        </a:rPr>
                        <a:t>INDUSTRY EXPERTISE</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888280489"/>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Retail</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856594090"/>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rPr>
                        <a:t>Health</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588940046"/>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Financial Services</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502121854"/>
                  </a:ext>
                </a:extLst>
              </a:tr>
              <a:tr h="191341">
                <a:tc gridSpan="2">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solidFill>
                          <a:effectLst/>
                          <a:uLnTx/>
                          <a:uFillTx/>
                          <a:latin typeface="Graphik Light" panose="020B0403030202060203" pitchFamily="34" charset="77"/>
                          <a:ea typeface="+mn-ea"/>
                          <a:cs typeface="+mn-cs"/>
                        </a:rPr>
                        <a:t>Sustainability</a:t>
                      </a: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495268952"/>
                  </a:ext>
                </a:extLst>
              </a:tr>
              <a:tr h="191341">
                <a:tc gridSpan="2">
                  <a:txBody>
                    <a:bodyPr/>
                    <a:lstStyle/>
                    <a:p>
                      <a:endParaRPr lang="en-GB" sz="120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757086706"/>
                  </a:ext>
                </a:extLst>
              </a:tr>
              <a:tr h="309600">
                <a:tc grid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A100FF"/>
                          </a:solidFill>
                          <a:effectLst/>
                          <a:uLnTx/>
                          <a:uFillTx/>
                          <a:latin typeface="Graphik Light" panose="020B0403030202060203" pitchFamily="34" charset="77"/>
                          <a:ea typeface="+mn-ea"/>
                          <a:cs typeface="+mn-cs"/>
                        </a:rPr>
                        <a:t>LANGUAGES</a:t>
                      </a:r>
                      <a:endParaRPr kumimoji="0" lang="en-GB" sz="1400" b="0" i="0" u="none" strike="noStrike" kern="1200" cap="none" spc="0" normalizeH="0" baseline="0" dirty="0">
                        <a:ln>
                          <a:noFill/>
                        </a:ln>
                        <a:solidFill>
                          <a:srgbClr val="A100FF"/>
                        </a:solidFill>
                        <a:effectLst/>
                        <a:uLnTx/>
                        <a:uFillTx/>
                        <a:latin typeface="Graphik Light" panose="020B0403030202060203" pitchFamily="34" charset="77"/>
                        <a:ea typeface="+mn-ea"/>
                        <a:cs typeface="+mn-cs"/>
                      </a:endParaRP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907555101"/>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solidFill>
                          <a:effectLst/>
                          <a:uLnTx/>
                          <a:uFillTx/>
                          <a:latin typeface="Graphik Light" panose="020B0403030202060203" pitchFamily="34" charset="77"/>
                          <a:ea typeface="+mn-ea"/>
                          <a:cs typeface="+mn-cs"/>
                        </a:rPr>
                        <a:t>English</a:t>
                      </a: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00684928"/>
                  </a:ext>
                </a:extLst>
              </a:tr>
              <a:tr h="191341">
                <a:tc>
                  <a:txBody>
                    <a:bodyPr/>
                    <a:lstStyle/>
                    <a:p>
                      <a:pPr marL="1587" marR="0" lvl="0" indent="0" algn="l" defTabSz="457200" rtl="0" eaLnBrk="0" fontAlgn="base" latinLnBrk="0" hangingPunct="0">
                        <a:lnSpc>
                          <a:spcPct val="105000"/>
                        </a:lnSpc>
                        <a:spcBef>
                          <a:spcPts val="378"/>
                        </a:spcBef>
                        <a:spcAft>
                          <a:spcPts val="0"/>
                        </a:spcAft>
                        <a:buClrTx/>
                        <a:buSzTx/>
                        <a:buFont typeface="Arial" panose="020B0604020202020204" pitchFamily="34" charset="0"/>
                        <a:buNone/>
                        <a:tabLst/>
                        <a:defRPr/>
                      </a:pPr>
                      <a:endParaRPr kumimoji="0" lang="en-GB" sz="1200" b="0" i="0" u="none" strike="noStrike" kern="1200" cap="none" spc="0" normalizeH="0" baseline="0" dirty="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05902357"/>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65149420"/>
                  </a:ext>
                </a:extLst>
              </a:tr>
              <a:tr h="191341">
                <a:tc>
                  <a:txBody>
                    <a:bodyPr/>
                    <a:lstStyle/>
                    <a:p>
                      <a:pPr marL="177800" marR="0" lvl="0" indent="-176213" algn="l" defTabSz="457200" rtl="0" eaLnBrk="0" fontAlgn="base" latinLnBrk="0" hangingPunct="0">
                        <a:lnSpc>
                          <a:spcPct val="105000"/>
                        </a:lnSpc>
                        <a:spcBef>
                          <a:spcPts val="378"/>
                        </a:spcBef>
                        <a:spcAft>
                          <a:spcPts val="0"/>
                        </a:spcAft>
                        <a:buClrTx/>
                        <a:buSzTx/>
                        <a:buFont typeface="Arial" panose="020B0604020202020204" pitchFamily="34" charset="0"/>
                        <a:buChar char="•"/>
                        <a:tabLst/>
                        <a:defRPr/>
                      </a:pPr>
                      <a:endParaRPr kumimoji="0" lang="en-GB" sz="1200" b="0" i="0" u="none" strike="noStrike" kern="1200" cap="none" spc="0" normalizeH="0" baseline="0">
                        <a:ln>
                          <a:noFill/>
                        </a:ln>
                        <a:solidFill>
                          <a:srgbClr val="FFFFFF"/>
                        </a:solidFill>
                        <a:effectLst/>
                        <a:uLnTx/>
                        <a:uFillTx/>
                        <a:latin typeface="Graphik Light" panose="020B0403030202060203" pitchFamily="34" charset="77"/>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GB" sz="12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7784711"/>
                  </a:ext>
                </a:extLst>
              </a:tr>
            </a:tbl>
          </a:graphicData>
        </a:graphic>
      </p:graphicFrame>
      <p:sp>
        <p:nvSpPr>
          <p:cNvPr id="60" name="TextBox 59">
            <a:extLst>
              <a:ext uri="{FF2B5EF4-FFF2-40B4-BE49-F238E27FC236}">
                <a16:creationId xmlns:a16="http://schemas.microsoft.com/office/drawing/2014/main" id="{1AF618B2-7333-6E3C-6ACA-F19068D289E5}"/>
              </a:ext>
            </a:extLst>
          </p:cNvPr>
          <p:cNvSpPr txBox="1"/>
          <p:nvPr/>
        </p:nvSpPr>
        <p:spPr>
          <a:xfrm>
            <a:off x="3236461" y="323017"/>
            <a:ext cx="2740831" cy="1600438"/>
          </a:xfrm>
          <a:prstGeom prst="rect">
            <a:avLst/>
          </a:prstGeom>
          <a:noFill/>
          <a:ln>
            <a:noFill/>
          </a:ln>
        </p:spPr>
        <p:txBody>
          <a:bodyPr wrap="square">
            <a:spAutoFit/>
          </a:bodyPr>
          <a:lstStyle/>
          <a:p>
            <a:pPr>
              <a:spcBef>
                <a:spcPts val="600"/>
              </a:spcBef>
              <a:spcAft>
                <a:spcPts val="600"/>
              </a:spcAft>
            </a:pPr>
            <a:r>
              <a:rPr lang="en-GB" altLang="zh-CN" sz="1400" dirty="0">
                <a:solidFill>
                  <a:schemeClr val="tx1"/>
                </a:solidFill>
                <a:latin typeface="Graphik Light" panose="020B0403030202060203" pitchFamily="34" charset="0"/>
                <a:cs typeface="Arial" panose="020B0604020202020204" pitchFamily="34" charset="0"/>
                <a:sym typeface="+mn-lt"/>
              </a:rPr>
              <a:t>A data solutions and development professional with 7+ years’ experience, passionate about visualisation and AI to facilitate and accelerate data driven decision making.</a:t>
            </a:r>
          </a:p>
        </p:txBody>
      </p:sp>
      <p:sp>
        <p:nvSpPr>
          <p:cNvPr id="3" name="TextBox 2">
            <a:extLst>
              <a:ext uri="{FF2B5EF4-FFF2-40B4-BE49-F238E27FC236}">
                <a16:creationId xmlns:a16="http://schemas.microsoft.com/office/drawing/2014/main" id="{5EE069F2-15CB-82F0-5554-A2385E799A94}"/>
              </a:ext>
            </a:extLst>
          </p:cNvPr>
          <p:cNvSpPr txBox="1"/>
          <p:nvPr/>
        </p:nvSpPr>
        <p:spPr>
          <a:xfrm>
            <a:off x="236531" y="2697533"/>
            <a:ext cx="1924375" cy="1000274"/>
          </a:xfrm>
          <a:prstGeom prst="rect">
            <a:avLst/>
          </a:prstGeom>
          <a:noFill/>
        </p:spPr>
        <p:txBody>
          <a:bodyPr wrap="square" lIns="0" tIns="0" rIns="0" bIns="45720" rtlCol="0" anchor="t">
            <a:spAutoFit/>
          </a:bodyPr>
          <a:lstStyle/>
          <a:p>
            <a:pPr>
              <a:lnSpc>
                <a:spcPct val="100000"/>
              </a:lnSpc>
              <a:defRPr/>
            </a:pPr>
            <a:r>
              <a:rPr lang="en-GB" sz="2000" b="1" dirty="0">
                <a:solidFill>
                  <a:srgbClr val="FFFFFF"/>
                </a:solidFill>
                <a:latin typeface="Graphik Black" panose="020B0A03030202060203" pitchFamily="34" charset="0"/>
              </a:rPr>
              <a:t>Tom Morgan</a:t>
            </a:r>
            <a:endParaRPr lang="nl-BE" sz="2000" b="1" dirty="0">
              <a:solidFill>
                <a:srgbClr val="FFFFFF"/>
              </a:solidFill>
              <a:latin typeface="Graphik Black" panose="020B0A03030202060203" pitchFamily="34" charset="0"/>
            </a:endParaRPr>
          </a:p>
          <a:p>
            <a:pPr>
              <a:lnSpc>
                <a:spcPct val="100000"/>
              </a:lnSpc>
              <a:defRPr/>
            </a:pPr>
            <a:r>
              <a:rPr kumimoji="0" lang="nl-BE" sz="1400" b="0" i="0" u="none" strike="noStrike" kern="1200" cap="none" spc="0" normalizeH="0" baseline="0" noProof="0" dirty="0">
                <a:ln>
                  <a:noFill/>
                </a:ln>
                <a:solidFill>
                  <a:srgbClr val="FFFFFF"/>
                </a:solidFill>
                <a:effectLst/>
                <a:uLnTx/>
                <a:uFillTx/>
                <a:latin typeface="Graphik"/>
                <a:ea typeface="+mn-ea"/>
                <a:cs typeface="+mn-cs"/>
              </a:rPr>
              <a:t>Augmented Insights Associate Manager</a:t>
            </a:r>
          </a:p>
          <a:p>
            <a:pPr>
              <a:lnSpc>
                <a:spcPct val="100000"/>
              </a:lnSpc>
              <a:defRPr/>
            </a:pPr>
            <a:r>
              <a:rPr lang="nl-BE" sz="1400" dirty="0">
                <a:solidFill>
                  <a:srgbClr val="FFFFFF"/>
                </a:solidFill>
                <a:latin typeface="Graphik"/>
              </a:rPr>
              <a:t>CL8</a:t>
            </a:r>
            <a:endParaRPr kumimoji="0" lang="en-GB" sz="14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0" name="TextBox 9">
            <a:extLst>
              <a:ext uri="{FF2B5EF4-FFF2-40B4-BE49-F238E27FC236}">
                <a16:creationId xmlns:a16="http://schemas.microsoft.com/office/drawing/2014/main" id="{037738AC-F0D0-4B5B-2CA8-F0A8D706B03A}"/>
              </a:ext>
            </a:extLst>
          </p:cNvPr>
          <p:cNvSpPr txBox="1"/>
          <p:nvPr/>
        </p:nvSpPr>
        <p:spPr>
          <a:xfrm>
            <a:off x="6223911" y="74239"/>
            <a:ext cx="1957267" cy="261610"/>
          </a:xfrm>
          <a:prstGeom prst="rect">
            <a:avLst/>
          </a:prstGeom>
          <a:noFill/>
        </p:spPr>
        <p:txBody>
          <a:bodyPr wrap="non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A100FF"/>
                </a:solidFill>
                <a:effectLst/>
                <a:uLnTx/>
                <a:uFillTx/>
                <a:latin typeface="Graphik Light" panose="020B0403030202060203" pitchFamily="34" charset="77"/>
                <a:ea typeface="+mn-ea"/>
                <a:cs typeface="+mn-cs"/>
              </a:rPr>
              <a:t>SELECTED EXPERIENCE</a:t>
            </a:r>
          </a:p>
        </p:txBody>
      </p:sp>
      <p:cxnSp>
        <p:nvCxnSpPr>
          <p:cNvPr id="12" name="Straight Connector 11">
            <a:extLst>
              <a:ext uri="{FF2B5EF4-FFF2-40B4-BE49-F238E27FC236}">
                <a16:creationId xmlns:a16="http://schemas.microsoft.com/office/drawing/2014/main" id="{C654F254-2907-012A-B6E7-B2D1FE8D8524}"/>
              </a:ext>
            </a:extLst>
          </p:cNvPr>
          <p:cNvCxnSpPr>
            <a:cxnSpLocks/>
          </p:cNvCxnSpPr>
          <p:nvPr/>
        </p:nvCxnSpPr>
        <p:spPr>
          <a:xfrm>
            <a:off x="236531" y="3743366"/>
            <a:ext cx="308366"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67B10ED-79B0-532C-E087-2037C8276282}"/>
              </a:ext>
            </a:extLst>
          </p:cNvPr>
          <p:cNvSpPr/>
          <p:nvPr/>
        </p:nvSpPr>
        <p:spPr>
          <a:xfrm>
            <a:off x="250222" y="3925622"/>
            <a:ext cx="2645173" cy="782587"/>
          </a:xfrm>
          <a:prstGeom prst="rect">
            <a:avLst/>
          </a:prstGeom>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000" dirty="0">
                <a:solidFill>
                  <a:schemeClr val="bg1"/>
                </a:solidFill>
                <a:latin typeface="Arial" panose="020B0604020202020204" pitchFamily="34" charset="0"/>
                <a:cs typeface="Arial" panose="020B0604020202020204" pitchFamily="34" charset="0"/>
              </a:rPr>
              <a:t>tom.d.morgan@accenture.com </a:t>
            </a:r>
            <a:br>
              <a:rPr kumimoji="0" lang="en-GB" sz="10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rPr>
            </a:br>
            <a:r>
              <a:rPr kumimoji="0" lang="en-GB" sz="10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rPr>
              <a:t>Accenture Technology – London</a:t>
            </a:r>
          </a:p>
          <a:p>
            <a:pPr defTabSz="457200">
              <a:defRPr/>
            </a:pPr>
            <a:endParaRPr lang="en-GB" sz="1000" dirty="0">
              <a:solidFill>
                <a:schemeClr val="bg1"/>
              </a:solidFill>
              <a:latin typeface="Graphik Light" panose="020B0403030202060203" pitchFamily="34" charset="77"/>
            </a:endParaRPr>
          </a:p>
          <a:p>
            <a:pPr defTabSz="457200">
              <a:defRPr/>
            </a:pPr>
            <a:endParaRPr kumimoji="0" lang="en-GB" sz="1000" b="0" i="0" u="none" strike="noStrike" kern="1200" cap="none" spc="0" normalizeH="0" baseline="0" noProof="0" dirty="0">
              <a:ln>
                <a:noFill/>
              </a:ln>
              <a:solidFill>
                <a:schemeClr val="bg1"/>
              </a:solidFill>
              <a:effectLst/>
              <a:uLnTx/>
              <a:uFillTx/>
              <a:latin typeface="Graphik Light" panose="020B0403030202060203" pitchFamily="34" charset="77"/>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chemeClr val="bg1"/>
              </a:solidFill>
              <a:effectLst/>
              <a:uLnTx/>
              <a:uFillTx/>
              <a:latin typeface="Graphik"/>
              <a:ea typeface="+mn-ea"/>
              <a:cs typeface="+mn-cs"/>
            </a:endParaRPr>
          </a:p>
        </p:txBody>
      </p:sp>
      <p:grpSp>
        <p:nvGrpSpPr>
          <p:cNvPr id="61" name="Group 60">
            <a:extLst>
              <a:ext uri="{FF2B5EF4-FFF2-40B4-BE49-F238E27FC236}">
                <a16:creationId xmlns:a16="http://schemas.microsoft.com/office/drawing/2014/main" id="{021C523A-FFC9-B9F0-44BD-9C5664EC745E}"/>
              </a:ext>
            </a:extLst>
          </p:cNvPr>
          <p:cNvGrpSpPr/>
          <p:nvPr/>
        </p:nvGrpSpPr>
        <p:grpSpPr>
          <a:xfrm>
            <a:off x="11170160" y="476906"/>
            <a:ext cx="869406" cy="108000"/>
            <a:chOff x="11166988" y="672169"/>
            <a:chExt cx="869406" cy="108000"/>
          </a:xfrm>
        </p:grpSpPr>
        <p:sp>
          <p:nvSpPr>
            <p:cNvPr id="26" name="Oval 25">
              <a:extLst>
                <a:ext uri="{FF2B5EF4-FFF2-40B4-BE49-F238E27FC236}">
                  <a16:creationId xmlns:a16="http://schemas.microsoft.com/office/drawing/2014/main" id="{1910AFF9-F8D4-E214-FAEF-6F53BA448604}"/>
                </a:ext>
              </a:extLst>
            </p:cNvPr>
            <p:cNvSpPr/>
            <p:nvPr/>
          </p:nvSpPr>
          <p:spPr>
            <a:xfrm>
              <a:off x="11166988"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7" name="Oval 26">
              <a:extLst>
                <a:ext uri="{FF2B5EF4-FFF2-40B4-BE49-F238E27FC236}">
                  <a16:creationId xmlns:a16="http://schemas.microsoft.com/office/drawing/2014/main" id="{5BB38FFB-6FC9-C8FA-B8D3-7610FB6BDDBB}"/>
                </a:ext>
              </a:extLst>
            </p:cNvPr>
            <p:cNvSpPr/>
            <p:nvPr/>
          </p:nvSpPr>
          <p:spPr>
            <a:xfrm>
              <a:off x="11357759"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8" name="Oval 27">
              <a:extLst>
                <a:ext uri="{FF2B5EF4-FFF2-40B4-BE49-F238E27FC236}">
                  <a16:creationId xmlns:a16="http://schemas.microsoft.com/office/drawing/2014/main" id="{2D827558-7539-DBC9-2EAF-4079EFDB343C}"/>
                </a:ext>
              </a:extLst>
            </p:cNvPr>
            <p:cNvSpPr/>
            <p:nvPr/>
          </p:nvSpPr>
          <p:spPr>
            <a:xfrm>
              <a:off x="11548530"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9" name="Oval 28">
              <a:extLst>
                <a:ext uri="{FF2B5EF4-FFF2-40B4-BE49-F238E27FC236}">
                  <a16:creationId xmlns:a16="http://schemas.microsoft.com/office/drawing/2014/main" id="{DA360C7F-70EA-1327-316E-970DF5CAF823}"/>
                </a:ext>
              </a:extLst>
            </p:cNvPr>
            <p:cNvSpPr/>
            <p:nvPr/>
          </p:nvSpPr>
          <p:spPr>
            <a:xfrm>
              <a:off x="11739301"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0" name="Oval 29">
              <a:extLst>
                <a:ext uri="{FF2B5EF4-FFF2-40B4-BE49-F238E27FC236}">
                  <a16:creationId xmlns:a16="http://schemas.microsoft.com/office/drawing/2014/main" id="{6CABBD0F-213B-B6C9-2382-DC9F7AFDAAEE}"/>
                </a:ext>
              </a:extLst>
            </p:cNvPr>
            <p:cNvSpPr/>
            <p:nvPr/>
          </p:nvSpPr>
          <p:spPr>
            <a:xfrm>
              <a:off x="11930072"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6" name="Group 105">
            <a:extLst>
              <a:ext uri="{FF2B5EF4-FFF2-40B4-BE49-F238E27FC236}">
                <a16:creationId xmlns:a16="http://schemas.microsoft.com/office/drawing/2014/main" id="{093C065C-E64C-D003-C2AC-18255FD1A9B6}"/>
              </a:ext>
            </a:extLst>
          </p:cNvPr>
          <p:cNvGrpSpPr/>
          <p:nvPr/>
        </p:nvGrpSpPr>
        <p:grpSpPr>
          <a:xfrm>
            <a:off x="11166859" y="1056879"/>
            <a:ext cx="869406" cy="117053"/>
            <a:chOff x="11166988" y="1171237"/>
            <a:chExt cx="869406" cy="117053"/>
          </a:xfrm>
        </p:grpSpPr>
        <p:sp>
          <p:nvSpPr>
            <p:cNvPr id="36" name="Oval 35">
              <a:extLst>
                <a:ext uri="{FF2B5EF4-FFF2-40B4-BE49-F238E27FC236}">
                  <a16:creationId xmlns:a16="http://schemas.microsoft.com/office/drawing/2014/main" id="{25DEB0FC-5B00-AD3F-13E4-48CFF34528B4}"/>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7" name="Oval 36">
              <a:extLst>
                <a:ext uri="{FF2B5EF4-FFF2-40B4-BE49-F238E27FC236}">
                  <a16:creationId xmlns:a16="http://schemas.microsoft.com/office/drawing/2014/main" id="{12F5533B-46AB-39A2-660A-719366B97A0F}"/>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8" name="Oval 37">
              <a:extLst>
                <a:ext uri="{FF2B5EF4-FFF2-40B4-BE49-F238E27FC236}">
                  <a16:creationId xmlns:a16="http://schemas.microsoft.com/office/drawing/2014/main" id="{DF4051F8-5C00-4E12-50E8-0B2D2138F0C1}"/>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9" name="Oval 38">
              <a:extLst>
                <a:ext uri="{FF2B5EF4-FFF2-40B4-BE49-F238E27FC236}">
                  <a16:creationId xmlns:a16="http://schemas.microsoft.com/office/drawing/2014/main" id="{F4376FEF-F4A7-90F7-484C-8E21E4041F8A}"/>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7" name="Oval 16">
              <a:extLst>
                <a:ext uri="{FF2B5EF4-FFF2-40B4-BE49-F238E27FC236}">
                  <a16:creationId xmlns:a16="http://schemas.microsoft.com/office/drawing/2014/main" id="{680F36D8-628A-3E91-6870-DC5403E09FDC}"/>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105" name="Group 104">
            <a:extLst>
              <a:ext uri="{FF2B5EF4-FFF2-40B4-BE49-F238E27FC236}">
                <a16:creationId xmlns:a16="http://schemas.microsoft.com/office/drawing/2014/main" id="{19EABA4D-DE04-BBCA-1649-EA408D286776}"/>
              </a:ext>
            </a:extLst>
          </p:cNvPr>
          <p:cNvGrpSpPr/>
          <p:nvPr/>
        </p:nvGrpSpPr>
        <p:grpSpPr>
          <a:xfrm>
            <a:off x="11166988" y="668172"/>
            <a:ext cx="869406" cy="115957"/>
            <a:chOff x="11166988" y="924544"/>
            <a:chExt cx="869406" cy="115957"/>
          </a:xfrm>
        </p:grpSpPr>
        <p:sp>
          <p:nvSpPr>
            <p:cNvPr id="31" name="Oval 30">
              <a:extLst>
                <a:ext uri="{FF2B5EF4-FFF2-40B4-BE49-F238E27FC236}">
                  <a16:creationId xmlns:a16="http://schemas.microsoft.com/office/drawing/2014/main" id="{675E528D-4112-8852-5680-CCE7B959F78F}"/>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2" name="Oval 31">
              <a:extLst>
                <a:ext uri="{FF2B5EF4-FFF2-40B4-BE49-F238E27FC236}">
                  <a16:creationId xmlns:a16="http://schemas.microsoft.com/office/drawing/2014/main" id="{FCBD0C5A-AB16-6EDF-940F-01CCF3199598}"/>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3" name="Oval 32">
              <a:extLst>
                <a:ext uri="{FF2B5EF4-FFF2-40B4-BE49-F238E27FC236}">
                  <a16:creationId xmlns:a16="http://schemas.microsoft.com/office/drawing/2014/main" id="{FE88B27F-FA34-274B-E970-79AE60260ECA}"/>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34" name="Oval 33">
              <a:extLst>
                <a:ext uri="{FF2B5EF4-FFF2-40B4-BE49-F238E27FC236}">
                  <a16:creationId xmlns:a16="http://schemas.microsoft.com/office/drawing/2014/main" id="{BA601353-2C55-78EF-B9D1-D89941B94ECC}"/>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Oval 23">
              <a:extLst>
                <a:ext uri="{FF2B5EF4-FFF2-40B4-BE49-F238E27FC236}">
                  <a16:creationId xmlns:a16="http://schemas.microsoft.com/office/drawing/2014/main" id="{739D1789-279C-5BE5-DFF0-18DB83B6E7C2}"/>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cxnSp>
        <p:nvCxnSpPr>
          <p:cNvPr id="81" name="Straight Connector 80">
            <a:extLst>
              <a:ext uri="{FF2B5EF4-FFF2-40B4-BE49-F238E27FC236}">
                <a16:creationId xmlns:a16="http://schemas.microsoft.com/office/drawing/2014/main" id="{B3A35366-5022-9CC1-FDA7-B31A892D1555}"/>
              </a:ext>
            </a:extLst>
          </p:cNvPr>
          <p:cNvCxnSpPr>
            <a:cxnSpLocks/>
          </p:cNvCxnSpPr>
          <p:nvPr/>
        </p:nvCxnSpPr>
        <p:spPr>
          <a:xfrm flipH="1">
            <a:off x="6102249" y="492907"/>
            <a:ext cx="4573" cy="6365093"/>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5BB10B0A-EC1E-BBDE-D1A3-D0E55F67DF2C}"/>
              </a:ext>
            </a:extLst>
          </p:cNvPr>
          <p:cNvSpPr txBox="1"/>
          <p:nvPr/>
        </p:nvSpPr>
        <p:spPr>
          <a:xfrm>
            <a:off x="6432729" y="2379174"/>
            <a:ext cx="2459604" cy="372445"/>
          </a:xfrm>
          <a:prstGeom prst="rect">
            <a:avLst/>
          </a:prstGeom>
          <a:noFill/>
        </p:spPr>
        <p:txBody>
          <a:bodyPr wrap="square" lIns="0" tIns="0" rIns="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7500C0"/>
              </a:solidFill>
              <a:effectLst/>
              <a:uLnTx/>
              <a:uFillTx/>
              <a:latin typeface="Graphik Light" panose="020B0403030202060203" pitchFamily="34" charset="77"/>
              <a:ea typeface="+mn-ea"/>
              <a:cs typeface="+mn-cs"/>
            </a:endParaRPr>
          </a:p>
        </p:txBody>
      </p:sp>
      <p:sp>
        <p:nvSpPr>
          <p:cNvPr id="86" name="Oval 85">
            <a:extLst>
              <a:ext uri="{FF2B5EF4-FFF2-40B4-BE49-F238E27FC236}">
                <a16:creationId xmlns:a16="http://schemas.microsoft.com/office/drawing/2014/main" id="{D0EB6157-4351-8DF0-5C01-5BF6F521354E}"/>
              </a:ext>
            </a:extLst>
          </p:cNvPr>
          <p:cNvSpPr/>
          <p:nvPr/>
        </p:nvSpPr>
        <p:spPr>
          <a:xfrm>
            <a:off x="6023853" y="331543"/>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95" name="Oval 94">
            <a:extLst>
              <a:ext uri="{FF2B5EF4-FFF2-40B4-BE49-F238E27FC236}">
                <a16:creationId xmlns:a16="http://schemas.microsoft.com/office/drawing/2014/main" id="{34CD96F5-F8A6-D34A-304D-02A650960E44}"/>
              </a:ext>
            </a:extLst>
          </p:cNvPr>
          <p:cNvSpPr/>
          <p:nvPr/>
        </p:nvSpPr>
        <p:spPr>
          <a:xfrm>
            <a:off x="6023853" y="2191150"/>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98" name="Straight Connector 97">
            <a:extLst>
              <a:ext uri="{FF2B5EF4-FFF2-40B4-BE49-F238E27FC236}">
                <a16:creationId xmlns:a16="http://schemas.microsoft.com/office/drawing/2014/main" id="{9CE3AD85-AE08-2EEB-0C22-D5308090780C}"/>
              </a:ext>
            </a:extLst>
          </p:cNvPr>
          <p:cNvCxnSpPr>
            <a:cxnSpLocks/>
          </p:cNvCxnSpPr>
          <p:nvPr/>
        </p:nvCxnSpPr>
        <p:spPr>
          <a:xfrm>
            <a:off x="3236461" y="1992281"/>
            <a:ext cx="308366"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6F22EE11-E947-3253-09F0-13C3771EE216}"/>
              </a:ext>
            </a:extLst>
          </p:cNvPr>
          <p:cNvSpPr txBox="1"/>
          <p:nvPr/>
        </p:nvSpPr>
        <p:spPr>
          <a:xfrm>
            <a:off x="6280560" y="323017"/>
            <a:ext cx="2813454" cy="6279243"/>
          </a:xfrm>
          <a:prstGeom prst="rect">
            <a:avLst/>
          </a:prstGeom>
          <a:noFill/>
          <a:ln>
            <a:noFill/>
          </a:ln>
        </p:spPr>
        <p:txBody>
          <a:bodyPr wrap="square" lIns="0" tIns="0" rIns="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7500C0"/>
                </a:solidFill>
                <a:effectLst/>
                <a:uLnTx/>
                <a:uFillTx/>
                <a:latin typeface="Graphik Light" panose="020B0403030202060203" pitchFamily="34" charset="77"/>
                <a:ea typeface="+mn-ea"/>
                <a:cs typeface="+mn-cs"/>
              </a:rPr>
              <a:t>Supply Chain Decarbonisation Suite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teams of data scientists to build Gen AI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Focus on enhancing Sustainability processes by reducing manual effort by circa 90%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stakeholder meetings to gather requirements and drive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Lloyds Banking Group</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2</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Directing development of Power BI dashboards to report on board level metrics</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Regular communication with board level personnel, leading demonstrations and revisiting project scope </a:t>
            </a:r>
          </a:p>
          <a:p>
            <a:pPr marR="0" lvl="0" algn="l" defTabSz="914400" rtl="0" eaLnBrk="1" fontAlgn="auto" latinLnBrk="0" hangingPunct="1">
              <a:lnSpc>
                <a:spcPct val="100000"/>
              </a:lnSpc>
              <a:spcBef>
                <a:spcPts val="0"/>
              </a:spcBef>
              <a:spcAft>
                <a:spcPts val="0"/>
              </a:spcAft>
              <a:buClrTx/>
              <a:buSzTx/>
              <a:tabLst/>
              <a:defRPr/>
            </a:pPr>
            <a:r>
              <a:rPr lang="en-GB" altLang="zh-CN" sz="1050" b="1" kern="0" dirty="0">
                <a:solidFill>
                  <a:prstClr val="black"/>
                </a:solidFill>
                <a:latin typeface="Graphik Light" panose="020B0403030202060203" pitchFamily="34" charset="0"/>
                <a:cs typeface="Arial" panose="020B0604020202020204" pitchFamily="34" charset="0"/>
                <a:sym typeface="+mn-lt"/>
              </a:rPr>
              <a:t>Project 1</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Development of data quality dashboards in Tableau</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Leading production of developed product and training for handover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a:solidFill>
                  <a:srgbClr val="7500C0"/>
                </a:solidFill>
                <a:latin typeface="Graphik Light" panose="020B0403030202060203" pitchFamily="34" charset="77"/>
                <a:sym typeface="+mn-lt"/>
              </a:rPr>
              <a:t>UK Health Security Agency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Supporting the UKHSA with the covid-19 pandemic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Assisting the Head of Visualisation on key strategic planning and helping direct the team</a:t>
            </a:r>
          </a:p>
          <a:p>
            <a:pPr marL="171450" indent="-171450">
              <a:buFont typeface="Arial" panose="020B0604020202020204" pitchFamily="34" charset="0"/>
              <a:buChar char="•"/>
              <a:defRPr/>
            </a:pPr>
            <a:r>
              <a:rPr lang="en-GB" altLang="zh-CN" sz="1100" kern="0" dirty="0">
                <a:solidFill>
                  <a:prstClr val="black"/>
                </a:solidFill>
                <a:latin typeface="Graphik Light" panose="020B0403030202060203" pitchFamily="34" charset="0"/>
                <a:cs typeface="Arial" panose="020B0604020202020204" pitchFamily="34" charset="0"/>
                <a:sym typeface="+mn-lt"/>
              </a:rPr>
              <a:t>Undertaking and directing on dashboard development and delivering marketing and training sessions and artefacts to upskill the business in Qlik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sz="1100" b="1" kern="0" dirty="0">
              <a:solidFill>
                <a:prstClr val="black"/>
              </a:solidFill>
              <a:latin typeface="Graphik Light" panose="020B0403030202060203" pitchFamily="34" charset="0"/>
              <a:cs typeface="Arial" panose="020B0604020202020204" pitchFamily="34" charset="0"/>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b="1" dirty="0" err="1">
                <a:solidFill>
                  <a:srgbClr val="7500C0"/>
                </a:solidFill>
                <a:latin typeface="Graphik Light" panose="020B0403030202060203" pitchFamily="34" charset="77"/>
                <a:sym typeface="+mn-lt"/>
              </a:rPr>
              <a:t>Mudano</a:t>
            </a:r>
            <a:r>
              <a:rPr lang="en-GB" altLang="zh-CN" sz="1100" b="1" dirty="0">
                <a:solidFill>
                  <a:srgbClr val="7500C0"/>
                </a:solidFill>
                <a:latin typeface="Graphik Light" panose="020B0403030202060203" pitchFamily="34" charset="77"/>
                <a:sym typeface="+mn-lt"/>
              </a:rPr>
              <a:t> data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zh-CN" sz="1100" kern="0" dirty="0">
                <a:solidFill>
                  <a:prstClr val="black"/>
                </a:solidFill>
                <a:latin typeface="Graphik Light" panose="020B0403030202060203" pitchFamily="34" charset="0"/>
                <a:cs typeface="Arial" panose="020B0604020202020204" pitchFamily="34" charset="0"/>
                <a:sym typeface="+mn-lt"/>
              </a:rPr>
              <a:t>Building prototypes for general demonstration to prospective clients e.g. </a:t>
            </a:r>
            <a:r>
              <a:rPr lang="en-GB" altLang="zh-CN" sz="1100" kern="0" dirty="0" err="1">
                <a:solidFill>
                  <a:prstClr val="black"/>
                </a:solidFill>
                <a:latin typeface="Graphik Light" panose="020B0403030202060203" pitchFamily="34" charset="0"/>
                <a:cs typeface="Arial" panose="020B0604020202020204" pitchFamily="34" charset="0"/>
                <a:sym typeface="+mn-lt"/>
              </a:rPr>
              <a:t>Obeya</a:t>
            </a:r>
            <a:r>
              <a:rPr lang="en-GB" altLang="zh-CN" sz="1100" kern="0" dirty="0">
                <a:solidFill>
                  <a:prstClr val="black"/>
                </a:solidFill>
                <a:latin typeface="Graphik Light" panose="020B0403030202060203" pitchFamily="34" charset="0"/>
                <a:cs typeface="Arial" panose="020B0604020202020204" pitchFamily="34" charset="0"/>
                <a:sym typeface="+mn-lt"/>
              </a:rPr>
              <a:t> flow dashboards, Data Management Experience etc </a:t>
            </a:r>
          </a:p>
        </p:txBody>
      </p:sp>
      <p:grpSp>
        <p:nvGrpSpPr>
          <p:cNvPr id="108" name="Group 107">
            <a:extLst>
              <a:ext uri="{FF2B5EF4-FFF2-40B4-BE49-F238E27FC236}">
                <a16:creationId xmlns:a16="http://schemas.microsoft.com/office/drawing/2014/main" id="{B1B68A81-A0CF-5B63-E464-1165EEC7F020}"/>
              </a:ext>
            </a:extLst>
          </p:cNvPr>
          <p:cNvGrpSpPr/>
          <p:nvPr/>
        </p:nvGrpSpPr>
        <p:grpSpPr>
          <a:xfrm>
            <a:off x="11166859" y="1418789"/>
            <a:ext cx="869406" cy="108000"/>
            <a:chOff x="11166988" y="1664232"/>
            <a:chExt cx="869406" cy="108000"/>
          </a:xfrm>
        </p:grpSpPr>
        <p:sp>
          <p:nvSpPr>
            <p:cNvPr id="15" name="Oval 14">
              <a:extLst>
                <a:ext uri="{FF2B5EF4-FFF2-40B4-BE49-F238E27FC236}">
                  <a16:creationId xmlns:a16="http://schemas.microsoft.com/office/drawing/2014/main" id="{A76906B0-E176-D111-96C0-90249EAD188A}"/>
                </a:ext>
              </a:extLst>
            </p:cNvPr>
            <p:cNvSpPr/>
            <p:nvPr/>
          </p:nvSpPr>
          <p:spPr>
            <a:xfrm>
              <a:off x="11166988"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6" name="Oval 15">
              <a:extLst>
                <a:ext uri="{FF2B5EF4-FFF2-40B4-BE49-F238E27FC236}">
                  <a16:creationId xmlns:a16="http://schemas.microsoft.com/office/drawing/2014/main" id="{ED0E558C-1FD2-E05B-2FAF-B54A47E1E570}"/>
                </a:ext>
              </a:extLst>
            </p:cNvPr>
            <p:cNvSpPr/>
            <p:nvPr/>
          </p:nvSpPr>
          <p:spPr>
            <a:xfrm>
              <a:off x="11357759" y="1664232"/>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Oval 17">
              <a:extLst>
                <a:ext uri="{FF2B5EF4-FFF2-40B4-BE49-F238E27FC236}">
                  <a16:creationId xmlns:a16="http://schemas.microsoft.com/office/drawing/2014/main" id="{CB266951-0E14-7307-1373-2B5CA36522A2}"/>
                </a:ext>
              </a:extLst>
            </p:cNvPr>
            <p:cNvSpPr/>
            <p:nvPr/>
          </p:nvSpPr>
          <p:spPr>
            <a:xfrm>
              <a:off x="11548530" y="1664232"/>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1" name="Oval 20">
              <a:extLst>
                <a:ext uri="{FF2B5EF4-FFF2-40B4-BE49-F238E27FC236}">
                  <a16:creationId xmlns:a16="http://schemas.microsoft.com/office/drawing/2014/main" id="{5C7EE21F-0F80-FCCB-585D-E8F470477A7F}"/>
                </a:ext>
              </a:extLst>
            </p:cNvPr>
            <p:cNvSpPr/>
            <p:nvPr/>
          </p:nvSpPr>
          <p:spPr>
            <a:xfrm>
              <a:off x="11739301"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2" name="Oval 21">
              <a:extLst>
                <a:ext uri="{FF2B5EF4-FFF2-40B4-BE49-F238E27FC236}">
                  <a16:creationId xmlns:a16="http://schemas.microsoft.com/office/drawing/2014/main" id="{89B877E1-6354-52B2-F248-1B668585462C}"/>
                </a:ext>
              </a:extLst>
            </p:cNvPr>
            <p:cNvSpPr/>
            <p:nvPr/>
          </p:nvSpPr>
          <p:spPr>
            <a:xfrm>
              <a:off x="11930072" y="1664232"/>
              <a:ext cx="106322" cy="108000"/>
            </a:xfrm>
            <a:prstGeom prst="ellipse">
              <a:avLst/>
            </a:prstGeom>
            <a:solidFill>
              <a:srgbClr val="35005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62" name="Group 61">
            <a:extLst>
              <a:ext uri="{FF2B5EF4-FFF2-40B4-BE49-F238E27FC236}">
                <a16:creationId xmlns:a16="http://schemas.microsoft.com/office/drawing/2014/main" id="{B302BBD1-95F8-AC43-044A-A408A96392D0}"/>
              </a:ext>
            </a:extLst>
          </p:cNvPr>
          <p:cNvGrpSpPr/>
          <p:nvPr/>
        </p:nvGrpSpPr>
        <p:grpSpPr>
          <a:xfrm>
            <a:off x="11113698" y="6245099"/>
            <a:ext cx="869406" cy="108000"/>
            <a:chOff x="11166988" y="672169"/>
            <a:chExt cx="869406" cy="108000"/>
          </a:xfrm>
        </p:grpSpPr>
        <p:sp>
          <p:nvSpPr>
            <p:cNvPr id="63" name="Oval 62">
              <a:extLst>
                <a:ext uri="{FF2B5EF4-FFF2-40B4-BE49-F238E27FC236}">
                  <a16:creationId xmlns:a16="http://schemas.microsoft.com/office/drawing/2014/main" id="{B567EFF1-969A-7A36-85BA-5DFD2549B32B}"/>
                </a:ext>
              </a:extLst>
            </p:cNvPr>
            <p:cNvSpPr/>
            <p:nvPr/>
          </p:nvSpPr>
          <p:spPr>
            <a:xfrm>
              <a:off x="11166988"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4" name="Oval 63">
              <a:extLst>
                <a:ext uri="{FF2B5EF4-FFF2-40B4-BE49-F238E27FC236}">
                  <a16:creationId xmlns:a16="http://schemas.microsoft.com/office/drawing/2014/main" id="{BBB0AEEA-D992-A963-E8F6-B74F00B6660E}"/>
                </a:ext>
              </a:extLst>
            </p:cNvPr>
            <p:cNvSpPr/>
            <p:nvPr/>
          </p:nvSpPr>
          <p:spPr>
            <a:xfrm>
              <a:off x="11357759" y="672169"/>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5" name="Oval 64">
              <a:extLst>
                <a:ext uri="{FF2B5EF4-FFF2-40B4-BE49-F238E27FC236}">
                  <a16:creationId xmlns:a16="http://schemas.microsoft.com/office/drawing/2014/main" id="{68BF4FB1-EAA2-716A-8500-3513DC40D02D}"/>
                </a:ext>
              </a:extLst>
            </p:cNvPr>
            <p:cNvSpPr/>
            <p:nvPr/>
          </p:nvSpPr>
          <p:spPr>
            <a:xfrm>
              <a:off x="11548530"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6" name="Oval 65">
              <a:extLst>
                <a:ext uri="{FF2B5EF4-FFF2-40B4-BE49-F238E27FC236}">
                  <a16:creationId xmlns:a16="http://schemas.microsoft.com/office/drawing/2014/main" id="{84DD0739-90A1-1B0A-BF32-14B6E68767B4}"/>
                </a:ext>
              </a:extLst>
            </p:cNvPr>
            <p:cNvSpPr/>
            <p:nvPr/>
          </p:nvSpPr>
          <p:spPr>
            <a:xfrm>
              <a:off x="11739301"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7" name="Oval 66">
              <a:extLst>
                <a:ext uri="{FF2B5EF4-FFF2-40B4-BE49-F238E27FC236}">
                  <a16:creationId xmlns:a16="http://schemas.microsoft.com/office/drawing/2014/main" id="{753F0E51-2A59-D131-0DC0-98003F42703C}"/>
                </a:ext>
              </a:extLst>
            </p:cNvPr>
            <p:cNvSpPr/>
            <p:nvPr/>
          </p:nvSpPr>
          <p:spPr>
            <a:xfrm>
              <a:off x="11930072" y="672169"/>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2" name="TextBox 1">
            <a:extLst>
              <a:ext uri="{FF2B5EF4-FFF2-40B4-BE49-F238E27FC236}">
                <a16:creationId xmlns:a16="http://schemas.microsoft.com/office/drawing/2014/main" id="{83B779FD-09C4-F49E-D5BD-82B7A3616415}"/>
              </a:ext>
            </a:extLst>
          </p:cNvPr>
          <p:cNvSpPr txBox="1"/>
          <p:nvPr/>
        </p:nvSpPr>
        <p:spPr>
          <a:xfrm>
            <a:off x="3220543" y="2135833"/>
            <a:ext cx="2740831" cy="4462760"/>
          </a:xfrm>
          <a:prstGeom prst="rect">
            <a:avLst/>
          </a:prstGeom>
          <a:noFill/>
          <a:ln>
            <a:noFill/>
          </a:ln>
        </p:spPr>
        <p:txBody>
          <a:bodyPr wrap="square">
            <a:spAutoFit/>
          </a:bodyPr>
          <a:lstStyle/>
          <a:p>
            <a:pPr>
              <a:spcBef>
                <a:spcPts val="600"/>
              </a:spcBef>
              <a:spcAft>
                <a:spcPts val="600"/>
              </a:spcAft>
            </a:pPr>
            <a:r>
              <a:rPr lang="en-GB" altLang="zh-CN" sz="1100" dirty="0">
                <a:solidFill>
                  <a:schemeClr val="tx1"/>
                </a:solidFill>
                <a:latin typeface="Graphik Light" panose="020B0403030202060203" pitchFamily="34" charset="0"/>
                <a:cs typeface="Arial" panose="020B0604020202020204" pitchFamily="34" charset="0"/>
                <a:sym typeface="+mn-lt"/>
              </a:rPr>
              <a:t>I have extensive experience in scoping, designing, directing, developing and demonstrating dashboard creation in Tableau, Power BI and Qlik Sense. I am also experienced in SQL and can use it to engineer and re-purpose data to connect in with visualisation tools. More recently I have directed development of Gen AI solutions.</a:t>
            </a:r>
          </a:p>
          <a:p>
            <a:pPr>
              <a:spcBef>
                <a:spcPts val="600"/>
              </a:spcBef>
              <a:spcAft>
                <a:spcPts val="600"/>
              </a:spcAft>
            </a:pPr>
            <a:r>
              <a:rPr lang="en-GB" altLang="zh-CN" sz="1100" dirty="0">
                <a:solidFill>
                  <a:schemeClr val="tx1"/>
                </a:solidFill>
                <a:latin typeface="Graphik Light" panose="020B0403030202060203" pitchFamily="34" charset="0"/>
                <a:cs typeface="Arial" panose="020B0604020202020204" pitchFamily="34" charset="0"/>
                <a:sym typeface="+mn-lt"/>
              </a:rPr>
              <a:t>As well as my technical knowledge I can engage with key stakeholders to understand the desired outcome and lead other developers to achieve this. Examples of this include creating data quality tools, advanced prototypes and Gen AI data extraction capabilities.</a:t>
            </a:r>
          </a:p>
          <a:p>
            <a:pPr>
              <a:spcBef>
                <a:spcPts val="600"/>
              </a:spcBef>
              <a:spcAft>
                <a:spcPts val="600"/>
              </a:spcAft>
            </a:pPr>
            <a:r>
              <a:rPr lang="en-GB" altLang="zh-CN" sz="1100" dirty="0">
                <a:solidFill>
                  <a:schemeClr val="tx1"/>
                </a:solidFill>
                <a:latin typeface="Graphik Light" panose="020B0403030202060203" pitchFamily="34" charset="0"/>
                <a:cs typeface="Arial" panose="020B0604020202020204" pitchFamily="34" charset="0"/>
                <a:sym typeface="+mn-lt"/>
              </a:rPr>
              <a:t>I am particularly enthusiastic to support areas which try to make a difference to humanity, predominately across Health and Sustainability. I am also always looking to increase my technical skillset and am interested in further augmenting my experience in app development.</a:t>
            </a:r>
          </a:p>
        </p:txBody>
      </p:sp>
      <p:sp>
        <p:nvSpPr>
          <p:cNvPr id="5" name="Oval 4">
            <a:extLst>
              <a:ext uri="{FF2B5EF4-FFF2-40B4-BE49-F238E27FC236}">
                <a16:creationId xmlns:a16="http://schemas.microsoft.com/office/drawing/2014/main" id="{8A566E7E-BB77-4FDD-B801-AC946D08FC1E}"/>
              </a:ext>
            </a:extLst>
          </p:cNvPr>
          <p:cNvSpPr/>
          <p:nvPr/>
        </p:nvSpPr>
        <p:spPr>
          <a:xfrm>
            <a:off x="6023853" y="5545569"/>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pic>
        <p:nvPicPr>
          <p:cNvPr id="11" name="Graphic 10">
            <a:extLst>
              <a:ext uri="{FF2B5EF4-FFF2-40B4-BE49-F238E27FC236}">
                <a16:creationId xmlns:a16="http://schemas.microsoft.com/office/drawing/2014/main" id="{6C2FD2C6-CD41-EDD3-5F93-47A5072C6089}"/>
              </a:ext>
            </a:extLst>
          </p:cNvPr>
          <p:cNvPicPr>
            <a:picLocks noChangeAspect="1"/>
          </p:cNvPicPr>
          <p:nvPr/>
        </p:nvPicPr>
        <p:blipFill>
          <a:blip r:embed="rId3" cstate="print">
            <a:extLst>
              <a:ext uri="{28A0092B-C50C-407E-A947-70E740481C1C}">
                <a14:useLocalDpi xmlns:a14="http://schemas.microsoft.com/office/drawing/2010/main" val="0"/>
              </a:ext>
            </a:extLst>
          </a:blip>
          <a:srcRect t="6493" b="6493"/>
          <a:stretch/>
        </p:blipFill>
        <p:spPr>
          <a:xfrm>
            <a:off x="532508" y="454799"/>
            <a:ext cx="1924375" cy="1924375"/>
          </a:xfrm>
          <a:prstGeom prst="flowChartConnector">
            <a:avLst/>
          </a:prstGeom>
        </p:spPr>
      </p:pic>
      <p:sp>
        <p:nvSpPr>
          <p:cNvPr id="4" name="Oval 3">
            <a:extLst>
              <a:ext uri="{FF2B5EF4-FFF2-40B4-BE49-F238E27FC236}">
                <a16:creationId xmlns:a16="http://schemas.microsoft.com/office/drawing/2014/main" id="{A9AB347D-792F-41CB-C644-C90A9922FBE5}"/>
              </a:ext>
            </a:extLst>
          </p:cNvPr>
          <p:cNvSpPr/>
          <p:nvPr/>
        </p:nvSpPr>
        <p:spPr>
          <a:xfrm>
            <a:off x="6023853" y="3853328"/>
            <a:ext cx="161364" cy="161364"/>
          </a:xfrm>
          <a:prstGeom prst="ellipse">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D5356D15-43BD-71F4-0DDD-5E607B14A02E}"/>
              </a:ext>
            </a:extLst>
          </p:cNvPr>
          <p:cNvGrpSpPr/>
          <p:nvPr/>
        </p:nvGrpSpPr>
        <p:grpSpPr>
          <a:xfrm>
            <a:off x="11166859" y="858914"/>
            <a:ext cx="869406" cy="115957"/>
            <a:chOff x="11166988" y="924544"/>
            <a:chExt cx="869406" cy="115957"/>
          </a:xfrm>
        </p:grpSpPr>
        <p:sp>
          <p:nvSpPr>
            <p:cNvPr id="13" name="Oval 12">
              <a:extLst>
                <a:ext uri="{FF2B5EF4-FFF2-40B4-BE49-F238E27FC236}">
                  <a16:creationId xmlns:a16="http://schemas.microsoft.com/office/drawing/2014/main" id="{4E8E8B54-5E2B-512C-F87F-0D0A06C1DF14}"/>
                </a:ext>
              </a:extLst>
            </p:cNvPr>
            <p:cNvSpPr/>
            <p:nvPr/>
          </p:nvSpPr>
          <p:spPr>
            <a:xfrm>
              <a:off x="11166988"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4" name="Oval 13">
              <a:extLst>
                <a:ext uri="{FF2B5EF4-FFF2-40B4-BE49-F238E27FC236}">
                  <a16:creationId xmlns:a16="http://schemas.microsoft.com/office/drawing/2014/main" id="{C1EE079E-D6FE-19D1-AA5E-F372F1A4E115}"/>
                </a:ext>
              </a:extLst>
            </p:cNvPr>
            <p:cNvSpPr/>
            <p:nvPr/>
          </p:nvSpPr>
          <p:spPr>
            <a:xfrm>
              <a:off x="11357759"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9" name="Oval 18">
              <a:extLst>
                <a:ext uri="{FF2B5EF4-FFF2-40B4-BE49-F238E27FC236}">
                  <a16:creationId xmlns:a16="http://schemas.microsoft.com/office/drawing/2014/main" id="{F61D198A-00EE-1427-B10A-E6FF1AB4A0DC}"/>
                </a:ext>
              </a:extLst>
            </p:cNvPr>
            <p:cNvSpPr/>
            <p:nvPr/>
          </p:nvSpPr>
          <p:spPr>
            <a:xfrm>
              <a:off x="11548530" y="924544"/>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Oval 22">
              <a:extLst>
                <a:ext uri="{FF2B5EF4-FFF2-40B4-BE49-F238E27FC236}">
                  <a16:creationId xmlns:a16="http://schemas.microsoft.com/office/drawing/2014/main" id="{FFC88497-61D0-77E7-4880-E87E668AEDF5}"/>
                </a:ext>
              </a:extLst>
            </p:cNvPr>
            <p:cNvSpPr/>
            <p:nvPr/>
          </p:nvSpPr>
          <p:spPr>
            <a:xfrm>
              <a:off x="11739301" y="924544"/>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25" name="Oval 24">
              <a:extLst>
                <a:ext uri="{FF2B5EF4-FFF2-40B4-BE49-F238E27FC236}">
                  <a16:creationId xmlns:a16="http://schemas.microsoft.com/office/drawing/2014/main" id="{6E9FBC5E-2E02-24A0-BC18-F52C2E5246C6}"/>
                </a:ext>
              </a:extLst>
            </p:cNvPr>
            <p:cNvSpPr/>
            <p:nvPr/>
          </p:nvSpPr>
          <p:spPr>
            <a:xfrm>
              <a:off x="11930072" y="932501"/>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69" name="Group 68">
            <a:extLst>
              <a:ext uri="{FF2B5EF4-FFF2-40B4-BE49-F238E27FC236}">
                <a16:creationId xmlns:a16="http://schemas.microsoft.com/office/drawing/2014/main" id="{26167534-4297-4063-8FBA-C27E36D42D53}"/>
              </a:ext>
            </a:extLst>
          </p:cNvPr>
          <p:cNvGrpSpPr/>
          <p:nvPr/>
        </p:nvGrpSpPr>
        <p:grpSpPr>
          <a:xfrm>
            <a:off x="11166859" y="1235854"/>
            <a:ext cx="869406" cy="117053"/>
            <a:chOff x="11166988" y="1171237"/>
            <a:chExt cx="869406" cy="117053"/>
          </a:xfrm>
        </p:grpSpPr>
        <p:sp>
          <p:nvSpPr>
            <p:cNvPr id="70" name="Oval 69">
              <a:extLst>
                <a:ext uri="{FF2B5EF4-FFF2-40B4-BE49-F238E27FC236}">
                  <a16:creationId xmlns:a16="http://schemas.microsoft.com/office/drawing/2014/main" id="{D2812C12-9714-19A6-1255-6FC3C49485C7}"/>
                </a:ext>
              </a:extLst>
            </p:cNvPr>
            <p:cNvSpPr/>
            <p:nvPr/>
          </p:nvSpPr>
          <p:spPr>
            <a:xfrm>
              <a:off x="11166988"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1" name="Oval 70">
              <a:extLst>
                <a:ext uri="{FF2B5EF4-FFF2-40B4-BE49-F238E27FC236}">
                  <a16:creationId xmlns:a16="http://schemas.microsoft.com/office/drawing/2014/main" id="{0418B30A-0963-479E-FEC9-7B248329F21A}"/>
                </a:ext>
              </a:extLst>
            </p:cNvPr>
            <p:cNvSpPr/>
            <p:nvPr/>
          </p:nvSpPr>
          <p:spPr>
            <a:xfrm>
              <a:off x="11357759"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2" name="Oval 71">
              <a:extLst>
                <a:ext uri="{FF2B5EF4-FFF2-40B4-BE49-F238E27FC236}">
                  <a16:creationId xmlns:a16="http://schemas.microsoft.com/office/drawing/2014/main" id="{9CE0B864-0026-FECA-394B-AC6ED9B39996}"/>
                </a:ext>
              </a:extLst>
            </p:cNvPr>
            <p:cNvSpPr/>
            <p:nvPr/>
          </p:nvSpPr>
          <p:spPr>
            <a:xfrm>
              <a:off x="11548530" y="1171237"/>
              <a:ext cx="106322" cy="108000"/>
            </a:xfrm>
            <a:prstGeom prst="ellipse">
              <a:avLst/>
            </a:prstGeom>
            <a:solidFill>
              <a:schemeClr val="bg1">
                <a:lumMod val="95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3" name="Oval 72">
              <a:extLst>
                <a:ext uri="{FF2B5EF4-FFF2-40B4-BE49-F238E27FC236}">
                  <a16:creationId xmlns:a16="http://schemas.microsoft.com/office/drawing/2014/main" id="{ED9293FE-A681-BFA2-4487-D812EE0DFC91}"/>
                </a:ext>
              </a:extLst>
            </p:cNvPr>
            <p:cNvSpPr/>
            <p:nvPr/>
          </p:nvSpPr>
          <p:spPr>
            <a:xfrm>
              <a:off x="11739301" y="1171237"/>
              <a:ext cx="106322" cy="108000"/>
            </a:xfrm>
            <a:prstGeom prst="ellipse">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4" name="Oval 73">
              <a:extLst>
                <a:ext uri="{FF2B5EF4-FFF2-40B4-BE49-F238E27FC236}">
                  <a16:creationId xmlns:a16="http://schemas.microsoft.com/office/drawing/2014/main" id="{B2672D6E-88EB-9930-27F7-E6D6DB45A690}"/>
                </a:ext>
              </a:extLst>
            </p:cNvPr>
            <p:cNvSpPr/>
            <p:nvPr/>
          </p:nvSpPr>
          <p:spPr>
            <a:xfrm>
              <a:off x="11930072" y="1180290"/>
              <a:ext cx="106322" cy="108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grpSp>
    </p:spTree>
    <p:extLst>
      <p:ext uri="{BB962C8B-B14F-4D97-AF65-F5344CB8AC3E}">
        <p14:creationId xmlns:p14="http://schemas.microsoft.com/office/powerpoint/2010/main" val="2323733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8D1E59E-F484-D279-252B-4B6FFEEF6D16}"/>
              </a:ext>
            </a:extLst>
          </p:cNvPr>
          <p:cNvSpPr txBox="1"/>
          <p:nvPr/>
        </p:nvSpPr>
        <p:spPr>
          <a:xfrm>
            <a:off x="149590" y="556825"/>
            <a:ext cx="13895702" cy="6464608"/>
          </a:xfrm>
          <a:prstGeom prst="rect">
            <a:avLst/>
          </a:prstGeom>
          <a:noFill/>
          <a:ln>
            <a:noFill/>
          </a:ln>
        </p:spPr>
        <p:txBody>
          <a:bodyPr wrap="square" lIns="0" tIns="0" rIns="0" bIns="4572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ltLang="zh-CN" sz="1100" kern="0" dirty="0">
              <a:solidFill>
                <a:prstClr val="black"/>
              </a:solidFill>
              <a:latin typeface="Graphik Light" panose="020B0403030202060203" pitchFamily="34" charset="0"/>
              <a:cs typeface="Arial" panose="020B0604020202020204" pitchFamily="34" charset="0"/>
              <a:sym typeface="+mn-lt"/>
            </a:endParaRPr>
          </a:p>
        </p:txBody>
      </p:sp>
    </p:spTree>
    <p:extLst>
      <p:ext uri="{BB962C8B-B14F-4D97-AF65-F5344CB8AC3E}">
        <p14:creationId xmlns:p14="http://schemas.microsoft.com/office/powerpoint/2010/main" val="155288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5466522" y="1051932"/>
            <a:ext cx="6632847" cy="4708981"/>
          </a:xfrm>
          <a:prstGeom prst="rect">
            <a:avLst/>
          </a:prstGeom>
          <a:solidFill>
            <a:schemeClr val="bg1"/>
          </a:solidFill>
        </p:spPr>
        <p:txBody>
          <a:bodyPr wrap="square" lIns="54000" rIns="36000" rtlCol="0" anchor="t">
            <a:spAutoFit/>
          </a:bodyPr>
          <a:lstStyle/>
          <a:p>
            <a:endParaRPr lang="en-GB" sz="1000" b="1" dirty="0">
              <a:latin typeface="Calibri" panose="020F0502020204030204" pitchFamily="34" charset="0"/>
            </a:endParaRPr>
          </a:p>
          <a:p>
            <a:r>
              <a:rPr lang="en-GB" sz="1000" b="1" dirty="0">
                <a:latin typeface="Calibri" panose="020F0502020204030204" pitchFamily="34" charset="0"/>
              </a:rPr>
              <a:t>NHS Mail</a:t>
            </a:r>
          </a:p>
          <a:p>
            <a:pPr marL="171450" indent="-171450">
              <a:buFont typeface="Arial" panose="020B0604020202020204" pitchFamily="34" charset="0"/>
              <a:buChar char="•"/>
            </a:pPr>
            <a:r>
              <a:rPr lang="en-GB" sz="1000" dirty="0">
                <a:latin typeface="Calibri" pitchFamily="34" charset="0"/>
                <a:cs typeface="Calibri" pitchFamily="34" charset="0"/>
              </a:rPr>
              <a:t>Leading a team of five to analyse, support and enhance the usage of Microsoft Office products including Outlook and Teams</a:t>
            </a:r>
          </a:p>
          <a:p>
            <a:pPr marL="171450" indent="-171450">
              <a:buFont typeface="Arial" panose="020B0604020202020204" pitchFamily="34" charset="0"/>
              <a:buChar char="•"/>
            </a:pPr>
            <a:r>
              <a:rPr lang="en-GB" sz="1000" dirty="0">
                <a:latin typeface="Calibri" pitchFamily="34" charset="0"/>
                <a:cs typeface="Calibri" pitchFamily="34" charset="0"/>
              </a:rPr>
              <a:t>Designing, directing and developing dashboard in Power BI</a:t>
            </a:r>
          </a:p>
          <a:p>
            <a:pPr marL="171450" indent="-171450">
              <a:buFont typeface="Arial" panose="020B0604020202020204" pitchFamily="34" charset="0"/>
              <a:buChar char="•"/>
            </a:pPr>
            <a:r>
              <a:rPr lang="en-GB" sz="1000" dirty="0">
                <a:latin typeface="Calibri" pitchFamily="34" charset="0"/>
                <a:cs typeface="Calibri" pitchFamily="34" charset="0"/>
              </a:rPr>
              <a:t>Directing and supporting creation of cloud-based (Azure) data pipeline solution; as well as bespoke analytical insights</a:t>
            </a:r>
          </a:p>
          <a:p>
            <a:endParaRPr lang="en-GB" sz="1000" b="1" dirty="0">
              <a:latin typeface="Calibri" panose="020F0502020204030204" pitchFamily="34" charset="0"/>
            </a:endParaRPr>
          </a:p>
          <a:p>
            <a:r>
              <a:rPr lang="en-GB" sz="1000" b="1" dirty="0">
                <a:latin typeface="Calibri" panose="020F0502020204030204" pitchFamily="34" charset="0"/>
              </a:rPr>
              <a:t>UK Health Security Agency</a:t>
            </a:r>
          </a:p>
          <a:p>
            <a:pPr marL="171450" indent="-171450">
              <a:buFont typeface="Arial" panose="020B0604020202020204" pitchFamily="34" charset="0"/>
              <a:buChar char="•"/>
            </a:pPr>
            <a:r>
              <a:rPr lang="en-GB" sz="1000" dirty="0">
                <a:latin typeface="Calibri" pitchFamily="34" charset="0"/>
                <a:cs typeface="Calibri" pitchFamily="34" charset="0"/>
              </a:rPr>
              <a:t>Supporting the UKHSA with the covid-19 pandemic </a:t>
            </a:r>
          </a:p>
          <a:p>
            <a:pPr marL="171450" indent="-171450">
              <a:buFont typeface="Arial" panose="020B0604020202020204" pitchFamily="34" charset="0"/>
              <a:buChar char="•"/>
            </a:pPr>
            <a:r>
              <a:rPr lang="en-GB" sz="1000" dirty="0">
                <a:latin typeface="Calibri" pitchFamily="34" charset="0"/>
                <a:cs typeface="Calibri" pitchFamily="34" charset="0"/>
              </a:rPr>
              <a:t>Assisting the Head of Visualisation on key strategic planning and helping direct the team, as well as covering for him on meetings and key decisions when he is unavailable</a:t>
            </a:r>
          </a:p>
          <a:p>
            <a:pPr marL="171450" indent="-171450">
              <a:buFont typeface="Arial" panose="020B0604020202020204" pitchFamily="34" charset="0"/>
              <a:buChar char="•"/>
            </a:pPr>
            <a:r>
              <a:rPr lang="en-GB" sz="1000" dirty="0">
                <a:latin typeface="Calibri" pitchFamily="34" charset="0"/>
                <a:cs typeface="Calibri" pitchFamily="34" charset="0"/>
              </a:rPr>
              <a:t>Undertaking and directing on all dashboard development aspects</a:t>
            </a:r>
          </a:p>
          <a:p>
            <a:pPr marL="171450" indent="-171450">
              <a:buFont typeface="Arial" panose="020B0604020202020204" pitchFamily="34" charset="0"/>
              <a:buChar char="•"/>
            </a:pPr>
            <a:r>
              <a:rPr lang="en-GB" sz="1000" dirty="0">
                <a:latin typeface="Calibri" pitchFamily="34" charset="0"/>
                <a:cs typeface="Calibri" pitchFamily="34" charset="0"/>
              </a:rPr>
              <a:t>Delivering marketing and training sessions and artefacts in order to upskill the business in Qlik Sense and enhance engagement in visualisation tools</a:t>
            </a:r>
          </a:p>
          <a:p>
            <a:pPr marL="171450" indent="-171450">
              <a:buFont typeface="Arial" panose="020B0604020202020204" pitchFamily="34" charset="0"/>
              <a:buChar char="•"/>
            </a:pPr>
            <a:r>
              <a:rPr lang="en-GB" sz="1000" dirty="0">
                <a:latin typeface="Calibri" pitchFamily="34" charset="0"/>
                <a:cs typeface="Calibri" pitchFamily="34" charset="0"/>
              </a:rPr>
              <a:t>As well as training the wider business directly I have trained my team to train others, as well as directing best practices</a:t>
            </a:r>
          </a:p>
          <a:p>
            <a:endParaRPr lang="en-GB" sz="1000" dirty="0">
              <a:latin typeface="Calibri" pitchFamily="34" charset="0"/>
              <a:cs typeface="Calibri" pitchFamily="34" charset="0"/>
            </a:endParaRPr>
          </a:p>
          <a:p>
            <a:r>
              <a:rPr lang="fr-FR" sz="1000" b="1" dirty="0" err="1">
                <a:latin typeface="Calibri" pitchFamily="34" charset="0"/>
                <a:cs typeface="Calibri" pitchFamily="34" charset="0"/>
              </a:rPr>
              <a:t>Mudano</a:t>
            </a:r>
            <a:r>
              <a:rPr lang="fr-FR" sz="1000" b="1" dirty="0">
                <a:latin typeface="Calibri" pitchFamily="34" charset="0"/>
                <a:cs typeface="Calibri" pitchFamily="34" charset="0"/>
              </a:rPr>
              <a:t> data solutions</a:t>
            </a:r>
          </a:p>
          <a:p>
            <a:pPr marL="171450" indent="-171450">
              <a:buFont typeface="Arial" panose="020B0604020202020204" pitchFamily="34" charset="0"/>
              <a:buChar char="•"/>
            </a:pPr>
            <a:r>
              <a:rPr lang="en-GB" sz="1000" dirty="0">
                <a:latin typeface="Calibri" pitchFamily="34" charset="0"/>
                <a:cs typeface="Calibri" pitchFamily="34" charset="0"/>
              </a:rPr>
              <a:t>Building pre-emptive data solutions for general demonstration to prospective clients</a:t>
            </a:r>
          </a:p>
          <a:p>
            <a:pPr marL="171450" indent="-171450">
              <a:buFont typeface="Arial" panose="020B0604020202020204" pitchFamily="34" charset="0"/>
              <a:buChar char="•"/>
            </a:pPr>
            <a:r>
              <a:rPr lang="en-GB" sz="1000" dirty="0">
                <a:latin typeface="Calibri" pitchFamily="34" charset="0"/>
                <a:cs typeface="Calibri" pitchFamily="34" charset="0"/>
              </a:rPr>
              <a:t>Building and facilitating ‘Data Management Experience’ game which is used as to illustrate to clients the importance of a strong data culture</a:t>
            </a:r>
          </a:p>
          <a:p>
            <a:pPr marL="171450" indent="-171450">
              <a:buFont typeface="Arial" panose="020B0604020202020204" pitchFamily="34" charset="0"/>
              <a:buChar char="•"/>
            </a:pPr>
            <a:r>
              <a:rPr lang="en-GB" sz="1000" dirty="0">
                <a:latin typeface="Calibri" pitchFamily="34" charset="0"/>
                <a:cs typeface="Calibri" pitchFamily="34" charset="0"/>
              </a:rPr>
              <a:t>Directing build of </a:t>
            </a:r>
            <a:r>
              <a:rPr lang="en-GB" sz="1000" dirty="0" err="1">
                <a:latin typeface="Calibri" pitchFamily="34" charset="0"/>
                <a:cs typeface="Calibri" pitchFamily="34" charset="0"/>
              </a:rPr>
              <a:t>Obeya</a:t>
            </a:r>
            <a:r>
              <a:rPr lang="en-GB" sz="1000" dirty="0">
                <a:latin typeface="Calibri" pitchFamily="34" charset="0"/>
                <a:cs typeface="Calibri" pitchFamily="34" charset="0"/>
              </a:rPr>
              <a:t> flow dashboards, which takes users on a journey from board level metrics down to whatever level of granularity the drilldown may take them e.g. project level dependencies</a:t>
            </a:r>
          </a:p>
          <a:p>
            <a:pPr marL="171450" indent="-171450">
              <a:buFont typeface="Arial" panose="020B0604020202020204" pitchFamily="34" charset="0"/>
              <a:buChar char="•"/>
            </a:pPr>
            <a:r>
              <a:rPr lang="en-GB" sz="1000" dirty="0">
                <a:latin typeface="Calibri" pitchFamily="34" charset="0"/>
                <a:cs typeface="Calibri" pitchFamily="34" charset="0"/>
              </a:rPr>
              <a:t>Designing and building prototypes: Initiatives Optimisation, Delivery Status Score, Digital Boardroom POC &amp; Data Driven Portfolio Management Suite</a:t>
            </a:r>
          </a:p>
          <a:p>
            <a:endParaRPr lang="en-GB" sz="1000" dirty="0">
              <a:latin typeface="Calibri" pitchFamily="34" charset="0"/>
              <a:cs typeface="Calibri" pitchFamily="34" charset="0"/>
            </a:endParaRPr>
          </a:p>
          <a:p>
            <a:r>
              <a:rPr lang="en-GB" sz="1000" b="1" dirty="0">
                <a:latin typeface="Calibri" pitchFamily="34" charset="0"/>
                <a:cs typeface="Calibri" pitchFamily="34" charset="0"/>
              </a:rPr>
              <a:t>Lloyds Banking Group</a:t>
            </a:r>
            <a:endParaRPr lang="en-GB" sz="1000" dirty="0">
              <a:latin typeface="Calibri" pitchFamily="34" charset="0"/>
              <a:cs typeface="Calibri" pitchFamily="34" charset="0"/>
            </a:endParaRPr>
          </a:p>
          <a:p>
            <a:pPr marL="171450" indent="-171450">
              <a:buFont typeface="Arial" panose="020B0604020202020204" pitchFamily="34" charset="0"/>
              <a:buChar char="•"/>
            </a:pPr>
            <a:r>
              <a:rPr lang="en-GB" sz="1000" dirty="0">
                <a:latin typeface="Calibri" pitchFamily="34" charset="0"/>
                <a:cs typeface="Calibri" pitchFamily="34" charset="0"/>
              </a:rPr>
              <a:t>Development of data quality dashboards for major retail bank</a:t>
            </a:r>
          </a:p>
          <a:p>
            <a:pPr marL="171450" indent="-171450">
              <a:buFont typeface="Arial" panose="020B0604020202020204" pitchFamily="34" charset="0"/>
              <a:buChar char="•"/>
            </a:pPr>
            <a:r>
              <a:rPr lang="en-GB" sz="1000" dirty="0">
                <a:latin typeface="Calibri" pitchFamily="34" charset="0"/>
                <a:cs typeface="Calibri" pitchFamily="34" charset="0"/>
              </a:rPr>
              <a:t>Identifying problems, devising appropriate solutions and educating the team with said solutions in an understandable way</a:t>
            </a:r>
          </a:p>
          <a:p>
            <a:pPr marL="171450" indent="-171450">
              <a:buFont typeface="Arial" panose="020B0604020202020204" pitchFamily="34" charset="0"/>
              <a:buChar char="•"/>
            </a:pPr>
            <a:r>
              <a:rPr lang="en-GB" sz="1000" dirty="0">
                <a:latin typeface="Calibri" pitchFamily="34" charset="0"/>
                <a:cs typeface="Calibri" pitchFamily="34" charset="0"/>
              </a:rPr>
              <a:t>Leading production of developed product and training for handover</a:t>
            </a:r>
          </a:p>
          <a:p>
            <a:pPr marL="171450" indent="-171450">
              <a:buFont typeface="Arial" panose="020B0604020202020204" pitchFamily="34" charset="0"/>
              <a:buChar char="•"/>
            </a:pPr>
            <a:r>
              <a:rPr lang="en-GB" sz="1000" dirty="0">
                <a:latin typeface="Calibri" pitchFamily="34" charset="0"/>
                <a:cs typeface="Calibri" pitchFamily="34" charset="0"/>
              </a:rPr>
              <a:t>Demonstrating the product to both key stakeholders and the wider business</a:t>
            </a:r>
          </a:p>
        </p:txBody>
      </p:sp>
      <p:sp>
        <p:nvSpPr>
          <p:cNvPr id="12" name="TextBox 11"/>
          <p:cNvSpPr txBox="1"/>
          <p:nvPr/>
        </p:nvSpPr>
        <p:spPr>
          <a:xfrm>
            <a:off x="2386661" y="1146982"/>
            <a:ext cx="2378595" cy="1200329"/>
          </a:xfrm>
          <a:prstGeom prst="rect">
            <a:avLst/>
          </a:prstGeom>
          <a:noFill/>
        </p:spPr>
        <p:txBody>
          <a:bodyPr wrap="square" lIns="36000" rIns="36000" rtlCol="0">
            <a:spAutoFit/>
          </a:bodyPr>
          <a:lstStyle/>
          <a:p>
            <a:pPr>
              <a:lnSpc>
                <a:spcPct val="100000"/>
              </a:lnSpc>
              <a:spcAft>
                <a:spcPts val="600"/>
              </a:spcAft>
            </a:pPr>
            <a:r>
              <a:rPr lang="en-AU" sz="1200" b="1" dirty="0">
                <a:latin typeface="Calibri" pitchFamily="34" charset="0"/>
                <a:cs typeface="Calibri" pitchFamily="34" charset="0"/>
              </a:rPr>
              <a:t>Tableau Consultant</a:t>
            </a:r>
          </a:p>
          <a:p>
            <a:pPr>
              <a:lnSpc>
                <a:spcPct val="100000"/>
              </a:lnSpc>
            </a:pPr>
            <a:r>
              <a:rPr lang="en-AU" sz="1100" dirty="0">
                <a:solidFill>
                  <a:srgbClr val="9900FF"/>
                </a:solidFill>
                <a:latin typeface="Calibri" pitchFamily="34" charset="0"/>
                <a:cs typeface="Calibri" pitchFamily="34" charset="0"/>
              </a:rPr>
              <a:t>Augmented Insights Associate Manager</a:t>
            </a:r>
          </a:p>
          <a:p>
            <a:pPr>
              <a:lnSpc>
                <a:spcPct val="100000"/>
              </a:lnSpc>
            </a:pPr>
            <a:r>
              <a:rPr lang="en-AU" sz="1100" dirty="0">
                <a:solidFill>
                  <a:srgbClr val="9900FF"/>
                </a:solidFill>
                <a:latin typeface="Calibri" pitchFamily="34" charset="0"/>
                <a:cs typeface="Calibri" pitchFamily="34" charset="0"/>
              </a:rPr>
              <a:t>Accenture Applied Intelligence</a:t>
            </a:r>
          </a:p>
          <a:p>
            <a:pPr>
              <a:lnSpc>
                <a:spcPct val="100000"/>
              </a:lnSpc>
              <a:spcAft>
                <a:spcPts val="0"/>
              </a:spcAft>
            </a:pPr>
            <a:endParaRPr lang="en-AU" sz="1100" dirty="0">
              <a:latin typeface="Calibri" pitchFamily="34" charset="0"/>
              <a:cs typeface="Calibri" pitchFamily="34" charset="0"/>
            </a:endParaRPr>
          </a:p>
          <a:p>
            <a:pPr>
              <a:lnSpc>
                <a:spcPct val="100000"/>
              </a:lnSpc>
              <a:spcAft>
                <a:spcPts val="0"/>
              </a:spcAft>
            </a:pPr>
            <a:r>
              <a:rPr lang="en-AU" sz="1100" dirty="0">
                <a:latin typeface="Calibri" pitchFamily="34" charset="0"/>
                <a:cs typeface="Calibri" pitchFamily="34" charset="0"/>
              </a:rPr>
              <a:t>London, United Kingdom</a:t>
            </a:r>
          </a:p>
          <a:p>
            <a:pPr>
              <a:lnSpc>
                <a:spcPct val="100000"/>
              </a:lnSpc>
            </a:pPr>
            <a:r>
              <a:rPr lang="en-AU" sz="1100" dirty="0">
                <a:latin typeface="Calibri" pitchFamily="34" charset="0"/>
                <a:cs typeface="Calibri" pitchFamily="34" charset="0"/>
                <a:hlinkClick r:id="rId3"/>
              </a:rPr>
              <a:t>tom.d.morgan@accenture.com</a:t>
            </a:r>
            <a:endParaRPr lang="en-AU" sz="1100" dirty="0">
              <a:latin typeface="Calibri" pitchFamily="34" charset="0"/>
              <a:cs typeface="Calibri" pitchFamily="34" charset="0"/>
            </a:endParaRPr>
          </a:p>
        </p:txBody>
      </p:sp>
      <p:grpSp>
        <p:nvGrpSpPr>
          <p:cNvPr id="5" name="Group 4"/>
          <p:cNvGrpSpPr/>
          <p:nvPr/>
        </p:nvGrpSpPr>
        <p:grpSpPr>
          <a:xfrm>
            <a:off x="417628" y="5699947"/>
            <a:ext cx="7406701" cy="1017908"/>
            <a:chOff x="-2909123" y="5570655"/>
            <a:chExt cx="7077508" cy="1017908"/>
          </a:xfrm>
        </p:grpSpPr>
        <p:grpSp>
          <p:nvGrpSpPr>
            <p:cNvPr id="25" name="Group 24"/>
            <p:cNvGrpSpPr/>
            <p:nvPr/>
          </p:nvGrpSpPr>
          <p:grpSpPr>
            <a:xfrm>
              <a:off x="-2909123" y="5571001"/>
              <a:ext cx="3200400" cy="1002322"/>
              <a:chOff x="572614" y="4457971"/>
              <a:chExt cx="3200400" cy="1002322"/>
            </a:xfrm>
          </p:grpSpPr>
          <p:sp>
            <p:nvSpPr>
              <p:cNvPr id="26" name="TextBox 25"/>
              <p:cNvSpPr txBox="1"/>
              <p:nvPr/>
            </p:nvSpPr>
            <p:spPr>
              <a:xfrm>
                <a:off x="572614" y="4457971"/>
                <a:ext cx="3200400" cy="307777"/>
              </a:xfrm>
              <a:prstGeom prst="rect">
                <a:avLst/>
              </a:prstGeom>
              <a:noFill/>
            </p:spPr>
            <p:txBody>
              <a:bodyPr wrap="square" rtlCol="0">
                <a:spAutoFit/>
              </a:bodyPr>
              <a:lstStyle/>
              <a:p>
                <a:pPr marL="92075" indent="-92075"/>
                <a:r>
                  <a:rPr lang="en-GB" sz="1400" dirty="0">
                    <a:solidFill>
                      <a:srgbClr val="9900FF"/>
                    </a:solidFill>
                    <a:latin typeface="Calibri" pitchFamily="34" charset="0"/>
                    <a:cs typeface="Calibri" pitchFamily="34" charset="0"/>
                  </a:rPr>
                  <a:t>Industry Expertise:</a:t>
                </a:r>
              </a:p>
            </p:txBody>
          </p:sp>
          <p:sp>
            <p:nvSpPr>
              <p:cNvPr id="27" name="TextBox 26"/>
              <p:cNvSpPr txBox="1"/>
              <p:nvPr/>
            </p:nvSpPr>
            <p:spPr>
              <a:xfrm>
                <a:off x="621409" y="4843069"/>
                <a:ext cx="2753855" cy="617224"/>
              </a:xfrm>
              <a:prstGeom prst="rect">
                <a:avLst/>
              </a:prstGeom>
              <a:noFill/>
            </p:spPr>
            <p:txBody>
              <a:bodyPr wrap="square" numCol="2" rtlCol="0">
                <a:noAutofit/>
              </a:bodyPr>
              <a:lstStyle/>
              <a:p>
                <a:pPr marL="92075" indent="-92075">
                  <a:buFont typeface="Arial" pitchFamily="34" charset="0"/>
                  <a:buChar char="•"/>
                </a:pPr>
                <a:r>
                  <a:rPr lang="en-GB" sz="1050" dirty="0">
                    <a:latin typeface="Calibri" pitchFamily="34" charset="0"/>
                    <a:cs typeface="Calibri" pitchFamily="34" charset="0"/>
                  </a:rPr>
                  <a:t>Retail</a:t>
                </a:r>
              </a:p>
              <a:p>
                <a:pPr marL="92075" indent="-92075">
                  <a:buFont typeface="Arial" pitchFamily="34" charset="0"/>
                  <a:buChar char="•"/>
                </a:pPr>
                <a:r>
                  <a:rPr lang="en-GB" sz="1050" dirty="0">
                    <a:latin typeface="Calibri" pitchFamily="34" charset="0"/>
                    <a:cs typeface="Calibri" pitchFamily="34" charset="0"/>
                  </a:rPr>
                  <a:t>Health</a:t>
                </a:r>
              </a:p>
              <a:p>
                <a:pPr marL="92075" indent="-92075">
                  <a:buFont typeface="Arial" pitchFamily="34" charset="0"/>
                  <a:buChar char="•"/>
                </a:pPr>
                <a:r>
                  <a:rPr lang="en-GB" sz="1050" dirty="0">
                    <a:latin typeface="Calibri" pitchFamily="34" charset="0"/>
                    <a:cs typeface="Calibri" pitchFamily="34" charset="0"/>
                  </a:rPr>
                  <a:t>Financial Services</a:t>
                </a:r>
              </a:p>
              <a:p>
                <a:pPr marL="92075" indent="-92075">
                  <a:buFont typeface="Arial" pitchFamily="34" charset="0"/>
                  <a:buChar char="•"/>
                </a:pPr>
                <a:r>
                  <a:rPr lang="en-GB" sz="1050" dirty="0">
                    <a:latin typeface="Calibri" pitchFamily="34" charset="0"/>
                    <a:cs typeface="Calibri" pitchFamily="34" charset="0"/>
                  </a:rPr>
                  <a:t>Sustainability</a:t>
                </a:r>
              </a:p>
              <a:p>
                <a:pPr marL="92075" indent="-92075">
                  <a:buFont typeface="Arial" pitchFamily="34" charset="0"/>
                  <a:buChar char="•"/>
                </a:pPr>
                <a:endParaRPr lang="en-GB" sz="1050" dirty="0">
                  <a:latin typeface="Calibri" pitchFamily="34" charset="0"/>
                  <a:cs typeface="Calibri" pitchFamily="34" charset="0"/>
                </a:endParaRPr>
              </a:p>
            </p:txBody>
          </p:sp>
        </p:grpSp>
        <p:grpSp>
          <p:nvGrpSpPr>
            <p:cNvPr id="28" name="Group 27"/>
            <p:cNvGrpSpPr/>
            <p:nvPr/>
          </p:nvGrpSpPr>
          <p:grpSpPr>
            <a:xfrm>
              <a:off x="-499005" y="5570655"/>
              <a:ext cx="4667390" cy="1017908"/>
              <a:chOff x="229896" y="4474790"/>
              <a:chExt cx="4667390" cy="1017908"/>
            </a:xfrm>
          </p:grpSpPr>
          <p:sp>
            <p:nvSpPr>
              <p:cNvPr id="31" name="TextBox 30"/>
              <p:cNvSpPr txBox="1"/>
              <p:nvPr/>
            </p:nvSpPr>
            <p:spPr>
              <a:xfrm>
                <a:off x="229896" y="4858309"/>
                <a:ext cx="4667390" cy="634389"/>
              </a:xfrm>
              <a:prstGeom prst="rect">
                <a:avLst/>
              </a:prstGeom>
              <a:noFill/>
            </p:spPr>
            <p:txBody>
              <a:bodyPr wrap="square" numCol="3" rtlCol="0">
                <a:noAutofit/>
              </a:bodyPr>
              <a:lstStyle/>
              <a:p>
                <a:pPr marL="92075" indent="-92075">
                  <a:buFont typeface="Arial" pitchFamily="34" charset="0"/>
                  <a:buChar char="•"/>
                </a:pPr>
                <a:r>
                  <a:rPr lang="en-GB" sz="1050" dirty="0">
                    <a:latin typeface="Calibri" pitchFamily="34" charset="0"/>
                    <a:cs typeface="Calibri" pitchFamily="34" charset="0"/>
                  </a:rPr>
                  <a:t>Data Visualisation</a:t>
                </a:r>
              </a:p>
              <a:p>
                <a:pPr marL="92075" indent="-92075">
                  <a:buFont typeface="Arial" pitchFamily="34" charset="0"/>
                  <a:buChar char="•"/>
                </a:pPr>
                <a:r>
                  <a:rPr lang="en-GB" sz="1050" dirty="0">
                    <a:latin typeface="Calibri" pitchFamily="34" charset="0"/>
                    <a:cs typeface="Calibri" pitchFamily="34" charset="0"/>
                  </a:rPr>
                  <a:t>Data Engineering</a:t>
                </a:r>
              </a:p>
              <a:p>
                <a:pPr marL="92075" indent="-92075">
                  <a:buFont typeface="Arial" pitchFamily="34" charset="0"/>
                  <a:buChar char="•"/>
                </a:pPr>
                <a:r>
                  <a:rPr lang="en-GB" sz="1050" dirty="0">
                    <a:latin typeface="Calibri" pitchFamily="34" charset="0"/>
                    <a:cs typeface="Calibri" pitchFamily="34" charset="0"/>
                  </a:rPr>
                  <a:t>Information Design</a:t>
                </a:r>
              </a:p>
              <a:p>
                <a:pPr marL="92075" indent="-92075">
                  <a:buFont typeface="Arial" pitchFamily="34" charset="0"/>
                  <a:buChar char="•"/>
                </a:pPr>
                <a:r>
                  <a:rPr lang="en-GB" sz="1050" dirty="0">
                    <a:latin typeface="Calibri" pitchFamily="34" charset="0"/>
                    <a:cs typeface="Calibri" pitchFamily="34" charset="0"/>
                  </a:rPr>
                  <a:t>Gen AI</a:t>
                </a:r>
              </a:p>
              <a:p>
                <a:pPr marL="92075" indent="-92075">
                  <a:buFont typeface="Arial" pitchFamily="34" charset="0"/>
                  <a:buChar char="•"/>
                </a:pPr>
                <a:endParaRPr lang="en-GB" sz="1050" dirty="0">
                  <a:latin typeface="Calibri" pitchFamily="34" charset="0"/>
                  <a:cs typeface="Calibri" pitchFamily="34" charset="0"/>
                </a:endParaRPr>
              </a:p>
              <a:p>
                <a:pPr marL="92075" indent="-92075">
                  <a:buFont typeface="Arial" pitchFamily="34" charset="0"/>
                  <a:buChar char="•"/>
                </a:pPr>
                <a:endParaRPr lang="en-GB" sz="1050" dirty="0">
                  <a:latin typeface="Calibri" pitchFamily="34" charset="0"/>
                  <a:cs typeface="Calibri" pitchFamily="34" charset="0"/>
                </a:endParaRPr>
              </a:p>
            </p:txBody>
          </p:sp>
          <p:sp>
            <p:nvSpPr>
              <p:cNvPr id="30" name="TextBox 29"/>
              <p:cNvSpPr txBox="1"/>
              <p:nvPr/>
            </p:nvSpPr>
            <p:spPr>
              <a:xfrm>
                <a:off x="279935" y="4474790"/>
                <a:ext cx="3200400" cy="307777"/>
              </a:xfrm>
              <a:prstGeom prst="rect">
                <a:avLst/>
              </a:prstGeom>
              <a:noFill/>
            </p:spPr>
            <p:txBody>
              <a:bodyPr wrap="square" rtlCol="0">
                <a:spAutoFit/>
              </a:bodyPr>
              <a:lstStyle/>
              <a:p>
                <a:pPr marL="92075" indent="-92075">
                  <a:spcAft>
                    <a:spcPts val="600"/>
                  </a:spcAft>
                </a:pPr>
                <a:r>
                  <a:rPr lang="en-GB" sz="1400" dirty="0">
                    <a:solidFill>
                      <a:srgbClr val="9900FF"/>
                    </a:solidFill>
                    <a:latin typeface="Calibri" pitchFamily="34" charset="0"/>
                    <a:cs typeface="Calibri" pitchFamily="34" charset="0"/>
                  </a:rPr>
                  <a:t>Core Competencies:</a:t>
                </a:r>
              </a:p>
            </p:txBody>
          </p:sp>
        </p:grpSp>
      </p:grpSp>
      <p:sp>
        <p:nvSpPr>
          <p:cNvPr id="14" name="TextBox 13"/>
          <p:cNvSpPr txBox="1"/>
          <p:nvPr/>
        </p:nvSpPr>
        <p:spPr>
          <a:xfrm>
            <a:off x="659002" y="2752370"/>
            <a:ext cx="4657633" cy="2862322"/>
          </a:xfrm>
          <a:prstGeom prst="rect">
            <a:avLst/>
          </a:prstGeom>
          <a:noFill/>
        </p:spPr>
        <p:txBody>
          <a:bodyPr wrap="square" lIns="36000" rIns="36000" rtlCol="0">
            <a:spAutoFit/>
          </a:bodyPr>
          <a:lstStyle/>
          <a:p>
            <a:pPr>
              <a:spcAft>
                <a:spcPts val="600"/>
              </a:spcAft>
            </a:pPr>
            <a:r>
              <a:rPr lang="en-GB" sz="1000" dirty="0">
                <a:latin typeface="Calibri" pitchFamily="34" charset="0"/>
                <a:cs typeface="Calibri" pitchFamily="34" charset="0"/>
              </a:rPr>
              <a:t>A data solutions and development professional, passionate about visualisation and facilitating data driven decision making.</a:t>
            </a:r>
          </a:p>
          <a:p>
            <a:pPr>
              <a:spcAft>
                <a:spcPts val="600"/>
              </a:spcAft>
            </a:pPr>
            <a:r>
              <a:rPr lang="en-GB" sz="1000" dirty="0">
                <a:latin typeface="Calibri" pitchFamily="34" charset="0"/>
                <a:cs typeface="Calibri" pitchFamily="34" charset="0"/>
              </a:rPr>
              <a:t>I have extensive experience in scoping, designing, directing, developing and demonstrating dashboard creation in Tableau, Power BI and Qlik Sense. I am also experienced in SQL and can use it to engineer and re-purpose data to connect in with visualisation tools. </a:t>
            </a:r>
          </a:p>
          <a:p>
            <a:pPr>
              <a:spcAft>
                <a:spcPts val="600"/>
              </a:spcAft>
            </a:pPr>
            <a:r>
              <a:rPr lang="en-GB" sz="1000" dirty="0">
                <a:latin typeface="Calibri" pitchFamily="34" charset="0"/>
                <a:cs typeface="Calibri" pitchFamily="34" charset="0"/>
              </a:rPr>
              <a:t>As well as my technical knowledge I am able to engage with key stakeholders to understand the desired objective, and lead other developers to achieve this. Examples of this include creating data quality tools, advanced prototypes and automating standardised reports; across Finance, Retail and Health sectors. </a:t>
            </a:r>
          </a:p>
          <a:p>
            <a:pPr>
              <a:spcAft>
                <a:spcPts val="600"/>
              </a:spcAft>
            </a:pPr>
            <a:r>
              <a:rPr lang="en-GB" sz="1000" dirty="0">
                <a:latin typeface="Calibri" pitchFamily="34" charset="0"/>
                <a:cs typeface="Calibri" pitchFamily="34" charset="0"/>
              </a:rPr>
              <a:t>I am particularly enthusiastic to support areas which try to make a difference to humanity, predominately across Health and Sustainability. I am also always looking to increase my technical skillset and am interested in further augmenting my experience in app development and generative ai.</a:t>
            </a:r>
          </a:p>
          <a:p>
            <a:pPr>
              <a:spcAft>
                <a:spcPts val="600"/>
              </a:spcAft>
            </a:pPr>
            <a:r>
              <a:rPr lang="en-GB" sz="1000" dirty="0">
                <a:latin typeface="Calibri" pitchFamily="34" charset="0"/>
                <a:cs typeface="Calibri" pitchFamily="34" charset="0"/>
              </a:rPr>
              <a:t>I have a Financial Economics </a:t>
            </a:r>
            <a:r>
              <a:rPr lang="en-GB" sz="1000" dirty="0" err="1">
                <a:latin typeface="Calibri" pitchFamily="34" charset="0"/>
                <a:cs typeface="Calibri" pitchFamily="34" charset="0"/>
              </a:rPr>
              <a:t>Msc</a:t>
            </a:r>
            <a:r>
              <a:rPr lang="en-GB" sz="1000" dirty="0">
                <a:latin typeface="Calibri" pitchFamily="34" charset="0"/>
                <a:cs typeface="Calibri" pitchFamily="34" charset="0"/>
              </a:rPr>
              <a:t> and a Mathematics </a:t>
            </a:r>
            <a:r>
              <a:rPr lang="en-GB" sz="1000" dirty="0" err="1">
                <a:latin typeface="Calibri" pitchFamily="34" charset="0"/>
                <a:cs typeface="Calibri" pitchFamily="34" charset="0"/>
              </a:rPr>
              <a:t>Bsc</a:t>
            </a:r>
            <a:r>
              <a:rPr lang="en-GB" sz="1000" dirty="0">
                <a:latin typeface="Calibri" pitchFamily="34" charset="0"/>
                <a:cs typeface="Calibri" pitchFamily="34" charset="0"/>
              </a:rPr>
              <a:t>, and I have previously completed a Tableau Desktop Certified Associate qualification.</a:t>
            </a:r>
          </a:p>
        </p:txBody>
      </p:sp>
      <p:sp>
        <p:nvSpPr>
          <p:cNvPr id="4" name="Title 3"/>
          <p:cNvSpPr>
            <a:spLocks noGrp="1"/>
          </p:cNvSpPr>
          <p:nvPr>
            <p:ph type="title"/>
          </p:nvPr>
        </p:nvSpPr>
        <p:spPr>
          <a:xfrm>
            <a:off x="496888" y="263465"/>
            <a:ext cx="11186191" cy="556825"/>
          </a:xfrm>
        </p:spPr>
        <p:txBody>
          <a:bodyPr anchor="t">
            <a:normAutofit fontScale="90000"/>
          </a:bodyPr>
          <a:lstStyle/>
          <a:p>
            <a:r>
              <a:rPr lang="en-CA" dirty="0">
                <a:latin typeface="Arial Black" panose="020B0A04020102020204" pitchFamily="34" charset="0"/>
              </a:rPr>
              <a:t>Tom Morgan</a:t>
            </a:r>
          </a:p>
        </p:txBody>
      </p:sp>
      <p:sp>
        <p:nvSpPr>
          <p:cNvPr id="2" name="TextBox 1">
            <a:extLst>
              <a:ext uri="{FF2B5EF4-FFF2-40B4-BE49-F238E27FC236}">
                <a16:creationId xmlns:a16="http://schemas.microsoft.com/office/drawing/2014/main" id="{135414BC-94CE-4018-9637-DC381846828A}"/>
              </a:ext>
            </a:extLst>
          </p:cNvPr>
          <p:cNvSpPr txBox="1"/>
          <p:nvPr/>
        </p:nvSpPr>
        <p:spPr>
          <a:xfrm>
            <a:off x="9958509" y="6440856"/>
            <a:ext cx="2140860" cy="276999"/>
          </a:xfrm>
          <a:prstGeom prst="rect">
            <a:avLst/>
          </a:prstGeom>
          <a:noFill/>
        </p:spPr>
        <p:txBody>
          <a:bodyPr wrap="square" rtlCol="0">
            <a:spAutoFit/>
          </a:bodyPr>
          <a:lstStyle/>
          <a:p>
            <a:pPr algn="r"/>
            <a:r>
              <a:rPr lang="en-GB" sz="1200" dirty="0">
                <a:latin typeface="Calibri" pitchFamily="34" charset="0"/>
                <a:cs typeface="Calibri" pitchFamily="34" charset="0"/>
              </a:rPr>
              <a:t>10/05/2023</a:t>
            </a:r>
            <a:endParaRPr lang="en-GB" sz="1200" dirty="0"/>
          </a:p>
        </p:txBody>
      </p:sp>
      <p:sp>
        <p:nvSpPr>
          <p:cNvPr id="17" name="TextBox 16">
            <a:extLst>
              <a:ext uri="{FF2B5EF4-FFF2-40B4-BE49-F238E27FC236}">
                <a16:creationId xmlns:a16="http://schemas.microsoft.com/office/drawing/2014/main" id="{70CC4B8C-17A6-4008-9E2D-D93619BC0FE4}"/>
              </a:ext>
            </a:extLst>
          </p:cNvPr>
          <p:cNvSpPr txBox="1"/>
          <p:nvPr/>
        </p:nvSpPr>
        <p:spPr>
          <a:xfrm>
            <a:off x="5407742" y="6083466"/>
            <a:ext cx="5352858" cy="634389"/>
          </a:xfrm>
          <a:prstGeom prst="rect">
            <a:avLst/>
          </a:prstGeom>
          <a:noFill/>
          <a:ln>
            <a:noFill/>
          </a:ln>
        </p:spPr>
        <p:txBody>
          <a:bodyPr wrap="square" numCol="3" rtlCol="0">
            <a:noAutofit/>
          </a:bodyPr>
          <a:lstStyle/>
          <a:p>
            <a:pPr marL="92075" indent="-92075">
              <a:buFont typeface="Arial" pitchFamily="34" charset="0"/>
              <a:buChar char="•"/>
            </a:pPr>
            <a:r>
              <a:rPr lang="en-GB" sz="1050" dirty="0">
                <a:latin typeface="Calibri" pitchFamily="34" charset="0"/>
                <a:cs typeface="Calibri" pitchFamily="34" charset="0"/>
              </a:rPr>
              <a:t>Tableau</a:t>
            </a:r>
          </a:p>
          <a:p>
            <a:pPr marL="92075" indent="-92075">
              <a:buFont typeface="Arial" pitchFamily="34" charset="0"/>
              <a:buChar char="•"/>
            </a:pPr>
            <a:r>
              <a:rPr lang="en-GB" sz="1050" dirty="0">
                <a:latin typeface="Calibri" pitchFamily="34" charset="0"/>
                <a:cs typeface="Calibri" pitchFamily="34" charset="0"/>
              </a:rPr>
              <a:t>Power BI</a:t>
            </a:r>
          </a:p>
          <a:p>
            <a:pPr marL="92075" indent="-92075">
              <a:buFont typeface="Arial" pitchFamily="34" charset="0"/>
              <a:buChar char="•"/>
            </a:pPr>
            <a:r>
              <a:rPr lang="en-GB" sz="1050" dirty="0">
                <a:latin typeface="Calibri" pitchFamily="34" charset="0"/>
                <a:cs typeface="Calibri" pitchFamily="34" charset="0"/>
              </a:rPr>
              <a:t>Qlik Sense</a:t>
            </a:r>
          </a:p>
          <a:p>
            <a:pPr marL="92075" indent="-92075">
              <a:buFont typeface="Arial" pitchFamily="34" charset="0"/>
              <a:buChar char="•"/>
            </a:pPr>
            <a:r>
              <a:rPr lang="en-GB" sz="1050" dirty="0">
                <a:latin typeface="Calibri" pitchFamily="34" charset="0"/>
                <a:cs typeface="Calibri" pitchFamily="34" charset="0"/>
              </a:rPr>
              <a:t>SQL</a:t>
            </a:r>
          </a:p>
          <a:p>
            <a:pPr marL="92075" indent="-92075">
              <a:buFont typeface="Arial" pitchFamily="34" charset="0"/>
              <a:buChar char="•"/>
            </a:pPr>
            <a:r>
              <a:rPr lang="en-GB" sz="1050" dirty="0">
                <a:latin typeface="Calibri" pitchFamily="34" charset="0"/>
                <a:cs typeface="Calibri" pitchFamily="34" charset="0"/>
              </a:rPr>
              <a:t>Python (basic)</a:t>
            </a:r>
          </a:p>
          <a:p>
            <a:pPr marL="92075" indent="-92075">
              <a:buFont typeface="Arial" pitchFamily="34" charset="0"/>
              <a:buChar char="•"/>
            </a:pPr>
            <a:r>
              <a:rPr lang="en-GB" sz="1050" dirty="0">
                <a:latin typeface="Calibri" pitchFamily="34" charset="0"/>
                <a:cs typeface="Calibri" pitchFamily="34" charset="0"/>
              </a:rPr>
              <a:t>Prompt engineering (basic)</a:t>
            </a:r>
          </a:p>
        </p:txBody>
      </p:sp>
      <p:sp>
        <p:nvSpPr>
          <p:cNvPr id="18" name="TextBox 17">
            <a:extLst>
              <a:ext uri="{FF2B5EF4-FFF2-40B4-BE49-F238E27FC236}">
                <a16:creationId xmlns:a16="http://schemas.microsoft.com/office/drawing/2014/main" id="{AAF46C95-0E12-4AFC-B9FE-4E7345868F22}"/>
              </a:ext>
            </a:extLst>
          </p:cNvPr>
          <p:cNvSpPr txBox="1"/>
          <p:nvPr/>
        </p:nvSpPr>
        <p:spPr>
          <a:xfrm>
            <a:off x="5455118" y="5699947"/>
            <a:ext cx="3349259" cy="307777"/>
          </a:xfrm>
          <a:prstGeom prst="rect">
            <a:avLst/>
          </a:prstGeom>
          <a:noFill/>
        </p:spPr>
        <p:txBody>
          <a:bodyPr wrap="square" rtlCol="0">
            <a:spAutoFit/>
          </a:bodyPr>
          <a:lstStyle/>
          <a:p>
            <a:pPr marL="92075" indent="-92075">
              <a:spcAft>
                <a:spcPts val="600"/>
              </a:spcAft>
            </a:pPr>
            <a:r>
              <a:rPr lang="en-GB" sz="1400" dirty="0">
                <a:solidFill>
                  <a:srgbClr val="9900FF"/>
                </a:solidFill>
                <a:latin typeface="Calibri" pitchFamily="34" charset="0"/>
                <a:cs typeface="Calibri" pitchFamily="34" charset="0"/>
              </a:rPr>
              <a:t>Technical skills:</a:t>
            </a:r>
          </a:p>
        </p:txBody>
      </p:sp>
      <p:pic>
        <p:nvPicPr>
          <p:cNvPr id="6" name="Picture 5" descr="A person in a suit&#10;&#10;Description automatically generated with low confidence">
            <a:extLst>
              <a:ext uri="{FF2B5EF4-FFF2-40B4-BE49-F238E27FC236}">
                <a16:creationId xmlns:a16="http://schemas.microsoft.com/office/drawing/2014/main" id="{68598495-4B07-411A-BA23-77C39E7548E7}"/>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t="6666" b="6083"/>
          <a:stretch/>
        </p:blipFill>
        <p:spPr>
          <a:xfrm>
            <a:off x="714380" y="1303066"/>
            <a:ext cx="1338763" cy="1342411"/>
          </a:xfrm>
          <a:prstGeom prst="ellipse">
            <a:avLst/>
          </a:prstGeom>
        </p:spPr>
      </p:pic>
      <p:cxnSp>
        <p:nvCxnSpPr>
          <p:cNvPr id="7" name="Straight Connector 6">
            <a:extLst>
              <a:ext uri="{FF2B5EF4-FFF2-40B4-BE49-F238E27FC236}">
                <a16:creationId xmlns:a16="http://schemas.microsoft.com/office/drawing/2014/main" id="{001B2DC5-D391-4525-8E4C-31C7313C1B0C}"/>
              </a:ext>
            </a:extLst>
          </p:cNvPr>
          <p:cNvCxnSpPr>
            <a:cxnSpLocks/>
          </p:cNvCxnSpPr>
          <p:nvPr/>
        </p:nvCxnSpPr>
        <p:spPr>
          <a:xfrm flipH="1">
            <a:off x="2965105" y="5700293"/>
            <a:ext cx="1" cy="1002322"/>
          </a:xfrm>
          <a:prstGeom prst="line">
            <a:avLst/>
          </a:prstGeom>
          <a:ln>
            <a:solidFill>
              <a:srgbClr val="99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AFC98EE-02D9-40F4-B194-16BDCD78D639}"/>
              </a:ext>
            </a:extLst>
          </p:cNvPr>
          <p:cNvCxnSpPr/>
          <p:nvPr/>
        </p:nvCxnSpPr>
        <p:spPr>
          <a:xfrm flipH="1">
            <a:off x="5443501" y="5715533"/>
            <a:ext cx="1" cy="1002322"/>
          </a:xfrm>
          <a:prstGeom prst="line">
            <a:avLst/>
          </a:prstGeom>
          <a:ln>
            <a:solidFill>
              <a:srgbClr val="99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05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1C2BBFE5-A907-4205-B7F4-379B8D6BB1E0}"/>
              </a:ext>
            </a:extLst>
          </p:cNvPr>
          <p:cNvSpPr/>
          <p:nvPr/>
        </p:nvSpPr>
        <p:spPr>
          <a:xfrm>
            <a:off x="239706" y="3883925"/>
            <a:ext cx="2598142"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5EB8"/>
                </a:solidFill>
                <a:effectLst/>
                <a:uLnTx/>
                <a:uFillTx/>
                <a:latin typeface="Graphik Black" panose="020B0A03030202060203" pitchFamily="34" charset="0"/>
                <a:ea typeface="+mn-ea"/>
                <a:cs typeface="+mn-cs"/>
              </a:rPr>
              <a:t>BACKGROUND</a:t>
            </a:r>
            <a:endParaRPr kumimoji="0" lang="en-GB" sz="1200" b="0" i="0" u="none" strike="noStrike" kern="1200" cap="none" spc="0" normalizeH="0" baseline="0" noProof="0" dirty="0">
              <a:ln>
                <a:noFill/>
              </a:ln>
              <a:solidFill>
                <a:srgbClr val="005EB8"/>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824D087F-4DEC-46A9-940B-913582653016}"/>
              </a:ext>
            </a:extLst>
          </p:cNvPr>
          <p:cNvGrpSpPr/>
          <p:nvPr/>
        </p:nvGrpSpPr>
        <p:grpSpPr>
          <a:xfrm>
            <a:off x="392779" y="-145292"/>
            <a:ext cx="6876711" cy="7037395"/>
            <a:chOff x="676587" y="-179396"/>
            <a:chExt cx="6876711" cy="7037395"/>
          </a:xfrm>
        </p:grpSpPr>
        <p:sp>
          <p:nvSpPr>
            <p:cNvPr id="2" name="Rectangle 1">
              <a:extLst>
                <a:ext uri="{FF2B5EF4-FFF2-40B4-BE49-F238E27FC236}">
                  <a16:creationId xmlns:a16="http://schemas.microsoft.com/office/drawing/2014/main" id="{CBAFC619-8158-4BEF-B49B-376D9E75CA99}"/>
                </a:ext>
              </a:extLst>
            </p:cNvPr>
            <p:cNvSpPr/>
            <p:nvPr/>
          </p:nvSpPr>
          <p:spPr>
            <a:xfrm flipH="1">
              <a:off x="4101858" y="-179396"/>
              <a:ext cx="3451440" cy="7037395"/>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7A6D252-025C-4718-A58D-4A924531FBCA}"/>
                </a:ext>
              </a:extLst>
            </p:cNvPr>
            <p:cNvSpPr txBox="1"/>
            <p:nvPr/>
          </p:nvSpPr>
          <p:spPr>
            <a:xfrm>
              <a:off x="2278896" y="1021442"/>
              <a:ext cx="1778166" cy="123110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2500" b="1" i="0" u="none" strike="noStrike" kern="1200" cap="none" spc="0" normalizeH="0" baseline="0" noProof="0" dirty="0">
                  <a:ln>
                    <a:noFill/>
                  </a:ln>
                  <a:effectLst/>
                  <a:uLnTx/>
                  <a:uFillTx/>
                  <a:latin typeface="Graphik Light" panose="020B0403030202060203" pitchFamily="34" charset="0"/>
                  <a:ea typeface="+mn-ea"/>
                  <a:cs typeface="+mn-cs"/>
                </a:rPr>
                <a:t>Thomas</a:t>
              </a:r>
            </a:p>
            <a:p>
              <a:pPr marL="0" marR="0" lvl="0" indent="0" defTabSz="914400" rtl="0" eaLnBrk="1" fontAlgn="auto" latinLnBrk="0" hangingPunct="1">
                <a:lnSpc>
                  <a:spcPct val="100000"/>
                </a:lnSpc>
                <a:spcBef>
                  <a:spcPts val="0"/>
                </a:spcBef>
                <a:spcAft>
                  <a:spcPts val="0"/>
                </a:spcAft>
                <a:buClrTx/>
                <a:buSzTx/>
                <a:buFontTx/>
                <a:buNone/>
                <a:tabLst/>
                <a:defRPr/>
              </a:pPr>
              <a:r>
                <a:rPr lang="en-GB" sz="2500" b="1" dirty="0">
                  <a:latin typeface="Graphik Light" panose="020B0403030202060203" pitchFamily="34" charset="0"/>
                </a:rPr>
                <a:t>Morgan</a:t>
              </a:r>
              <a:endParaRPr kumimoji="0" lang="en-GB" sz="2500" b="1" i="0" u="none" strike="noStrike" kern="1200" cap="none" spc="0" normalizeH="0" baseline="0" noProof="0" dirty="0">
                <a:ln>
                  <a:noFill/>
                </a:ln>
                <a:effectLst/>
                <a:uLnTx/>
                <a:uFillTx/>
                <a:latin typeface="Graphik Light" panose="020B0403030202060203"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lang="en-GB" sz="1200" b="1" dirty="0">
                  <a:latin typeface="Graphik" panose="020B0503030202060203" pitchFamily="34" charset="0"/>
                </a:rPr>
                <a:t>Augmented Insights Associate Manager</a:t>
              </a:r>
              <a:endParaRPr kumimoji="0" lang="en-GB" sz="1200" b="1" i="0" u="none" strike="noStrike" kern="1200" cap="none" spc="0" normalizeH="0" baseline="0" noProof="0" dirty="0">
                <a:ln>
                  <a:noFill/>
                </a:ln>
                <a:effectLst/>
                <a:uLnTx/>
                <a:uFillTx/>
                <a:latin typeface="Graphik" panose="020B0503030202060203" pitchFamily="34" charset="0"/>
                <a:ea typeface="+mn-ea"/>
                <a:cs typeface="+mn-cs"/>
              </a:endParaRPr>
            </a:p>
          </p:txBody>
        </p:sp>
        <p:grpSp>
          <p:nvGrpSpPr>
            <p:cNvPr id="6" name="Group 5">
              <a:extLst>
                <a:ext uri="{FF2B5EF4-FFF2-40B4-BE49-F238E27FC236}">
                  <a16:creationId xmlns:a16="http://schemas.microsoft.com/office/drawing/2014/main" id="{98F21E83-3470-48B8-B4ED-8B094F256E44}"/>
                </a:ext>
              </a:extLst>
            </p:cNvPr>
            <p:cNvGrpSpPr/>
            <p:nvPr/>
          </p:nvGrpSpPr>
          <p:grpSpPr>
            <a:xfrm>
              <a:off x="676587" y="2681497"/>
              <a:ext cx="2778989" cy="554548"/>
              <a:chOff x="-4312623" y="3331535"/>
              <a:chExt cx="3496587" cy="554548"/>
            </a:xfrm>
          </p:grpSpPr>
          <p:sp>
            <p:nvSpPr>
              <p:cNvPr id="7" name="TextBox 6">
                <a:extLst>
                  <a:ext uri="{FF2B5EF4-FFF2-40B4-BE49-F238E27FC236}">
                    <a16:creationId xmlns:a16="http://schemas.microsoft.com/office/drawing/2014/main" id="{D3868C85-9706-4BC3-8B73-A5D53E133677}"/>
                  </a:ext>
                </a:extLst>
              </p:cNvPr>
              <p:cNvSpPr txBox="1"/>
              <p:nvPr/>
            </p:nvSpPr>
            <p:spPr>
              <a:xfrm flipH="1">
                <a:off x="-4060981" y="3331535"/>
                <a:ext cx="3244945" cy="246221"/>
              </a:xfrm>
              <a:prstGeom prst="rect">
                <a:avLst/>
              </a:prstGeom>
              <a:noFill/>
            </p:spPr>
            <p:txBody>
              <a:bodyPr wrap="square" rtlCol="0">
                <a:spAutoFit/>
              </a:bodyPr>
              <a:lstStyle/>
              <a:p>
                <a:pPr lvl="0">
                  <a:defRPr/>
                </a:pPr>
                <a:r>
                  <a:rPr kumimoji="0" lang="en-GB" sz="1000" b="0" i="0" u="none" strike="noStrike" kern="1200" cap="none" spc="0" normalizeH="0" baseline="0" noProof="0" dirty="0">
                    <a:ln>
                      <a:noFill/>
                    </a:ln>
                    <a:solidFill>
                      <a:srgbClr val="005EB8"/>
                    </a:solidFill>
                    <a:effectLst/>
                    <a:uLnTx/>
                    <a:uFillTx/>
                    <a:latin typeface="Graphik" panose="020B0503030202060203" pitchFamily="34" charset="0"/>
                    <a:ea typeface="+mn-ea"/>
                    <a:cs typeface="+mn-cs"/>
                  </a:rPr>
                  <a:t> </a:t>
                </a:r>
                <a:r>
                  <a:rPr lang="en-GB" sz="1000" dirty="0">
                    <a:solidFill>
                      <a:srgbClr val="005EB8"/>
                    </a:solidFill>
                    <a:latin typeface="Graphik" panose="020B0503030202060203" pitchFamily="34" charset="0"/>
                  </a:rPr>
                  <a:t>tom.d.morgan@accenture.com</a:t>
                </a:r>
                <a:endParaRPr kumimoji="0" lang="en-GB" sz="800" b="0" i="0" u="none" strike="noStrike" kern="1200" cap="none" spc="0" normalizeH="0" baseline="0" noProof="0" dirty="0">
                  <a:ln>
                    <a:noFill/>
                  </a:ln>
                  <a:solidFill>
                    <a:srgbClr val="005EB8"/>
                  </a:solidFill>
                  <a:effectLst/>
                  <a:uLnTx/>
                  <a:uFillTx/>
                  <a:latin typeface="Graphik" panose="020B0503030202060203" pitchFamily="34" charset="0"/>
                </a:endParaRPr>
              </a:p>
            </p:txBody>
          </p:sp>
          <p:pic>
            <p:nvPicPr>
              <p:cNvPr id="8" name="Graphic 7" descr="Envelope">
                <a:extLst>
                  <a:ext uri="{FF2B5EF4-FFF2-40B4-BE49-F238E27FC236}">
                    <a16:creationId xmlns:a16="http://schemas.microsoft.com/office/drawing/2014/main" id="{D1D2A510-0A62-41F6-81DC-E2EC12A543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74113" y="3376129"/>
                <a:ext cx="245496" cy="180000"/>
              </a:xfrm>
              <a:prstGeom prst="rect">
                <a:avLst/>
              </a:prstGeom>
            </p:spPr>
          </p:pic>
          <p:sp>
            <p:nvSpPr>
              <p:cNvPr id="11" name="Rectangle 10">
                <a:extLst>
                  <a:ext uri="{FF2B5EF4-FFF2-40B4-BE49-F238E27FC236}">
                    <a16:creationId xmlns:a16="http://schemas.microsoft.com/office/drawing/2014/main" id="{8EDB0674-D5CD-4409-BB88-0CC14242390A}"/>
                  </a:ext>
                </a:extLst>
              </p:cNvPr>
              <p:cNvSpPr/>
              <p:nvPr/>
            </p:nvSpPr>
            <p:spPr>
              <a:xfrm>
                <a:off x="-4033002" y="3639862"/>
                <a:ext cx="1125854" cy="246221"/>
              </a:xfrm>
              <a:prstGeom prst="rect">
                <a:avLst/>
              </a:prstGeom>
            </p:spPr>
            <p:txBody>
              <a:bodyPr wrap="none">
                <a:spAutoFit/>
              </a:bodyPr>
              <a:lstStyle/>
              <a:p>
                <a:pPr>
                  <a:defRPr/>
                </a:pPr>
                <a:r>
                  <a:rPr lang="en-GB" sz="1000" dirty="0">
                    <a:solidFill>
                      <a:srgbClr val="005EB8"/>
                    </a:solidFill>
                    <a:latin typeface="Graphik" panose="020B0503030202060203" pitchFamily="34" charset="0"/>
                  </a:rPr>
                  <a:t>London, UK</a:t>
                </a:r>
              </a:p>
            </p:txBody>
          </p:sp>
          <p:pic>
            <p:nvPicPr>
              <p:cNvPr id="12" name="Graphic 11" descr="Marker">
                <a:extLst>
                  <a:ext uri="{FF2B5EF4-FFF2-40B4-BE49-F238E27FC236}">
                    <a16:creationId xmlns:a16="http://schemas.microsoft.com/office/drawing/2014/main" id="{BA1F5BA0-BE83-47E6-8F08-BA9A734AA4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2623" y="3670083"/>
                <a:ext cx="275610" cy="216000"/>
              </a:xfrm>
              <a:prstGeom prst="rect">
                <a:avLst/>
              </a:prstGeom>
            </p:spPr>
          </p:pic>
        </p:grpSp>
        <p:grpSp>
          <p:nvGrpSpPr>
            <p:cNvPr id="5" name="Group 4">
              <a:extLst>
                <a:ext uri="{FF2B5EF4-FFF2-40B4-BE49-F238E27FC236}">
                  <a16:creationId xmlns:a16="http://schemas.microsoft.com/office/drawing/2014/main" id="{70DE4D97-D510-43D7-919C-ACE88F03F865}"/>
                </a:ext>
              </a:extLst>
            </p:cNvPr>
            <p:cNvGrpSpPr/>
            <p:nvPr/>
          </p:nvGrpSpPr>
          <p:grpSpPr>
            <a:xfrm>
              <a:off x="706638" y="3264495"/>
              <a:ext cx="2778030" cy="553998"/>
              <a:chOff x="1407141" y="3224042"/>
              <a:chExt cx="2778030" cy="553998"/>
            </a:xfrm>
          </p:grpSpPr>
          <p:sp>
            <p:nvSpPr>
              <p:cNvPr id="14" name="TextBox 13">
                <a:extLst>
                  <a:ext uri="{FF2B5EF4-FFF2-40B4-BE49-F238E27FC236}">
                    <a16:creationId xmlns:a16="http://schemas.microsoft.com/office/drawing/2014/main" id="{EDA3234D-D87B-4B7B-89CD-91CFDDDC58A7}"/>
                  </a:ext>
                </a:extLst>
              </p:cNvPr>
              <p:cNvSpPr txBox="1"/>
              <p:nvPr/>
            </p:nvSpPr>
            <p:spPr>
              <a:xfrm flipH="1">
                <a:off x="1606179" y="3224042"/>
                <a:ext cx="2578992" cy="553998"/>
              </a:xfrm>
              <a:prstGeom prst="rect">
                <a:avLst/>
              </a:prstGeom>
              <a:noFill/>
            </p:spPr>
            <p:txBody>
              <a:bodyPr wrap="square" rtlCol="0">
                <a:spAutoFit/>
              </a:bodyPr>
              <a:lstStyle/>
              <a:p>
                <a:pPr>
                  <a:defRPr/>
                </a:pPr>
                <a:r>
                  <a:rPr lang="en-GB" sz="1000" dirty="0">
                    <a:solidFill>
                      <a:srgbClr val="005EB8"/>
                    </a:solidFill>
                    <a:latin typeface="Graphik" panose="020B0503030202060203" pitchFamily="34" charset="0"/>
                    <a:hlinkClick r:id="rId5">
                      <a:extLst>
                        <a:ext uri="{A12FA001-AC4F-418D-AE19-62706E023703}">
                          <ahyp:hlinkClr xmlns:ahyp="http://schemas.microsoft.com/office/drawing/2018/hyperlinkcolor" val="tx"/>
                        </a:ext>
                      </a:extLst>
                    </a:hlinkClick>
                  </a:rPr>
                  <a:t>https://uk.linkedin.com/in/thomas-morgan-12685a46</a:t>
                </a:r>
                <a:endParaRPr lang="en-GB" sz="1000" dirty="0">
                  <a:solidFill>
                    <a:srgbClr val="005EB8"/>
                  </a:solidFill>
                  <a:latin typeface="Graphik" panose="020B0503030202060203" pitchFamily="34" charset="0"/>
                </a:endParaRPr>
              </a:p>
              <a:p>
                <a:pPr lvl="0">
                  <a:defRPr/>
                </a:pPr>
                <a:endParaRPr kumimoji="0" lang="en-GB" sz="1000" b="0" i="0" u="none" strike="noStrike" kern="1200" cap="none" spc="0" normalizeH="0" baseline="0" noProof="0" dirty="0">
                  <a:ln>
                    <a:noFill/>
                  </a:ln>
                  <a:solidFill>
                    <a:srgbClr val="005EB8"/>
                  </a:solidFill>
                  <a:effectLst/>
                  <a:uLnTx/>
                  <a:uFillTx/>
                  <a:latin typeface="Graphik" panose="020B0503030202060203" pitchFamily="34" charset="0"/>
                </a:endParaRPr>
              </a:p>
            </p:txBody>
          </p:sp>
          <p:sp>
            <p:nvSpPr>
              <p:cNvPr id="74" name="Freeform 37">
                <a:extLst>
                  <a:ext uri="{FF2B5EF4-FFF2-40B4-BE49-F238E27FC236}">
                    <a16:creationId xmlns:a16="http://schemas.microsoft.com/office/drawing/2014/main" id="{BE6987F3-0F16-4C5D-9F00-AF80ACB4AA89}"/>
                  </a:ext>
                </a:extLst>
              </p:cNvPr>
              <p:cNvSpPr>
                <a:spLocks noChangeAspect="1" noEditPoints="1"/>
              </p:cNvSpPr>
              <p:nvPr/>
            </p:nvSpPr>
            <p:spPr bwMode="auto">
              <a:xfrm>
                <a:off x="1407141" y="3263962"/>
                <a:ext cx="188710" cy="180000"/>
              </a:xfrm>
              <a:custGeom>
                <a:avLst/>
                <a:gdLst>
                  <a:gd name="T0" fmla="*/ 258 w 264"/>
                  <a:gd name="T1" fmla="*/ 251 h 251"/>
                  <a:gd name="T2" fmla="*/ 198 w 264"/>
                  <a:gd name="T3" fmla="*/ 251 h 251"/>
                  <a:gd name="T4" fmla="*/ 192 w 264"/>
                  <a:gd name="T5" fmla="*/ 245 h 251"/>
                  <a:gd name="T6" fmla="*/ 192 w 264"/>
                  <a:gd name="T7" fmla="*/ 161 h 251"/>
                  <a:gd name="T8" fmla="*/ 174 w 264"/>
                  <a:gd name="T9" fmla="*/ 143 h 251"/>
                  <a:gd name="T10" fmla="*/ 156 w 264"/>
                  <a:gd name="T11" fmla="*/ 161 h 251"/>
                  <a:gd name="T12" fmla="*/ 156 w 264"/>
                  <a:gd name="T13" fmla="*/ 245 h 251"/>
                  <a:gd name="T14" fmla="*/ 150 w 264"/>
                  <a:gd name="T15" fmla="*/ 251 h 251"/>
                  <a:gd name="T16" fmla="*/ 90 w 264"/>
                  <a:gd name="T17" fmla="*/ 251 h 251"/>
                  <a:gd name="T18" fmla="*/ 86 w 264"/>
                  <a:gd name="T19" fmla="*/ 249 h 251"/>
                  <a:gd name="T20" fmla="*/ 84 w 264"/>
                  <a:gd name="T21" fmla="*/ 245 h 251"/>
                  <a:gd name="T22" fmla="*/ 84 w 264"/>
                  <a:gd name="T23" fmla="*/ 89 h 251"/>
                  <a:gd name="T24" fmla="*/ 86 w 264"/>
                  <a:gd name="T25" fmla="*/ 85 h 251"/>
                  <a:gd name="T26" fmla="*/ 90 w 264"/>
                  <a:gd name="T27" fmla="*/ 83 h 251"/>
                  <a:gd name="T28" fmla="*/ 150 w 264"/>
                  <a:gd name="T29" fmla="*/ 83 h 251"/>
                  <a:gd name="T30" fmla="*/ 156 w 264"/>
                  <a:gd name="T31" fmla="*/ 89 h 251"/>
                  <a:gd name="T32" fmla="*/ 156 w 264"/>
                  <a:gd name="T33" fmla="*/ 95 h 251"/>
                  <a:gd name="T34" fmla="*/ 198 w 264"/>
                  <a:gd name="T35" fmla="*/ 83 h 251"/>
                  <a:gd name="T36" fmla="*/ 264 w 264"/>
                  <a:gd name="T37" fmla="*/ 165 h 251"/>
                  <a:gd name="T38" fmla="*/ 264 w 264"/>
                  <a:gd name="T39" fmla="*/ 245 h 251"/>
                  <a:gd name="T40" fmla="*/ 258 w 264"/>
                  <a:gd name="T41" fmla="*/ 251 h 251"/>
                  <a:gd name="T42" fmla="*/ 204 w 264"/>
                  <a:gd name="T43" fmla="*/ 239 h 251"/>
                  <a:gd name="T44" fmla="*/ 252 w 264"/>
                  <a:gd name="T45" fmla="*/ 239 h 251"/>
                  <a:gd name="T46" fmla="*/ 252 w 264"/>
                  <a:gd name="T47" fmla="*/ 165 h 251"/>
                  <a:gd name="T48" fmla="*/ 198 w 264"/>
                  <a:gd name="T49" fmla="*/ 95 h 251"/>
                  <a:gd name="T50" fmla="*/ 154 w 264"/>
                  <a:gd name="T51" fmla="*/ 111 h 251"/>
                  <a:gd name="T52" fmla="*/ 148 w 264"/>
                  <a:gd name="T53" fmla="*/ 112 h 251"/>
                  <a:gd name="T54" fmla="*/ 144 w 264"/>
                  <a:gd name="T55" fmla="*/ 107 h 251"/>
                  <a:gd name="T56" fmla="*/ 144 w 264"/>
                  <a:gd name="T57" fmla="*/ 95 h 251"/>
                  <a:gd name="T58" fmla="*/ 97 w 264"/>
                  <a:gd name="T59" fmla="*/ 95 h 251"/>
                  <a:gd name="T60" fmla="*/ 96 w 264"/>
                  <a:gd name="T61" fmla="*/ 239 h 251"/>
                  <a:gd name="T62" fmla="*/ 144 w 264"/>
                  <a:gd name="T63" fmla="*/ 239 h 251"/>
                  <a:gd name="T64" fmla="*/ 144 w 264"/>
                  <a:gd name="T65" fmla="*/ 161 h 251"/>
                  <a:gd name="T66" fmla="*/ 174 w 264"/>
                  <a:gd name="T67" fmla="*/ 131 h 251"/>
                  <a:gd name="T68" fmla="*/ 204 w 264"/>
                  <a:gd name="T69" fmla="*/ 161 h 251"/>
                  <a:gd name="T70" fmla="*/ 204 w 264"/>
                  <a:gd name="T71" fmla="*/ 239 h 251"/>
                  <a:gd name="T72" fmla="*/ 66 w 264"/>
                  <a:gd name="T73" fmla="*/ 251 h 251"/>
                  <a:gd name="T74" fmla="*/ 6 w 264"/>
                  <a:gd name="T75" fmla="*/ 251 h 251"/>
                  <a:gd name="T76" fmla="*/ 0 w 264"/>
                  <a:gd name="T77" fmla="*/ 245 h 251"/>
                  <a:gd name="T78" fmla="*/ 0 w 264"/>
                  <a:gd name="T79" fmla="*/ 89 h 251"/>
                  <a:gd name="T80" fmla="*/ 6 w 264"/>
                  <a:gd name="T81" fmla="*/ 83 h 251"/>
                  <a:gd name="T82" fmla="*/ 66 w 264"/>
                  <a:gd name="T83" fmla="*/ 83 h 251"/>
                  <a:gd name="T84" fmla="*/ 72 w 264"/>
                  <a:gd name="T85" fmla="*/ 89 h 251"/>
                  <a:gd name="T86" fmla="*/ 72 w 264"/>
                  <a:gd name="T87" fmla="*/ 245 h 251"/>
                  <a:gd name="T88" fmla="*/ 66 w 264"/>
                  <a:gd name="T89" fmla="*/ 251 h 251"/>
                  <a:gd name="T90" fmla="*/ 12 w 264"/>
                  <a:gd name="T91" fmla="*/ 239 h 251"/>
                  <a:gd name="T92" fmla="*/ 60 w 264"/>
                  <a:gd name="T93" fmla="*/ 239 h 251"/>
                  <a:gd name="T94" fmla="*/ 60 w 264"/>
                  <a:gd name="T95" fmla="*/ 95 h 251"/>
                  <a:gd name="T96" fmla="*/ 12 w 264"/>
                  <a:gd name="T97" fmla="*/ 95 h 251"/>
                  <a:gd name="T98" fmla="*/ 12 w 264"/>
                  <a:gd name="T99" fmla="*/ 239 h 251"/>
                  <a:gd name="T100" fmla="*/ 36 w 264"/>
                  <a:gd name="T101" fmla="*/ 71 h 251"/>
                  <a:gd name="T102" fmla="*/ 36 w 264"/>
                  <a:gd name="T103" fmla="*/ 71 h 251"/>
                  <a:gd name="T104" fmla="*/ 0 w 264"/>
                  <a:gd name="T105" fmla="*/ 35 h 251"/>
                  <a:gd name="T106" fmla="*/ 37 w 264"/>
                  <a:gd name="T107" fmla="*/ 0 h 251"/>
                  <a:gd name="T108" fmla="*/ 73 w 264"/>
                  <a:gd name="T109" fmla="*/ 35 h 251"/>
                  <a:gd name="T110" fmla="*/ 36 w 264"/>
                  <a:gd name="T111" fmla="*/ 71 h 251"/>
                  <a:gd name="T112" fmla="*/ 37 w 264"/>
                  <a:gd name="T113" fmla="*/ 12 h 251"/>
                  <a:gd name="T114" fmla="*/ 12 w 264"/>
                  <a:gd name="T115" fmla="*/ 35 h 251"/>
                  <a:gd name="T116" fmla="*/ 36 w 264"/>
                  <a:gd name="T117" fmla="*/ 59 h 251"/>
                  <a:gd name="T118" fmla="*/ 36 w 264"/>
                  <a:gd name="T119" fmla="*/ 59 h 251"/>
                  <a:gd name="T120" fmla="*/ 61 w 264"/>
                  <a:gd name="T121" fmla="*/ 35 h 251"/>
                  <a:gd name="T122" fmla="*/ 37 w 264"/>
                  <a:gd name="T123" fmla="*/ 12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4" h="251">
                    <a:moveTo>
                      <a:pt x="258" y="251"/>
                    </a:moveTo>
                    <a:cubicBezTo>
                      <a:pt x="198" y="251"/>
                      <a:pt x="198" y="251"/>
                      <a:pt x="198" y="251"/>
                    </a:cubicBezTo>
                    <a:cubicBezTo>
                      <a:pt x="195" y="251"/>
                      <a:pt x="192" y="248"/>
                      <a:pt x="192" y="245"/>
                    </a:cubicBezTo>
                    <a:cubicBezTo>
                      <a:pt x="192" y="161"/>
                      <a:pt x="192" y="161"/>
                      <a:pt x="192" y="161"/>
                    </a:cubicBezTo>
                    <a:cubicBezTo>
                      <a:pt x="192" y="151"/>
                      <a:pt x="184" y="143"/>
                      <a:pt x="174" y="143"/>
                    </a:cubicBezTo>
                    <a:cubicBezTo>
                      <a:pt x="164" y="143"/>
                      <a:pt x="156" y="151"/>
                      <a:pt x="156" y="161"/>
                    </a:cubicBezTo>
                    <a:cubicBezTo>
                      <a:pt x="156" y="245"/>
                      <a:pt x="156" y="245"/>
                      <a:pt x="156" y="245"/>
                    </a:cubicBezTo>
                    <a:cubicBezTo>
                      <a:pt x="156" y="248"/>
                      <a:pt x="154" y="251"/>
                      <a:pt x="150" y="251"/>
                    </a:cubicBezTo>
                    <a:cubicBezTo>
                      <a:pt x="90" y="251"/>
                      <a:pt x="90" y="251"/>
                      <a:pt x="90" y="251"/>
                    </a:cubicBezTo>
                    <a:cubicBezTo>
                      <a:pt x="89" y="251"/>
                      <a:pt x="87" y="250"/>
                      <a:pt x="86" y="249"/>
                    </a:cubicBezTo>
                    <a:cubicBezTo>
                      <a:pt x="85" y="248"/>
                      <a:pt x="84" y="246"/>
                      <a:pt x="84" y="245"/>
                    </a:cubicBezTo>
                    <a:cubicBezTo>
                      <a:pt x="84" y="243"/>
                      <a:pt x="85" y="101"/>
                      <a:pt x="84" y="89"/>
                    </a:cubicBezTo>
                    <a:cubicBezTo>
                      <a:pt x="84" y="88"/>
                      <a:pt x="85" y="86"/>
                      <a:pt x="86" y="85"/>
                    </a:cubicBezTo>
                    <a:cubicBezTo>
                      <a:pt x="87" y="83"/>
                      <a:pt x="89" y="83"/>
                      <a:pt x="90" y="83"/>
                    </a:cubicBezTo>
                    <a:cubicBezTo>
                      <a:pt x="150" y="83"/>
                      <a:pt x="150" y="83"/>
                      <a:pt x="150" y="83"/>
                    </a:cubicBezTo>
                    <a:cubicBezTo>
                      <a:pt x="154" y="83"/>
                      <a:pt x="156" y="85"/>
                      <a:pt x="156" y="89"/>
                    </a:cubicBezTo>
                    <a:cubicBezTo>
                      <a:pt x="156" y="95"/>
                      <a:pt x="156" y="95"/>
                      <a:pt x="156" y="95"/>
                    </a:cubicBezTo>
                    <a:cubicBezTo>
                      <a:pt x="165" y="90"/>
                      <a:pt x="180" y="83"/>
                      <a:pt x="198" y="83"/>
                    </a:cubicBezTo>
                    <a:cubicBezTo>
                      <a:pt x="239" y="83"/>
                      <a:pt x="264" y="115"/>
                      <a:pt x="264" y="165"/>
                    </a:cubicBezTo>
                    <a:cubicBezTo>
                      <a:pt x="264" y="245"/>
                      <a:pt x="264" y="245"/>
                      <a:pt x="264" y="245"/>
                    </a:cubicBezTo>
                    <a:cubicBezTo>
                      <a:pt x="264" y="248"/>
                      <a:pt x="262" y="251"/>
                      <a:pt x="258" y="251"/>
                    </a:cubicBezTo>
                    <a:close/>
                    <a:moveTo>
                      <a:pt x="204" y="239"/>
                    </a:moveTo>
                    <a:cubicBezTo>
                      <a:pt x="252" y="239"/>
                      <a:pt x="252" y="239"/>
                      <a:pt x="252" y="239"/>
                    </a:cubicBezTo>
                    <a:cubicBezTo>
                      <a:pt x="252" y="165"/>
                      <a:pt x="252" y="165"/>
                      <a:pt x="252" y="165"/>
                    </a:cubicBezTo>
                    <a:cubicBezTo>
                      <a:pt x="252" y="121"/>
                      <a:pt x="232" y="95"/>
                      <a:pt x="198" y="95"/>
                    </a:cubicBezTo>
                    <a:cubicBezTo>
                      <a:pt x="172" y="95"/>
                      <a:pt x="155" y="111"/>
                      <a:pt x="154" y="111"/>
                    </a:cubicBezTo>
                    <a:cubicBezTo>
                      <a:pt x="153" y="113"/>
                      <a:pt x="150" y="113"/>
                      <a:pt x="148" y="112"/>
                    </a:cubicBezTo>
                    <a:cubicBezTo>
                      <a:pt x="146" y="111"/>
                      <a:pt x="144" y="109"/>
                      <a:pt x="144" y="107"/>
                    </a:cubicBezTo>
                    <a:cubicBezTo>
                      <a:pt x="144" y="95"/>
                      <a:pt x="144" y="95"/>
                      <a:pt x="144" y="95"/>
                    </a:cubicBezTo>
                    <a:cubicBezTo>
                      <a:pt x="97" y="95"/>
                      <a:pt x="97" y="95"/>
                      <a:pt x="97" y="95"/>
                    </a:cubicBezTo>
                    <a:cubicBezTo>
                      <a:pt x="97" y="121"/>
                      <a:pt x="97" y="214"/>
                      <a:pt x="96" y="239"/>
                    </a:cubicBezTo>
                    <a:cubicBezTo>
                      <a:pt x="144" y="239"/>
                      <a:pt x="144" y="239"/>
                      <a:pt x="144" y="239"/>
                    </a:cubicBezTo>
                    <a:cubicBezTo>
                      <a:pt x="144" y="161"/>
                      <a:pt x="144" y="161"/>
                      <a:pt x="144" y="161"/>
                    </a:cubicBezTo>
                    <a:cubicBezTo>
                      <a:pt x="144" y="144"/>
                      <a:pt x="158" y="131"/>
                      <a:pt x="174" y="131"/>
                    </a:cubicBezTo>
                    <a:cubicBezTo>
                      <a:pt x="191" y="131"/>
                      <a:pt x="204" y="144"/>
                      <a:pt x="204" y="161"/>
                    </a:cubicBezTo>
                    <a:lnTo>
                      <a:pt x="204" y="239"/>
                    </a:lnTo>
                    <a:close/>
                    <a:moveTo>
                      <a:pt x="66" y="251"/>
                    </a:moveTo>
                    <a:cubicBezTo>
                      <a:pt x="6" y="251"/>
                      <a:pt x="6" y="251"/>
                      <a:pt x="6" y="251"/>
                    </a:cubicBezTo>
                    <a:cubicBezTo>
                      <a:pt x="3" y="251"/>
                      <a:pt x="0" y="248"/>
                      <a:pt x="0" y="245"/>
                    </a:cubicBezTo>
                    <a:cubicBezTo>
                      <a:pt x="0" y="89"/>
                      <a:pt x="0" y="89"/>
                      <a:pt x="0" y="89"/>
                    </a:cubicBezTo>
                    <a:cubicBezTo>
                      <a:pt x="0" y="85"/>
                      <a:pt x="3" y="83"/>
                      <a:pt x="6" y="83"/>
                    </a:cubicBezTo>
                    <a:cubicBezTo>
                      <a:pt x="66" y="83"/>
                      <a:pt x="66" y="83"/>
                      <a:pt x="66" y="83"/>
                    </a:cubicBezTo>
                    <a:cubicBezTo>
                      <a:pt x="70" y="83"/>
                      <a:pt x="72" y="85"/>
                      <a:pt x="72" y="89"/>
                    </a:cubicBezTo>
                    <a:cubicBezTo>
                      <a:pt x="72" y="245"/>
                      <a:pt x="72" y="245"/>
                      <a:pt x="72" y="245"/>
                    </a:cubicBezTo>
                    <a:cubicBezTo>
                      <a:pt x="72" y="248"/>
                      <a:pt x="70" y="251"/>
                      <a:pt x="66" y="251"/>
                    </a:cubicBezTo>
                    <a:close/>
                    <a:moveTo>
                      <a:pt x="12" y="239"/>
                    </a:moveTo>
                    <a:cubicBezTo>
                      <a:pt x="60" y="239"/>
                      <a:pt x="60" y="239"/>
                      <a:pt x="60" y="239"/>
                    </a:cubicBezTo>
                    <a:cubicBezTo>
                      <a:pt x="60" y="95"/>
                      <a:pt x="60" y="95"/>
                      <a:pt x="60" y="95"/>
                    </a:cubicBezTo>
                    <a:cubicBezTo>
                      <a:pt x="12" y="95"/>
                      <a:pt x="12" y="95"/>
                      <a:pt x="12" y="95"/>
                    </a:cubicBezTo>
                    <a:lnTo>
                      <a:pt x="12" y="239"/>
                    </a:lnTo>
                    <a:close/>
                    <a:moveTo>
                      <a:pt x="36" y="71"/>
                    </a:moveTo>
                    <a:cubicBezTo>
                      <a:pt x="36" y="71"/>
                      <a:pt x="36" y="71"/>
                      <a:pt x="36" y="71"/>
                    </a:cubicBezTo>
                    <a:cubicBezTo>
                      <a:pt x="16" y="71"/>
                      <a:pt x="0" y="55"/>
                      <a:pt x="0" y="35"/>
                    </a:cubicBezTo>
                    <a:cubicBezTo>
                      <a:pt x="0" y="15"/>
                      <a:pt x="16" y="0"/>
                      <a:pt x="37" y="0"/>
                    </a:cubicBezTo>
                    <a:cubicBezTo>
                      <a:pt x="57" y="0"/>
                      <a:pt x="72" y="15"/>
                      <a:pt x="73" y="35"/>
                    </a:cubicBezTo>
                    <a:cubicBezTo>
                      <a:pt x="73" y="56"/>
                      <a:pt x="57" y="71"/>
                      <a:pt x="36" y="71"/>
                    </a:cubicBezTo>
                    <a:close/>
                    <a:moveTo>
                      <a:pt x="37" y="12"/>
                    </a:moveTo>
                    <a:cubicBezTo>
                      <a:pt x="22" y="12"/>
                      <a:pt x="12" y="22"/>
                      <a:pt x="12" y="35"/>
                    </a:cubicBezTo>
                    <a:cubicBezTo>
                      <a:pt x="12" y="47"/>
                      <a:pt x="20" y="59"/>
                      <a:pt x="36" y="59"/>
                    </a:cubicBezTo>
                    <a:cubicBezTo>
                      <a:pt x="36" y="59"/>
                      <a:pt x="36" y="59"/>
                      <a:pt x="36" y="59"/>
                    </a:cubicBezTo>
                    <a:cubicBezTo>
                      <a:pt x="52" y="59"/>
                      <a:pt x="61" y="47"/>
                      <a:pt x="61" y="35"/>
                    </a:cubicBezTo>
                    <a:cubicBezTo>
                      <a:pt x="61" y="24"/>
                      <a:pt x="53" y="12"/>
                      <a:pt x="37" y="12"/>
                    </a:cubicBezTo>
                    <a:close/>
                  </a:path>
                </a:pathLst>
              </a:custGeom>
              <a:solidFill>
                <a:srgbClr val="005EB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61" name="TextBox 60">
            <a:extLst>
              <a:ext uri="{FF2B5EF4-FFF2-40B4-BE49-F238E27FC236}">
                <a16:creationId xmlns:a16="http://schemas.microsoft.com/office/drawing/2014/main" id="{0C1B5C1A-5F58-49A3-B695-DF4C8B08B12C}"/>
              </a:ext>
            </a:extLst>
          </p:cNvPr>
          <p:cNvSpPr txBox="1"/>
          <p:nvPr/>
        </p:nvSpPr>
        <p:spPr>
          <a:xfrm>
            <a:off x="7406172" y="975003"/>
            <a:ext cx="4550428" cy="5955476"/>
          </a:xfrm>
          <a:prstGeom prst="rect">
            <a:avLst/>
          </a:prstGeom>
          <a:noFill/>
        </p:spPr>
        <p:txBody>
          <a:bodyPr wrap="square" rtlCol="0">
            <a:spAutoFit/>
          </a:bodyPr>
          <a:lstStyle/>
          <a:p>
            <a:pPr lvl="0">
              <a:defRPr/>
            </a:pPr>
            <a:r>
              <a:rPr lang="fr-FR" sz="1050" b="1" dirty="0">
                <a:solidFill>
                  <a:prstClr val="black"/>
                </a:solidFill>
                <a:latin typeface="Graphik" panose="020B0503030202060203" pitchFamily="34" charset="0"/>
              </a:rPr>
              <a:t>Accenture consulting for NHS Joint </a:t>
            </a:r>
            <a:r>
              <a:rPr lang="fr-FR" sz="1050" b="1" dirty="0" err="1">
                <a:solidFill>
                  <a:prstClr val="black"/>
                </a:solidFill>
                <a:latin typeface="Graphik" panose="020B0503030202060203" pitchFamily="34" charset="0"/>
              </a:rPr>
              <a:t>Biosecurity</a:t>
            </a:r>
            <a:r>
              <a:rPr lang="fr-FR" sz="1050" b="1" dirty="0">
                <a:solidFill>
                  <a:prstClr val="black"/>
                </a:solidFill>
                <a:latin typeface="Graphik" panose="020B0503030202060203" pitchFamily="34" charset="0"/>
              </a:rPr>
              <a:t> Centre, Lead Visualisation </a:t>
            </a:r>
            <a:r>
              <a:rPr lang="fr-FR" sz="1050" b="1" dirty="0" err="1">
                <a:solidFill>
                  <a:prstClr val="black"/>
                </a:solidFill>
                <a:latin typeface="Graphik" panose="020B0503030202060203" pitchFamily="34" charset="0"/>
              </a:rPr>
              <a:t>Developer</a:t>
            </a:r>
            <a:endParaRPr lang="en-GB" sz="900" dirty="0">
              <a:solidFill>
                <a:prstClr val="black"/>
              </a:solidFill>
              <a:latin typeface="Graphik" panose="020B0503030202060203" pitchFamily="34" charset="0"/>
            </a:endParaRPr>
          </a:p>
          <a:p>
            <a:pPr marL="171450" indent="-171450">
              <a:buFont typeface="Arial" panose="020B0604020202020204" pitchFamily="34" charset="0"/>
              <a:buChar char="•"/>
              <a:defRPr/>
            </a:pPr>
            <a:r>
              <a:rPr lang="en-GB" sz="900" dirty="0">
                <a:solidFill>
                  <a:prstClr val="black"/>
                </a:solidFill>
                <a:latin typeface="Graphik" panose="020B0503030202060203" pitchFamily="34" charset="0"/>
              </a:rPr>
              <a:t>Advised visualisation tool requirements to select the best fit for the business</a:t>
            </a:r>
          </a:p>
          <a:p>
            <a:pPr marL="171450" indent="-171450">
              <a:buFont typeface="Arial" panose="020B0604020202020204" pitchFamily="34" charset="0"/>
              <a:buChar char="•"/>
              <a:defRPr/>
            </a:pPr>
            <a:r>
              <a:rPr lang="en-GB" sz="900" dirty="0">
                <a:solidFill>
                  <a:prstClr val="black"/>
                </a:solidFill>
                <a:latin typeface="Graphik" panose="020B0503030202060203" pitchFamily="34" charset="0"/>
              </a:rPr>
              <a:t>Development of multiple dashboards for company wide consumption, for example a Daily Cases Overview dashboard reporting on covid-19 cases</a:t>
            </a:r>
          </a:p>
          <a:p>
            <a:pPr marL="171450" indent="-171450">
              <a:buFont typeface="Arial" panose="020B0604020202020204" pitchFamily="34" charset="0"/>
              <a:buChar char="•"/>
              <a:defRPr/>
            </a:pPr>
            <a:r>
              <a:rPr lang="en-GB" sz="900" dirty="0">
                <a:solidFill>
                  <a:prstClr val="black"/>
                </a:solidFill>
                <a:latin typeface="Graphik" panose="020B0503030202060203" pitchFamily="34" charset="0"/>
              </a:rPr>
              <a:t>Driving the construction and delivery of Qlik Sense training materials and sessions</a:t>
            </a:r>
          </a:p>
          <a:p>
            <a:pPr marL="171450" indent="-171450">
              <a:buFont typeface="Arial" panose="020B0604020202020204" pitchFamily="34" charset="0"/>
              <a:buChar char="•"/>
              <a:defRPr/>
            </a:pPr>
            <a:r>
              <a:rPr lang="en-GB" sz="900" dirty="0">
                <a:solidFill>
                  <a:prstClr val="black"/>
                </a:solidFill>
                <a:latin typeface="Graphik" panose="020B0503030202060203" pitchFamily="34" charset="0"/>
              </a:rPr>
              <a:t>Supported Head of Visualisation with establishing a Qlik ‘Centre of Excellence’</a:t>
            </a:r>
          </a:p>
          <a:p>
            <a:pPr>
              <a:defRPr/>
            </a:pPr>
            <a:endParaRPr lang="fr-FR" sz="1050" b="1" dirty="0">
              <a:solidFill>
                <a:prstClr val="black"/>
              </a:solidFill>
              <a:latin typeface="Graphik" panose="020B0503030202060203" pitchFamily="34" charset="0"/>
            </a:endParaRPr>
          </a:p>
          <a:p>
            <a:pPr lvl="0">
              <a:defRPr/>
            </a:pPr>
            <a:r>
              <a:rPr lang="fr-FR" sz="1050" b="1" dirty="0" err="1">
                <a:solidFill>
                  <a:prstClr val="black"/>
                </a:solidFill>
                <a:latin typeface="Graphik" panose="020B0503030202060203" pitchFamily="34" charset="0"/>
              </a:rPr>
              <a:t>Mudano</a:t>
            </a:r>
            <a:r>
              <a:rPr lang="fr-FR" sz="1050" b="1" dirty="0">
                <a:solidFill>
                  <a:prstClr val="black"/>
                </a:solidFill>
                <a:latin typeface="Graphik" panose="020B0503030202060203" pitchFamily="34" charset="0"/>
              </a:rPr>
              <a:t>, Tableau Consultant (data solutions):</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Directed build of </a:t>
            </a:r>
            <a:r>
              <a:rPr lang="en-GB" sz="900" dirty="0" err="1">
                <a:solidFill>
                  <a:prstClr val="black"/>
                </a:solidFill>
                <a:latin typeface="Graphik" panose="020B0503030202060203" pitchFamily="34" charset="0"/>
              </a:rPr>
              <a:t>Obeya</a:t>
            </a:r>
            <a:r>
              <a:rPr lang="en-GB" sz="900" dirty="0">
                <a:solidFill>
                  <a:prstClr val="black"/>
                </a:solidFill>
                <a:latin typeface="Graphik" panose="020B0503030202060203" pitchFamily="34" charset="0"/>
              </a:rPr>
              <a:t> flow dashboards, which takes users on a journey from board level metrics down to whatever level of granularity the drilldown may take them e.g. project level dependencies.</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Designed and built prototypes: Initiatives Optimisation, Delivery Status Score, Digital Boardroom POC &amp; Data Driven Portfolio Management Suite</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Built and facilitated ‘Data Management Experience’ game which is used as to illustrate to clients the importance of data management</a:t>
            </a:r>
          </a:p>
          <a:p>
            <a:pPr marL="171450" lvl="0" indent="-171450">
              <a:buFont typeface="Arial" panose="020B0604020202020204" pitchFamily="34" charset="0"/>
              <a:buChar char="•"/>
              <a:defRPr/>
            </a:pPr>
            <a:endParaRPr kumimoji="0" lang="en-GB" sz="900" b="0" i="0" u="none" strike="noStrike" kern="1200" cap="none" spc="0" normalizeH="0" baseline="0" noProof="0" dirty="0">
              <a:ln>
                <a:noFill/>
              </a:ln>
              <a:solidFill>
                <a:prstClr val="black"/>
              </a:solidFill>
              <a:effectLst/>
              <a:uLnTx/>
              <a:uFillTx/>
              <a:latin typeface="Graphik" panose="020B0503030202060203" pitchFamily="34" charset="0"/>
            </a:endParaRPr>
          </a:p>
          <a:p>
            <a:pPr lvl="0">
              <a:defRPr/>
            </a:pPr>
            <a:r>
              <a:rPr lang="en-GB" sz="1050" b="1" dirty="0" err="1">
                <a:solidFill>
                  <a:prstClr val="black"/>
                </a:solidFill>
                <a:latin typeface="Graphik" panose="020B0503030202060203" pitchFamily="34" charset="0"/>
              </a:rPr>
              <a:t>Mudano</a:t>
            </a:r>
            <a:r>
              <a:rPr lang="en-GB" sz="1050" b="1" dirty="0">
                <a:solidFill>
                  <a:prstClr val="black"/>
                </a:solidFill>
                <a:latin typeface="Graphik" panose="020B0503030202060203" pitchFamily="34" charset="0"/>
              </a:rPr>
              <a:t> consulting for Lloyds Banking Group, Tableau Consultant:</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Development of data quality dashboards for major retail bank. </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Pre-emptively identifying problems, devising appropriate solutions and educating the team with said solutions in an understandable way. </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Leading production of developed product and training for handover.</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Demonstrating the product to both key stakeholders and the wider business.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prstClr val="black"/>
              </a:solidFill>
              <a:effectLst/>
              <a:uLnTx/>
              <a:uFillTx/>
              <a:latin typeface="Graphik" panose="020B0503030202060203" pitchFamily="34" charset="0"/>
            </a:endParaRPr>
          </a:p>
          <a:p>
            <a:pPr lvl="0">
              <a:defRPr/>
            </a:pPr>
            <a:r>
              <a:rPr lang="en-GB" sz="1050" b="1" dirty="0">
                <a:solidFill>
                  <a:prstClr val="black"/>
                </a:solidFill>
                <a:latin typeface="Graphik" panose="020B0503030202060203" pitchFamily="34" charset="0"/>
              </a:rPr>
              <a:t>A.S. Watson, Insights Reporting Analyst:</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Management of Tableau workbook lifespan from design, dataset manipulation (SQL), dashboard build and company roll-out.</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Construction and implementation of Tableau reports across Europe and Asia Business Units.</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Administering Tableau Server.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prstClr val="black"/>
              </a:solidFill>
              <a:effectLst/>
              <a:uLnTx/>
              <a:uFillTx/>
              <a:latin typeface="Graphik" panose="020B0503030202060203" pitchFamily="34" charset="0"/>
            </a:endParaRPr>
          </a:p>
          <a:p>
            <a:pPr lvl="0">
              <a:defRPr/>
            </a:pPr>
            <a:r>
              <a:rPr lang="en-GB" sz="1050" b="1" dirty="0">
                <a:solidFill>
                  <a:prstClr val="black"/>
                </a:solidFill>
                <a:latin typeface="Graphik" panose="020B0503030202060203" pitchFamily="34" charset="0"/>
              </a:rPr>
              <a:t>New Look, Group Analyst:</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Writing SQL scripts to build large datasets to provide insight and analysis at request of directors and heads of department. </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Building and maintaining Tableau dashboards for business-wide use.</a:t>
            </a:r>
          </a:p>
          <a:p>
            <a:pPr marL="171450" lvl="0" indent="-171450">
              <a:buFont typeface="Arial" panose="020B0604020202020204" pitchFamily="34" charset="0"/>
              <a:buChar char="•"/>
              <a:defRPr/>
            </a:pPr>
            <a:r>
              <a:rPr lang="en-GB" sz="900" dirty="0">
                <a:solidFill>
                  <a:prstClr val="black"/>
                </a:solidFill>
                <a:latin typeface="Graphik" panose="020B0503030202060203" pitchFamily="34" charset="0"/>
              </a:rPr>
              <a:t>Development of new processes critical to business-wide systems upgrade.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prstClr val="black"/>
              </a:solidFill>
              <a:effectLst/>
              <a:uLnTx/>
              <a:uFillTx/>
              <a:latin typeface="Graphik" panose="020B0503030202060203"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en-GB" sz="900" b="0" i="0" u="none" strike="noStrike" kern="1200" cap="none" spc="0" normalizeH="0" baseline="0" noProof="0" dirty="0">
              <a:ln>
                <a:noFill/>
              </a:ln>
              <a:solidFill>
                <a:prstClr val="black"/>
              </a:solidFill>
              <a:effectLst/>
              <a:uLnTx/>
              <a:uFillTx/>
              <a:latin typeface="Graphik" panose="020B0503030202060203" pitchFamily="34" charset="0"/>
            </a:endParaRPr>
          </a:p>
        </p:txBody>
      </p:sp>
      <p:sp>
        <p:nvSpPr>
          <p:cNvPr id="62" name="Rectangle 61">
            <a:extLst>
              <a:ext uri="{FF2B5EF4-FFF2-40B4-BE49-F238E27FC236}">
                <a16:creationId xmlns:a16="http://schemas.microsoft.com/office/drawing/2014/main" id="{FC7878A7-30CA-42D0-80D8-DE9526B68568}"/>
              </a:ext>
            </a:extLst>
          </p:cNvPr>
          <p:cNvSpPr/>
          <p:nvPr/>
        </p:nvSpPr>
        <p:spPr>
          <a:xfrm>
            <a:off x="7396394" y="614437"/>
            <a:ext cx="3451439"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5EB8"/>
                </a:solidFill>
                <a:effectLst/>
                <a:uLnTx/>
                <a:uFillTx/>
                <a:latin typeface="Graphik Black" panose="020B0A03030202060203" pitchFamily="34" charset="0"/>
                <a:ea typeface="+mn-ea"/>
                <a:cs typeface="+mn-cs"/>
              </a:rPr>
              <a:t>RELEVANT EXPERIENCE </a:t>
            </a:r>
            <a:endParaRPr kumimoji="0" lang="en-GB" sz="1400" b="0" i="0" u="none" strike="noStrike" kern="1200" cap="none" spc="0" normalizeH="0" baseline="0" noProof="0" dirty="0">
              <a:ln>
                <a:noFill/>
              </a:ln>
              <a:solidFill>
                <a:srgbClr val="005EB8"/>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FCD93681-844E-41F4-B44B-0BE40DEEAEA6}"/>
              </a:ext>
            </a:extLst>
          </p:cNvPr>
          <p:cNvPicPr>
            <a:picLocks noChangeAspect="1"/>
          </p:cNvPicPr>
          <p:nvPr/>
        </p:nvPicPr>
        <p:blipFill rotWithShape="1">
          <a:blip r:embed="rId6"/>
          <a:srcRect b="48413"/>
          <a:stretch/>
        </p:blipFill>
        <p:spPr>
          <a:xfrm>
            <a:off x="10676325" y="231605"/>
            <a:ext cx="1317222" cy="536721"/>
          </a:xfrm>
          <a:prstGeom prst="rect">
            <a:avLst/>
          </a:prstGeom>
        </p:spPr>
      </p:pic>
      <p:sp>
        <p:nvSpPr>
          <p:cNvPr id="70" name="Rectangle 69">
            <a:extLst>
              <a:ext uri="{FF2B5EF4-FFF2-40B4-BE49-F238E27FC236}">
                <a16:creationId xmlns:a16="http://schemas.microsoft.com/office/drawing/2014/main" id="{44BBD757-9FF0-451A-84EA-0A06C130197F}"/>
              </a:ext>
            </a:extLst>
          </p:cNvPr>
          <p:cNvSpPr/>
          <p:nvPr/>
        </p:nvSpPr>
        <p:spPr>
          <a:xfrm>
            <a:off x="3990416" y="2929917"/>
            <a:ext cx="1577447"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GB" sz="1200" dirty="0">
                <a:solidFill>
                  <a:schemeClr val="bg1"/>
                </a:solidFill>
                <a:latin typeface="Graphik" panose="020B0503030202060203" pitchFamily="34" charset="0"/>
              </a:rPr>
              <a:t>FUNCTIONAL</a:t>
            </a:r>
            <a:endParaRPr kumimoji="0" lang="en-GB" sz="1200" i="0" u="none" strike="noStrike" kern="1200" cap="none" spc="0" normalizeH="0" baseline="0" noProof="0" dirty="0">
              <a:ln>
                <a:noFill/>
              </a:ln>
              <a:solidFill>
                <a:schemeClr val="bg1"/>
              </a:solidFill>
              <a:effectLst/>
              <a:uLnTx/>
              <a:uFillTx/>
              <a:latin typeface="Graphik" panose="020B0503030202060203" pitchFamily="34" charset="0"/>
            </a:endParaRPr>
          </a:p>
        </p:txBody>
      </p:sp>
      <p:sp>
        <p:nvSpPr>
          <p:cNvPr id="110" name="Rectangle 109">
            <a:extLst>
              <a:ext uri="{FF2B5EF4-FFF2-40B4-BE49-F238E27FC236}">
                <a16:creationId xmlns:a16="http://schemas.microsoft.com/office/drawing/2014/main" id="{55E4BAE1-0AB9-4319-99A0-CC516CB45DFA}"/>
              </a:ext>
            </a:extLst>
          </p:cNvPr>
          <p:cNvSpPr/>
          <p:nvPr/>
        </p:nvSpPr>
        <p:spPr>
          <a:xfrm>
            <a:off x="3949207" y="2542742"/>
            <a:ext cx="1577447" cy="338554"/>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GB" sz="1600" b="1" dirty="0">
                <a:solidFill>
                  <a:schemeClr val="bg1"/>
                </a:solidFill>
                <a:latin typeface="Graphik Black" panose="020B0A03030202060203" pitchFamily="34" charset="0"/>
              </a:rPr>
              <a:t>EXPERTISE</a:t>
            </a:r>
            <a:endParaRPr kumimoji="0" lang="en-GB" sz="1600" b="0" i="0" u="none" strike="noStrike" kern="1200" cap="none" spc="0" normalizeH="0" baseline="0" noProof="0" dirty="0">
              <a:ln>
                <a:noFill/>
              </a:ln>
              <a:solidFill>
                <a:schemeClr val="bg1"/>
              </a:solidFill>
              <a:effectLst/>
              <a:uLnTx/>
              <a:uFillTx/>
              <a:latin typeface="Calibri" panose="020F0502020204030204"/>
            </a:endParaRPr>
          </a:p>
        </p:txBody>
      </p:sp>
      <p:sp>
        <p:nvSpPr>
          <p:cNvPr id="77" name="Rectangle 76">
            <a:extLst>
              <a:ext uri="{FF2B5EF4-FFF2-40B4-BE49-F238E27FC236}">
                <a16:creationId xmlns:a16="http://schemas.microsoft.com/office/drawing/2014/main" id="{1E245872-B274-45C6-A2FA-0F6D655E8867}"/>
              </a:ext>
            </a:extLst>
          </p:cNvPr>
          <p:cNvSpPr/>
          <p:nvPr/>
        </p:nvSpPr>
        <p:spPr>
          <a:xfrm>
            <a:off x="4025155" y="4890874"/>
            <a:ext cx="1577447"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GB" sz="1200" dirty="0">
                <a:solidFill>
                  <a:schemeClr val="bg1"/>
                </a:solidFill>
                <a:latin typeface="Graphik" panose="020B0503030202060203" pitchFamily="34" charset="0"/>
              </a:rPr>
              <a:t>INDUSTRY</a:t>
            </a:r>
            <a:endParaRPr kumimoji="0" lang="en-GB" sz="1200" i="0" u="none" strike="noStrike" kern="1200" cap="none" spc="0" normalizeH="0" baseline="0" noProof="0" dirty="0">
              <a:ln>
                <a:noFill/>
              </a:ln>
              <a:solidFill>
                <a:schemeClr val="bg1"/>
              </a:solidFill>
              <a:effectLst/>
              <a:uLnTx/>
              <a:uFillTx/>
              <a:latin typeface="Graphik" panose="020B0503030202060203" pitchFamily="34" charset="0"/>
            </a:endParaRPr>
          </a:p>
        </p:txBody>
      </p:sp>
      <p:pic>
        <p:nvPicPr>
          <p:cNvPr id="26" name="Graphic 25" descr="Checkmark">
            <a:extLst>
              <a:ext uri="{FF2B5EF4-FFF2-40B4-BE49-F238E27FC236}">
                <a16:creationId xmlns:a16="http://schemas.microsoft.com/office/drawing/2014/main" id="{95B3D3A9-2436-41CD-8194-26AE60AA4E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2747" y="3226195"/>
            <a:ext cx="190650" cy="190650"/>
          </a:xfrm>
          <a:prstGeom prst="rect">
            <a:avLst/>
          </a:prstGeom>
        </p:spPr>
      </p:pic>
      <p:pic>
        <p:nvPicPr>
          <p:cNvPr id="83" name="Graphic 82" descr="Checkmark">
            <a:extLst>
              <a:ext uri="{FF2B5EF4-FFF2-40B4-BE49-F238E27FC236}">
                <a16:creationId xmlns:a16="http://schemas.microsoft.com/office/drawing/2014/main" id="{609A07C7-6C04-475B-9ED5-23694D12AE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4345" y="3730459"/>
            <a:ext cx="190650" cy="190650"/>
          </a:xfrm>
          <a:prstGeom prst="rect">
            <a:avLst/>
          </a:prstGeom>
        </p:spPr>
      </p:pic>
      <p:pic>
        <p:nvPicPr>
          <p:cNvPr id="88" name="Graphic 87" descr="Checkmark">
            <a:extLst>
              <a:ext uri="{FF2B5EF4-FFF2-40B4-BE49-F238E27FC236}">
                <a16:creationId xmlns:a16="http://schemas.microsoft.com/office/drawing/2014/main" id="{8318A7F9-D169-4A79-9881-A0AB09B738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9336" y="4022151"/>
            <a:ext cx="190650" cy="190650"/>
          </a:xfrm>
          <a:prstGeom prst="rect">
            <a:avLst/>
          </a:prstGeom>
        </p:spPr>
      </p:pic>
      <p:pic>
        <p:nvPicPr>
          <p:cNvPr id="89" name="Graphic 88" descr="Checkmark">
            <a:extLst>
              <a:ext uri="{FF2B5EF4-FFF2-40B4-BE49-F238E27FC236}">
                <a16:creationId xmlns:a16="http://schemas.microsoft.com/office/drawing/2014/main" id="{D5199520-0086-4DAA-9FAC-5F5C23C3D2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9336" y="4285479"/>
            <a:ext cx="190650" cy="190650"/>
          </a:xfrm>
          <a:prstGeom prst="rect">
            <a:avLst/>
          </a:prstGeom>
        </p:spPr>
      </p:pic>
      <p:pic>
        <p:nvPicPr>
          <p:cNvPr id="92" name="Graphic 91" descr="Checkmark">
            <a:extLst>
              <a:ext uri="{FF2B5EF4-FFF2-40B4-BE49-F238E27FC236}">
                <a16:creationId xmlns:a16="http://schemas.microsoft.com/office/drawing/2014/main" id="{799F05D9-73B8-45CE-AABE-E7E93CC7FF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9336" y="4548879"/>
            <a:ext cx="190650" cy="190650"/>
          </a:xfrm>
          <a:prstGeom prst="rect">
            <a:avLst/>
          </a:prstGeom>
        </p:spPr>
      </p:pic>
      <p:pic>
        <p:nvPicPr>
          <p:cNvPr id="31" name="Graphic 30" descr="Briefcase">
            <a:extLst>
              <a:ext uri="{FF2B5EF4-FFF2-40B4-BE49-F238E27FC236}">
                <a16:creationId xmlns:a16="http://schemas.microsoft.com/office/drawing/2014/main" id="{5B249E78-82E5-4E9C-85A7-3786D28FD9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09336" y="5237000"/>
            <a:ext cx="276999" cy="276999"/>
          </a:xfrm>
          <a:prstGeom prst="rect">
            <a:avLst/>
          </a:prstGeom>
        </p:spPr>
      </p:pic>
      <p:pic>
        <p:nvPicPr>
          <p:cNvPr id="96" name="Graphic 95" descr="Briefcase">
            <a:extLst>
              <a:ext uri="{FF2B5EF4-FFF2-40B4-BE49-F238E27FC236}">
                <a16:creationId xmlns:a16="http://schemas.microsoft.com/office/drawing/2014/main" id="{139EF397-41A2-445E-B1A4-E59444CB64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07352" y="5513999"/>
            <a:ext cx="276999" cy="276999"/>
          </a:xfrm>
          <a:prstGeom prst="rect">
            <a:avLst/>
          </a:prstGeom>
        </p:spPr>
      </p:pic>
      <p:pic>
        <p:nvPicPr>
          <p:cNvPr id="98" name="Graphic 97" descr="Briefcase">
            <a:extLst>
              <a:ext uri="{FF2B5EF4-FFF2-40B4-BE49-F238E27FC236}">
                <a16:creationId xmlns:a16="http://schemas.microsoft.com/office/drawing/2014/main" id="{03E194E6-2494-4099-B54C-360F3F19E50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06237" y="5812960"/>
            <a:ext cx="276999" cy="276999"/>
          </a:xfrm>
          <a:prstGeom prst="rect">
            <a:avLst/>
          </a:prstGeom>
        </p:spPr>
      </p:pic>
      <p:pic>
        <p:nvPicPr>
          <p:cNvPr id="99" name="Graphic 98" descr="Briefcase">
            <a:extLst>
              <a:ext uri="{FF2B5EF4-FFF2-40B4-BE49-F238E27FC236}">
                <a16:creationId xmlns:a16="http://schemas.microsoft.com/office/drawing/2014/main" id="{BEBE812F-99C6-4206-95EB-0BEA25613B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06237" y="6127587"/>
            <a:ext cx="276999" cy="276999"/>
          </a:xfrm>
          <a:prstGeom prst="rect">
            <a:avLst/>
          </a:prstGeom>
        </p:spPr>
      </p:pic>
      <p:sp>
        <p:nvSpPr>
          <p:cNvPr id="35" name="TextBox 34">
            <a:extLst>
              <a:ext uri="{FF2B5EF4-FFF2-40B4-BE49-F238E27FC236}">
                <a16:creationId xmlns:a16="http://schemas.microsoft.com/office/drawing/2014/main" id="{C9BF309B-8788-4A79-8E0C-455F3CB573C2}"/>
              </a:ext>
            </a:extLst>
          </p:cNvPr>
          <p:cNvSpPr txBox="1"/>
          <p:nvPr/>
        </p:nvSpPr>
        <p:spPr>
          <a:xfrm>
            <a:off x="4069288" y="1158377"/>
            <a:ext cx="2904168"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prstClr val="white"/>
                </a:solidFill>
                <a:latin typeface="Graphik" panose="020B0503030202060203" pitchFamily="34" charset="0"/>
              </a:rPr>
              <a:t>Data Consultant and Certified Tableau Associate able to develop and deploy business solution tools</a:t>
            </a:r>
            <a:endParaRPr kumimoji="0" lang="en-GB" sz="1400" b="1" i="0" u="none" strike="noStrike" kern="1200" cap="none" spc="0" normalizeH="0" baseline="0" noProof="0" dirty="0">
              <a:ln>
                <a:noFill/>
              </a:ln>
              <a:solidFill>
                <a:prstClr val="white"/>
              </a:solidFill>
              <a:effectLst/>
              <a:uLnTx/>
              <a:uFillTx/>
              <a:latin typeface="Graphik" panose="020B0503030202060203" pitchFamily="34" charset="0"/>
            </a:endParaRPr>
          </a:p>
        </p:txBody>
      </p:sp>
      <p:pic>
        <p:nvPicPr>
          <p:cNvPr id="34" name="Picture 4" descr="Department of Health and Social Care - Wikipedia">
            <a:extLst>
              <a:ext uri="{FF2B5EF4-FFF2-40B4-BE49-F238E27FC236}">
                <a16:creationId xmlns:a16="http://schemas.microsoft.com/office/drawing/2014/main" id="{9D4B06DF-1BAE-47DE-9382-AC10E378CE3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9281" y="68157"/>
            <a:ext cx="1044659" cy="82353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309A77F9-3C2A-4908-A9DD-D4BF87C995AC}"/>
              </a:ext>
            </a:extLst>
          </p:cNvPr>
          <p:cNvSpPr/>
          <p:nvPr/>
        </p:nvSpPr>
        <p:spPr>
          <a:xfrm>
            <a:off x="239706" y="4190682"/>
            <a:ext cx="3451440" cy="1954381"/>
          </a:xfrm>
          <a:prstGeom prst="rect">
            <a:avLst/>
          </a:prstGeom>
        </p:spPr>
        <p:txBody>
          <a:bodyPr wrap="square">
            <a:spAutoFit/>
          </a:bodyPr>
          <a:lstStyle/>
          <a:p>
            <a:pPr lvl="0">
              <a:defRPr/>
            </a:pPr>
            <a:r>
              <a:rPr lang="en-GB" sz="1100" dirty="0">
                <a:solidFill>
                  <a:prstClr val="black"/>
                </a:solidFill>
                <a:latin typeface="Graphik" panose="020B0503030202060203" pitchFamily="34" charset="0"/>
              </a:rPr>
              <a:t>Thomas has extensive experience in design, build and direction of Tableau dashboard development, and also back end data engineering by way of SQL. Having worked primarily across Finance and Retail sectors Thomas has implemented Data Quality tools, embedded data science modelling and rolled out standardised sales reporting. Thomas holds a Tableau Desktop Certified Associate qualification in addition to a Mathematics </a:t>
            </a:r>
            <a:r>
              <a:rPr lang="en-GB" sz="1100" dirty="0" err="1">
                <a:solidFill>
                  <a:prstClr val="black"/>
                </a:solidFill>
                <a:latin typeface="Graphik" panose="020B0503030202060203" pitchFamily="34" charset="0"/>
              </a:rPr>
              <a:t>Bsc</a:t>
            </a:r>
            <a:r>
              <a:rPr lang="en-GB" sz="1100" dirty="0">
                <a:solidFill>
                  <a:prstClr val="black"/>
                </a:solidFill>
                <a:latin typeface="Graphik" panose="020B0503030202060203" pitchFamily="34" charset="0"/>
              </a:rPr>
              <a:t> and Financial Economics </a:t>
            </a:r>
            <a:r>
              <a:rPr lang="en-GB" sz="1100" dirty="0" err="1">
                <a:solidFill>
                  <a:prstClr val="black"/>
                </a:solidFill>
                <a:latin typeface="Graphik" panose="020B0503030202060203" pitchFamily="34" charset="0"/>
              </a:rPr>
              <a:t>Msc</a:t>
            </a:r>
            <a:r>
              <a:rPr lang="en-GB" sz="1100" dirty="0">
                <a:solidFill>
                  <a:prstClr val="black"/>
                </a:solidFill>
                <a:latin typeface="Graphik" panose="020B0503030202060203" pitchFamily="34" charset="0"/>
              </a:rPr>
              <a:t>.</a:t>
            </a:r>
          </a:p>
        </p:txBody>
      </p:sp>
      <p:sp>
        <p:nvSpPr>
          <p:cNvPr id="37" name="Rectangle 36">
            <a:extLst>
              <a:ext uri="{FF2B5EF4-FFF2-40B4-BE49-F238E27FC236}">
                <a16:creationId xmlns:a16="http://schemas.microsoft.com/office/drawing/2014/main" id="{FFD334F0-51B1-441C-830C-A8695DC0FBA3}"/>
              </a:ext>
            </a:extLst>
          </p:cNvPr>
          <p:cNvSpPr/>
          <p:nvPr/>
        </p:nvSpPr>
        <p:spPr>
          <a:xfrm>
            <a:off x="239706" y="6157439"/>
            <a:ext cx="1079142" cy="261610"/>
          </a:xfrm>
          <a:prstGeom prst="rect">
            <a:avLst/>
          </a:prstGeom>
        </p:spPr>
        <p:txBody>
          <a:bodyPr wrap="none">
            <a:spAutoFit/>
          </a:bodyPr>
          <a:lstStyle/>
          <a:p>
            <a:pPr lvl="0">
              <a:defRPr/>
            </a:pPr>
            <a:r>
              <a:rPr lang="en-GB" sz="1100" b="1" i="1" dirty="0">
                <a:solidFill>
                  <a:schemeClr val="accent1"/>
                </a:solidFill>
                <a:latin typeface="Graphik" panose="020B0503030202060203" pitchFamily="34" charset="0"/>
              </a:rPr>
              <a:t>BPSS Check:</a:t>
            </a:r>
          </a:p>
        </p:txBody>
      </p:sp>
      <p:pic>
        <p:nvPicPr>
          <p:cNvPr id="18" name="Picture 17" descr="A person wearing a suit and tie smiling at the camera&#10;&#10;Description automatically generated">
            <a:extLst>
              <a:ext uri="{FF2B5EF4-FFF2-40B4-BE49-F238E27FC236}">
                <a16:creationId xmlns:a16="http://schemas.microsoft.com/office/drawing/2014/main" id="{9D5D6009-FF99-405A-A9EF-3D8A4A2DF8D1}"/>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6427"/>
          <a:stretch/>
        </p:blipFill>
        <p:spPr>
          <a:xfrm>
            <a:off x="457223" y="1055545"/>
            <a:ext cx="1454141" cy="1563760"/>
          </a:xfrm>
          <a:prstGeom prst="rect">
            <a:avLst/>
          </a:prstGeom>
        </p:spPr>
      </p:pic>
      <p:sp>
        <p:nvSpPr>
          <p:cNvPr id="21" name="Rectangle 20">
            <a:extLst>
              <a:ext uri="{FF2B5EF4-FFF2-40B4-BE49-F238E27FC236}">
                <a16:creationId xmlns:a16="http://schemas.microsoft.com/office/drawing/2014/main" id="{344D4D63-64D4-45A5-9786-660A73C40CB5}"/>
              </a:ext>
            </a:extLst>
          </p:cNvPr>
          <p:cNvSpPr/>
          <p:nvPr/>
        </p:nvSpPr>
        <p:spPr>
          <a:xfrm>
            <a:off x="4438090" y="3200573"/>
            <a:ext cx="2199641" cy="246221"/>
          </a:xfrm>
          <a:prstGeom prst="rect">
            <a:avLst/>
          </a:prstGeom>
        </p:spPr>
        <p:txBody>
          <a:bodyPr wrap="square">
            <a:spAutoFit/>
          </a:bodyPr>
          <a:lstStyle/>
          <a:p>
            <a:pPr>
              <a:buClr>
                <a:srgbClr val="005EB8"/>
              </a:buClr>
              <a:buSzPct val="150000"/>
            </a:pPr>
            <a:r>
              <a:rPr lang="en-GB" sz="1000" dirty="0">
                <a:solidFill>
                  <a:schemeClr val="bg1"/>
                </a:solidFill>
                <a:latin typeface="Graphik" panose="020B0503030202060203" pitchFamily="34" charset="0"/>
              </a:rPr>
              <a:t>Tableau development</a:t>
            </a:r>
          </a:p>
        </p:txBody>
      </p:sp>
      <p:sp>
        <p:nvSpPr>
          <p:cNvPr id="23" name="Rectangle 22">
            <a:extLst>
              <a:ext uri="{FF2B5EF4-FFF2-40B4-BE49-F238E27FC236}">
                <a16:creationId xmlns:a16="http://schemas.microsoft.com/office/drawing/2014/main" id="{CEE64AF0-A4E7-4C7D-9747-80638E9E0238}"/>
              </a:ext>
            </a:extLst>
          </p:cNvPr>
          <p:cNvSpPr/>
          <p:nvPr/>
        </p:nvSpPr>
        <p:spPr>
          <a:xfrm>
            <a:off x="4381344" y="3728194"/>
            <a:ext cx="1277914" cy="246221"/>
          </a:xfrm>
          <a:prstGeom prst="rect">
            <a:avLst/>
          </a:prstGeom>
        </p:spPr>
        <p:txBody>
          <a:bodyPr wrap="none">
            <a:spAutoFit/>
          </a:bodyPr>
          <a:lstStyle/>
          <a:p>
            <a:pPr>
              <a:buClr>
                <a:srgbClr val="005EB8"/>
              </a:buClr>
              <a:buSzPct val="150000"/>
            </a:pPr>
            <a:r>
              <a:rPr lang="en-GB" sz="1000" dirty="0">
                <a:solidFill>
                  <a:schemeClr val="bg1"/>
                </a:solidFill>
                <a:latin typeface="Graphik" panose="020B0503030202060203" pitchFamily="34" charset="0"/>
              </a:rPr>
              <a:t>SQL manipulation</a:t>
            </a:r>
          </a:p>
        </p:txBody>
      </p:sp>
      <p:sp>
        <p:nvSpPr>
          <p:cNvPr id="25" name="Rectangle 24">
            <a:extLst>
              <a:ext uri="{FF2B5EF4-FFF2-40B4-BE49-F238E27FC236}">
                <a16:creationId xmlns:a16="http://schemas.microsoft.com/office/drawing/2014/main" id="{6F8AA33B-633F-43FC-B5AE-9F73B0121CD7}"/>
              </a:ext>
            </a:extLst>
          </p:cNvPr>
          <p:cNvSpPr/>
          <p:nvPr/>
        </p:nvSpPr>
        <p:spPr>
          <a:xfrm>
            <a:off x="4383236" y="3987136"/>
            <a:ext cx="1678665" cy="246221"/>
          </a:xfrm>
          <a:prstGeom prst="rect">
            <a:avLst/>
          </a:prstGeom>
        </p:spPr>
        <p:txBody>
          <a:bodyPr wrap="none">
            <a:spAutoFit/>
          </a:bodyPr>
          <a:lstStyle/>
          <a:p>
            <a:pPr>
              <a:buClr>
                <a:srgbClr val="005EB8"/>
              </a:buClr>
              <a:buSzPct val="150000"/>
            </a:pPr>
            <a:r>
              <a:rPr lang="en-GB" sz="1000" dirty="0">
                <a:solidFill>
                  <a:schemeClr val="bg1"/>
                </a:solidFill>
                <a:latin typeface="Graphik" panose="020B0503030202060203" pitchFamily="34" charset="0"/>
              </a:rPr>
              <a:t>Development leadership</a:t>
            </a:r>
          </a:p>
        </p:txBody>
      </p:sp>
      <p:sp>
        <p:nvSpPr>
          <p:cNvPr id="46" name="Rectangle 45">
            <a:extLst>
              <a:ext uri="{FF2B5EF4-FFF2-40B4-BE49-F238E27FC236}">
                <a16:creationId xmlns:a16="http://schemas.microsoft.com/office/drawing/2014/main" id="{2EC1A830-6F2D-49CD-8B7C-F640E9CDE7BD}"/>
              </a:ext>
            </a:extLst>
          </p:cNvPr>
          <p:cNvSpPr/>
          <p:nvPr/>
        </p:nvSpPr>
        <p:spPr>
          <a:xfrm>
            <a:off x="4383236" y="4257081"/>
            <a:ext cx="2920992" cy="246221"/>
          </a:xfrm>
          <a:prstGeom prst="rect">
            <a:avLst/>
          </a:prstGeom>
        </p:spPr>
        <p:txBody>
          <a:bodyPr wrap="none">
            <a:spAutoFit/>
          </a:bodyPr>
          <a:lstStyle/>
          <a:p>
            <a:pPr>
              <a:buClr>
                <a:srgbClr val="005EB8"/>
              </a:buClr>
              <a:buSzPct val="150000"/>
            </a:pPr>
            <a:r>
              <a:rPr lang="en-GB" sz="1000" dirty="0">
                <a:solidFill>
                  <a:schemeClr val="bg1"/>
                </a:solidFill>
                <a:latin typeface="Graphik" panose="020B0503030202060203" pitchFamily="34" charset="0"/>
              </a:rPr>
              <a:t>Visualization design and report development</a:t>
            </a:r>
          </a:p>
        </p:txBody>
      </p:sp>
      <p:sp>
        <p:nvSpPr>
          <p:cNvPr id="47" name="Rectangle 46">
            <a:extLst>
              <a:ext uri="{FF2B5EF4-FFF2-40B4-BE49-F238E27FC236}">
                <a16:creationId xmlns:a16="http://schemas.microsoft.com/office/drawing/2014/main" id="{C51F8F0D-276F-4EE2-BB4D-E189D82029D1}"/>
              </a:ext>
            </a:extLst>
          </p:cNvPr>
          <p:cNvSpPr/>
          <p:nvPr/>
        </p:nvSpPr>
        <p:spPr>
          <a:xfrm>
            <a:off x="4393294" y="4510766"/>
            <a:ext cx="1778051" cy="246221"/>
          </a:xfrm>
          <a:prstGeom prst="rect">
            <a:avLst/>
          </a:prstGeom>
        </p:spPr>
        <p:txBody>
          <a:bodyPr wrap="none">
            <a:spAutoFit/>
          </a:bodyPr>
          <a:lstStyle/>
          <a:p>
            <a:pPr>
              <a:buClr>
                <a:srgbClr val="005EB8"/>
              </a:buClr>
              <a:buSzPct val="150000"/>
            </a:pPr>
            <a:r>
              <a:rPr lang="en-GB" sz="1000" dirty="0">
                <a:solidFill>
                  <a:schemeClr val="bg1"/>
                </a:solidFill>
                <a:latin typeface="Graphik" panose="020B0503030202060203" pitchFamily="34" charset="0"/>
              </a:rPr>
              <a:t>Prototype demonstrations</a:t>
            </a:r>
          </a:p>
        </p:txBody>
      </p:sp>
      <p:sp>
        <p:nvSpPr>
          <p:cNvPr id="48" name="Rectangle 47">
            <a:extLst>
              <a:ext uri="{FF2B5EF4-FFF2-40B4-BE49-F238E27FC236}">
                <a16:creationId xmlns:a16="http://schemas.microsoft.com/office/drawing/2014/main" id="{37AC6E51-D01E-4B39-B127-5BEDA34959C6}"/>
              </a:ext>
            </a:extLst>
          </p:cNvPr>
          <p:cNvSpPr/>
          <p:nvPr/>
        </p:nvSpPr>
        <p:spPr>
          <a:xfrm>
            <a:off x="4431526" y="5237000"/>
            <a:ext cx="667170" cy="246221"/>
          </a:xfrm>
          <a:prstGeom prst="rect">
            <a:avLst/>
          </a:prstGeom>
        </p:spPr>
        <p:txBody>
          <a:bodyPr wrap="none">
            <a:spAutoFit/>
          </a:bodyPr>
          <a:lstStyle/>
          <a:p>
            <a:pPr>
              <a:buClr>
                <a:srgbClr val="005EB8"/>
              </a:buClr>
              <a:buSzPct val="150000"/>
            </a:pPr>
            <a:r>
              <a:rPr lang="en-GB" sz="1000" dirty="0">
                <a:solidFill>
                  <a:schemeClr val="bg1"/>
                </a:solidFill>
                <a:latin typeface="Graphik" panose="020B0503030202060203" pitchFamily="34" charset="0"/>
              </a:rPr>
              <a:t>Finance</a:t>
            </a:r>
          </a:p>
        </p:txBody>
      </p:sp>
      <p:sp>
        <p:nvSpPr>
          <p:cNvPr id="49" name="Rectangle 48">
            <a:extLst>
              <a:ext uri="{FF2B5EF4-FFF2-40B4-BE49-F238E27FC236}">
                <a16:creationId xmlns:a16="http://schemas.microsoft.com/office/drawing/2014/main" id="{9D7011EA-1252-4AB3-8ED8-CF8CD6D0AD6F}"/>
              </a:ext>
            </a:extLst>
          </p:cNvPr>
          <p:cNvSpPr/>
          <p:nvPr/>
        </p:nvSpPr>
        <p:spPr>
          <a:xfrm>
            <a:off x="4432167" y="5552348"/>
            <a:ext cx="524503" cy="246221"/>
          </a:xfrm>
          <a:prstGeom prst="rect">
            <a:avLst/>
          </a:prstGeom>
        </p:spPr>
        <p:txBody>
          <a:bodyPr wrap="none">
            <a:spAutoFit/>
          </a:bodyPr>
          <a:lstStyle/>
          <a:p>
            <a:pPr>
              <a:buClr>
                <a:srgbClr val="005EB8"/>
              </a:buClr>
              <a:buSzPct val="150000"/>
            </a:pPr>
            <a:r>
              <a:rPr lang="en-GB" sz="1000" dirty="0">
                <a:solidFill>
                  <a:schemeClr val="bg1"/>
                </a:solidFill>
                <a:latin typeface="Graphik" panose="020B0503030202060203" pitchFamily="34" charset="0"/>
              </a:rPr>
              <a:t>Retail</a:t>
            </a:r>
          </a:p>
        </p:txBody>
      </p:sp>
      <p:sp>
        <p:nvSpPr>
          <p:cNvPr id="28" name="Rectangle 27">
            <a:extLst>
              <a:ext uri="{FF2B5EF4-FFF2-40B4-BE49-F238E27FC236}">
                <a16:creationId xmlns:a16="http://schemas.microsoft.com/office/drawing/2014/main" id="{CD4DE5F7-6664-43FF-BC75-88BF70FBE7DF}"/>
              </a:ext>
            </a:extLst>
          </p:cNvPr>
          <p:cNvSpPr/>
          <p:nvPr/>
        </p:nvSpPr>
        <p:spPr>
          <a:xfrm>
            <a:off x="4431526" y="5843738"/>
            <a:ext cx="1050288" cy="246221"/>
          </a:xfrm>
          <a:prstGeom prst="rect">
            <a:avLst/>
          </a:prstGeom>
        </p:spPr>
        <p:txBody>
          <a:bodyPr wrap="none">
            <a:spAutoFit/>
          </a:bodyPr>
          <a:lstStyle/>
          <a:p>
            <a:r>
              <a:rPr lang="en-GB" sz="1000" dirty="0">
                <a:solidFill>
                  <a:schemeClr val="bg1"/>
                </a:solidFill>
                <a:latin typeface="Graphik" panose="020B0503030202060203" pitchFamily="34" charset="0"/>
              </a:rPr>
              <a:t>Retail banking</a:t>
            </a:r>
            <a:endParaRPr lang="en-GB" sz="1000" dirty="0"/>
          </a:p>
        </p:txBody>
      </p:sp>
      <p:sp>
        <p:nvSpPr>
          <p:cNvPr id="29" name="Rectangle 28">
            <a:extLst>
              <a:ext uri="{FF2B5EF4-FFF2-40B4-BE49-F238E27FC236}">
                <a16:creationId xmlns:a16="http://schemas.microsoft.com/office/drawing/2014/main" id="{8779C3CE-6A89-4044-A3A4-4418011AFAF8}"/>
              </a:ext>
            </a:extLst>
          </p:cNvPr>
          <p:cNvSpPr/>
          <p:nvPr/>
        </p:nvSpPr>
        <p:spPr>
          <a:xfrm>
            <a:off x="4428032" y="6153471"/>
            <a:ext cx="1359668" cy="246221"/>
          </a:xfrm>
          <a:prstGeom prst="rect">
            <a:avLst/>
          </a:prstGeom>
        </p:spPr>
        <p:txBody>
          <a:bodyPr wrap="none">
            <a:spAutoFit/>
          </a:bodyPr>
          <a:lstStyle/>
          <a:p>
            <a:r>
              <a:rPr lang="en-GB" sz="1000" dirty="0">
                <a:solidFill>
                  <a:schemeClr val="bg1"/>
                </a:solidFill>
                <a:latin typeface="Graphik" panose="020B0503030202060203" pitchFamily="34" charset="0"/>
              </a:rPr>
              <a:t>Customer analytics</a:t>
            </a:r>
            <a:endParaRPr lang="en-GB" sz="1000" dirty="0"/>
          </a:p>
        </p:txBody>
      </p:sp>
      <p:pic>
        <p:nvPicPr>
          <p:cNvPr id="52" name="Graphic 51" descr="Briefcase">
            <a:extLst>
              <a:ext uri="{FF2B5EF4-FFF2-40B4-BE49-F238E27FC236}">
                <a16:creationId xmlns:a16="http://schemas.microsoft.com/office/drawing/2014/main" id="{9A8B3D64-0E14-44EF-9636-62CF877C01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16295" y="6448184"/>
            <a:ext cx="276999" cy="276999"/>
          </a:xfrm>
          <a:prstGeom prst="rect">
            <a:avLst/>
          </a:prstGeom>
        </p:spPr>
      </p:pic>
      <p:sp>
        <p:nvSpPr>
          <p:cNvPr id="53" name="Rectangle 52">
            <a:extLst>
              <a:ext uri="{FF2B5EF4-FFF2-40B4-BE49-F238E27FC236}">
                <a16:creationId xmlns:a16="http://schemas.microsoft.com/office/drawing/2014/main" id="{D3A813BA-DCE8-4D17-8253-381F13A9A6D9}"/>
              </a:ext>
            </a:extLst>
          </p:cNvPr>
          <p:cNvSpPr/>
          <p:nvPr/>
        </p:nvSpPr>
        <p:spPr>
          <a:xfrm>
            <a:off x="4438090" y="6475000"/>
            <a:ext cx="582211" cy="246221"/>
          </a:xfrm>
          <a:prstGeom prst="rect">
            <a:avLst/>
          </a:prstGeom>
        </p:spPr>
        <p:txBody>
          <a:bodyPr wrap="none">
            <a:spAutoFit/>
          </a:bodyPr>
          <a:lstStyle/>
          <a:p>
            <a:r>
              <a:rPr lang="en-GB" sz="1000" dirty="0">
                <a:solidFill>
                  <a:schemeClr val="bg1"/>
                </a:solidFill>
                <a:latin typeface="Graphik" panose="020B0503030202060203" pitchFamily="34" charset="0"/>
              </a:rPr>
              <a:t>Health</a:t>
            </a:r>
            <a:endParaRPr lang="en-GB" sz="1000" dirty="0"/>
          </a:p>
        </p:txBody>
      </p:sp>
      <p:pic>
        <p:nvPicPr>
          <p:cNvPr id="54" name="Graphic 53" descr="Checkmark">
            <a:extLst>
              <a:ext uri="{FF2B5EF4-FFF2-40B4-BE49-F238E27FC236}">
                <a16:creationId xmlns:a16="http://schemas.microsoft.com/office/drawing/2014/main" id="{E0090076-9689-421B-9DBA-8A2411DAC3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2747" y="3491188"/>
            <a:ext cx="190650" cy="190650"/>
          </a:xfrm>
          <a:prstGeom prst="rect">
            <a:avLst/>
          </a:prstGeom>
        </p:spPr>
      </p:pic>
      <p:sp>
        <p:nvSpPr>
          <p:cNvPr id="55" name="Rectangle 54">
            <a:extLst>
              <a:ext uri="{FF2B5EF4-FFF2-40B4-BE49-F238E27FC236}">
                <a16:creationId xmlns:a16="http://schemas.microsoft.com/office/drawing/2014/main" id="{5756301D-75FD-4EEE-81E5-32A25FE69B35}"/>
              </a:ext>
            </a:extLst>
          </p:cNvPr>
          <p:cNvSpPr/>
          <p:nvPr/>
        </p:nvSpPr>
        <p:spPr>
          <a:xfrm>
            <a:off x="4400664" y="3435729"/>
            <a:ext cx="2199641" cy="246221"/>
          </a:xfrm>
          <a:prstGeom prst="rect">
            <a:avLst/>
          </a:prstGeom>
        </p:spPr>
        <p:txBody>
          <a:bodyPr wrap="square">
            <a:spAutoFit/>
          </a:bodyPr>
          <a:lstStyle/>
          <a:p>
            <a:pPr>
              <a:buClr>
                <a:srgbClr val="005EB8"/>
              </a:buClr>
              <a:buSzPct val="150000"/>
            </a:pPr>
            <a:r>
              <a:rPr lang="en-GB" sz="1000" dirty="0">
                <a:solidFill>
                  <a:schemeClr val="bg1"/>
                </a:solidFill>
                <a:latin typeface="Graphik" panose="020B0503030202060203" pitchFamily="34" charset="0"/>
              </a:rPr>
              <a:t>Qlik Sense development</a:t>
            </a:r>
          </a:p>
        </p:txBody>
      </p:sp>
    </p:spTree>
    <p:extLst>
      <p:ext uri="{BB962C8B-B14F-4D97-AF65-F5344CB8AC3E}">
        <p14:creationId xmlns:p14="http://schemas.microsoft.com/office/powerpoint/2010/main" val="3553394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03E7D1CF-BAB2-D448-A186-23FEA21E970C}"/>
              </a:ext>
            </a:extLst>
          </p:cNvPr>
          <p:cNvGrpSpPr/>
          <p:nvPr/>
        </p:nvGrpSpPr>
        <p:grpSpPr>
          <a:xfrm>
            <a:off x="515491" y="2841712"/>
            <a:ext cx="4162017" cy="1966110"/>
            <a:chOff x="515491" y="2841712"/>
            <a:chExt cx="4162017" cy="1966110"/>
          </a:xfrm>
        </p:grpSpPr>
        <p:sp>
          <p:nvSpPr>
            <p:cNvPr id="76" name="Text Placeholder 18">
              <a:extLst>
                <a:ext uri="{FF2B5EF4-FFF2-40B4-BE49-F238E27FC236}">
                  <a16:creationId xmlns:a16="http://schemas.microsoft.com/office/drawing/2014/main" id="{B80ABFE0-AACC-6248-AF55-839A5A64DB25}"/>
                </a:ext>
              </a:extLst>
            </p:cNvPr>
            <p:cNvSpPr txBox="1">
              <a:spLocks/>
            </p:cNvSpPr>
            <p:nvPr/>
          </p:nvSpPr>
          <p:spPr>
            <a:xfrm>
              <a:off x="515491" y="4528422"/>
              <a:ext cx="996107" cy="2794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0" kern="1200">
                  <a:solidFill>
                    <a:schemeClr val="accent5">
                      <a:lumMod val="90000"/>
                    </a:schemeClr>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solidFill>
                    <a:srgbClr val="828EA3"/>
                  </a:solidFill>
                  <a:latin typeface="Corbel" panose="020B0503020204020204" pitchFamily="34" charset="0"/>
                  <a:ea typeface="Source Sans Pro Semibold" panose="020B0503030403020204" pitchFamily="34" charset="0"/>
                </a:rPr>
                <a:t>Present</a:t>
              </a:r>
            </a:p>
          </p:txBody>
        </p:sp>
        <p:sp>
          <p:nvSpPr>
            <p:cNvPr id="77" name="Text Placeholder 18">
              <a:extLst>
                <a:ext uri="{FF2B5EF4-FFF2-40B4-BE49-F238E27FC236}">
                  <a16:creationId xmlns:a16="http://schemas.microsoft.com/office/drawing/2014/main" id="{2CA3BA9B-C756-B746-B7BB-0FE5428229F5}"/>
                </a:ext>
              </a:extLst>
            </p:cNvPr>
            <p:cNvSpPr txBox="1">
              <a:spLocks/>
            </p:cNvSpPr>
            <p:nvPr/>
          </p:nvSpPr>
          <p:spPr>
            <a:xfrm>
              <a:off x="519994" y="2841712"/>
              <a:ext cx="3239255" cy="17894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err="1">
                  <a:latin typeface="Corbel" panose="020B0503020204020204" pitchFamily="34" charset="0"/>
                  <a:ea typeface="Source Sans Pro" panose="020B0503030403020204" pitchFamily="34" charset="0"/>
                </a:rPr>
                <a:t>Mudano</a:t>
              </a:r>
              <a:r>
                <a:rPr lang="en-US" sz="1050" dirty="0">
                  <a:latin typeface="Corbel" panose="020B0503020204020204" pitchFamily="34" charset="0"/>
                  <a:ea typeface="Source Sans Pro" panose="020B0503030403020204" pitchFamily="34" charset="0"/>
                </a:rPr>
                <a:t>, Tableau Consultant (data solutions)</a:t>
              </a:r>
            </a:p>
          </p:txBody>
        </p:sp>
        <p:sp>
          <p:nvSpPr>
            <p:cNvPr id="78" name="Text Placeholder 27">
              <a:extLst>
                <a:ext uri="{FF2B5EF4-FFF2-40B4-BE49-F238E27FC236}">
                  <a16:creationId xmlns:a16="http://schemas.microsoft.com/office/drawing/2014/main" id="{3F05ADF3-502B-C147-985D-B5556D6E7CCC}"/>
                </a:ext>
              </a:extLst>
            </p:cNvPr>
            <p:cNvSpPr txBox="1">
              <a:spLocks/>
            </p:cNvSpPr>
            <p:nvPr/>
          </p:nvSpPr>
          <p:spPr>
            <a:xfrm>
              <a:off x="520501" y="3046677"/>
              <a:ext cx="4157007" cy="1387570"/>
            </a:xfrm>
            <a:prstGeom prst="rect">
              <a:avLst/>
            </a:prstGeom>
          </p:spPr>
          <p:txBody>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9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defRPr/>
              </a:pPr>
              <a:r>
                <a:rPr lang="en-GB" sz="1050" dirty="0">
                  <a:solidFill>
                    <a:schemeClr val="accent3"/>
                  </a:solidFill>
                  <a:latin typeface="Corbel" panose="020B0503020204020204" pitchFamily="34" charset="0"/>
                  <a:ea typeface="Source Sans Pro" panose="020B0503030403020204" pitchFamily="34" charset="0"/>
                </a:rPr>
                <a:t>Directed build of </a:t>
              </a:r>
              <a:r>
                <a:rPr lang="en-GB" sz="1050" dirty="0" err="1">
                  <a:solidFill>
                    <a:schemeClr val="accent3"/>
                  </a:solidFill>
                  <a:latin typeface="Corbel" panose="020B0503020204020204" pitchFamily="34" charset="0"/>
                  <a:ea typeface="Source Sans Pro" panose="020B0503030403020204" pitchFamily="34" charset="0"/>
                </a:rPr>
                <a:t>Obeya</a:t>
              </a:r>
              <a:r>
                <a:rPr lang="en-GB" sz="1050" dirty="0">
                  <a:solidFill>
                    <a:schemeClr val="accent3"/>
                  </a:solidFill>
                  <a:latin typeface="Corbel" panose="020B0503020204020204" pitchFamily="34" charset="0"/>
                  <a:ea typeface="Source Sans Pro" panose="020B0503030403020204" pitchFamily="34" charset="0"/>
                </a:rPr>
                <a:t> flow dashboards, which takes users on a journey from board level metrics down to whatever level of granularity the drilldown may take them e.g. project level dependencies.</a:t>
              </a:r>
            </a:p>
            <a:p>
              <a:pPr marL="171450" indent="-171450">
                <a:buFont typeface="Arial" panose="020B0604020202020204" pitchFamily="34" charset="0"/>
                <a:buChar char="•"/>
                <a:defRPr/>
              </a:pPr>
              <a:r>
                <a:rPr lang="en-GB" sz="1050" dirty="0">
                  <a:solidFill>
                    <a:schemeClr val="accent3"/>
                  </a:solidFill>
                  <a:latin typeface="Corbel" panose="020B0503020204020204" pitchFamily="34" charset="0"/>
                  <a:ea typeface="Source Sans Pro" panose="020B0503030403020204" pitchFamily="34" charset="0"/>
                </a:rPr>
                <a:t>Designed and built Initiatives Optimisation, Delivery Status Score, Digital Boardroom POC &amp; Data Driven Portfolio Management Suite.</a:t>
              </a:r>
            </a:p>
            <a:p>
              <a:pPr marL="171450" indent="-171450">
                <a:buFont typeface="Arial" panose="020B0604020202020204" pitchFamily="34" charset="0"/>
                <a:buChar char="•"/>
                <a:defRPr/>
              </a:pPr>
              <a:r>
                <a:rPr lang="en-GB" sz="1050" dirty="0">
                  <a:solidFill>
                    <a:schemeClr val="accent3"/>
                  </a:solidFill>
                  <a:latin typeface="Corbel" panose="020B0503020204020204" pitchFamily="34" charset="0"/>
                  <a:ea typeface="Source Sans Pro" panose="020B0503030403020204" pitchFamily="34" charset="0"/>
                </a:rPr>
                <a:t>Built and facilitated ‘Data Management Experience’ game which is used as to illustrate to clients the importance of data management.</a:t>
              </a:r>
            </a:p>
          </p:txBody>
        </p:sp>
      </p:grpSp>
      <p:grpSp>
        <p:nvGrpSpPr>
          <p:cNvPr id="135" name="Group 134">
            <a:extLst>
              <a:ext uri="{FF2B5EF4-FFF2-40B4-BE49-F238E27FC236}">
                <a16:creationId xmlns:a16="http://schemas.microsoft.com/office/drawing/2014/main" id="{8B645D22-20DF-874B-9C23-4549C806C216}"/>
              </a:ext>
            </a:extLst>
          </p:cNvPr>
          <p:cNvGrpSpPr/>
          <p:nvPr/>
        </p:nvGrpSpPr>
        <p:grpSpPr>
          <a:xfrm>
            <a:off x="2653965" y="4373613"/>
            <a:ext cx="3316703" cy="2299090"/>
            <a:chOff x="2653965" y="4373613"/>
            <a:chExt cx="3316703" cy="2299090"/>
          </a:xfrm>
        </p:grpSpPr>
        <p:sp>
          <p:nvSpPr>
            <p:cNvPr id="103" name="Text Placeholder 18">
              <a:extLst>
                <a:ext uri="{FF2B5EF4-FFF2-40B4-BE49-F238E27FC236}">
                  <a16:creationId xmlns:a16="http://schemas.microsoft.com/office/drawing/2014/main" id="{38A7027F-FACF-7446-8C14-75045BFDEDD9}"/>
                </a:ext>
              </a:extLst>
            </p:cNvPr>
            <p:cNvSpPr txBox="1">
              <a:spLocks/>
            </p:cNvSpPr>
            <p:nvPr/>
          </p:nvSpPr>
          <p:spPr>
            <a:xfrm>
              <a:off x="2653965" y="4373613"/>
              <a:ext cx="1180055" cy="360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0" kern="1200">
                  <a:solidFill>
                    <a:schemeClr val="accent5">
                      <a:lumMod val="90000"/>
                    </a:schemeClr>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solidFill>
                    <a:srgbClr val="828EA3"/>
                  </a:solidFill>
                  <a:latin typeface="Corbel" panose="020B0503020204020204" pitchFamily="34" charset="0"/>
                  <a:ea typeface="Source Sans Pro" panose="020B0503030403020204" pitchFamily="34" charset="0"/>
                </a:rPr>
                <a:t>February 2019 – September 2019</a:t>
              </a:r>
            </a:p>
          </p:txBody>
        </p:sp>
        <p:grpSp>
          <p:nvGrpSpPr>
            <p:cNvPr id="114" name="Group 113">
              <a:extLst>
                <a:ext uri="{FF2B5EF4-FFF2-40B4-BE49-F238E27FC236}">
                  <a16:creationId xmlns:a16="http://schemas.microsoft.com/office/drawing/2014/main" id="{31CE77BE-BAB5-534D-AB07-8F95C31DFA61}"/>
                </a:ext>
              </a:extLst>
            </p:cNvPr>
            <p:cNvGrpSpPr/>
            <p:nvPr/>
          </p:nvGrpSpPr>
          <p:grpSpPr>
            <a:xfrm>
              <a:off x="2658860" y="5080168"/>
              <a:ext cx="3311808" cy="1592535"/>
              <a:chOff x="519994" y="2841712"/>
              <a:chExt cx="3311808" cy="1592535"/>
            </a:xfrm>
          </p:grpSpPr>
          <p:sp>
            <p:nvSpPr>
              <p:cNvPr id="116" name="Text Placeholder 18">
                <a:extLst>
                  <a:ext uri="{FF2B5EF4-FFF2-40B4-BE49-F238E27FC236}">
                    <a16:creationId xmlns:a16="http://schemas.microsoft.com/office/drawing/2014/main" id="{4B426805-E63B-D047-9947-6ACE0ACD2D64}"/>
                  </a:ext>
                </a:extLst>
              </p:cNvPr>
              <p:cNvSpPr txBox="1">
                <a:spLocks/>
              </p:cNvSpPr>
              <p:nvPr/>
            </p:nvSpPr>
            <p:spPr>
              <a:xfrm>
                <a:off x="519994" y="2841712"/>
                <a:ext cx="3239255" cy="17894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err="1">
                    <a:latin typeface="Corbel" panose="020B0503020204020204" pitchFamily="34" charset="0"/>
                    <a:ea typeface="Source Sans Pro" panose="020B0503030403020204" pitchFamily="34" charset="0"/>
                  </a:rPr>
                  <a:t>Mudano</a:t>
                </a:r>
                <a:r>
                  <a:rPr lang="en-US" sz="1050" dirty="0">
                    <a:latin typeface="Corbel" panose="020B0503020204020204" pitchFamily="34" charset="0"/>
                    <a:ea typeface="Source Sans Pro" panose="020B0503030403020204" pitchFamily="34" charset="0"/>
                  </a:rPr>
                  <a:t>, Tableau Consultant (client)</a:t>
                </a:r>
              </a:p>
            </p:txBody>
          </p:sp>
          <p:sp>
            <p:nvSpPr>
              <p:cNvPr id="117" name="Text Placeholder 27">
                <a:extLst>
                  <a:ext uri="{FF2B5EF4-FFF2-40B4-BE49-F238E27FC236}">
                    <a16:creationId xmlns:a16="http://schemas.microsoft.com/office/drawing/2014/main" id="{11F25C6F-70AB-FC43-B657-04879D233B3E}"/>
                  </a:ext>
                </a:extLst>
              </p:cNvPr>
              <p:cNvSpPr txBox="1">
                <a:spLocks/>
              </p:cNvSpPr>
              <p:nvPr/>
            </p:nvSpPr>
            <p:spPr>
              <a:xfrm>
                <a:off x="520502" y="3046677"/>
                <a:ext cx="3311300" cy="1387570"/>
              </a:xfrm>
              <a:prstGeom prst="rect">
                <a:avLst/>
              </a:prstGeom>
            </p:spPr>
            <p:txBody>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9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sz="1050" dirty="0">
                    <a:solidFill>
                      <a:schemeClr val="accent3"/>
                    </a:solidFill>
                    <a:latin typeface="Corbel" panose="020B0503020204020204" pitchFamily="34" charset="0"/>
                    <a:ea typeface="Source Sans Pro" panose="020B0503030403020204" pitchFamily="34" charset="0"/>
                  </a:rPr>
                  <a:t>Development of data quality dashboards for major retail bank. Pre-emptively identifying problems, devising appropriate solutions and educating the team with said solutions in an understandable way. Leading production of developed product and training for handover. Demonstrating the product to both key stakeholders and the wider business.</a:t>
                </a:r>
              </a:p>
            </p:txBody>
          </p:sp>
        </p:grpSp>
      </p:grpSp>
      <p:grpSp>
        <p:nvGrpSpPr>
          <p:cNvPr id="136" name="Group 135">
            <a:extLst>
              <a:ext uri="{FF2B5EF4-FFF2-40B4-BE49-F238E27FC236}">
                <a16:creationId xmlns:a16="http://schemas.microsoft.com/office/drawing/2014/main" id="{F2F9C8CF-7D26-B249-B9ED-D292B4C207E1}"/>
              </a:ext>
            </a:extLst>
          </p:cNvPr>
          <p:cNvGrpSpPr/>
          <p:nvPr/>
        </p:nvGrpSpPr>
        <p:grpSpPr>
          <a:xfrm>
            <a:off x="4790613" y="2841357"/>
            <a:ext cx="3249905" cy="1893216"/>
            <a:chOff x="4790613" y="2841357"/>
            <a:chExt cx="3249905" cy="1893216"/>
          </a:xfrm>
        </p:grpSpPr>
        <p:sp>
          <p:nvSpPr>
            <p:cNvPr id="105" name="Text Placeholder 18">
              <a:extLst>
                <a:ext uri="{FF2B5EF4-FFF2-40B4-BE49-F238E27FC236}">
                  <a16:creationId xmlns:a16="http://schemas.microsoft.com/office/drawing/2014/main" id="{1C9DA015-BC4A-4249-8001-A70F799EF64C}"/>
                </a:ext>
              </a:extLst>
            </p:cNvPr>
            <p:cNvSpPr txBox="1">
              <a:spLocks/>
            </p:cNvSpPr>
            <p:nvPr/>
          </p:nvSpPr>
          <p:spPr>
            <a:xfrm>
              <a:off x="4790613" y="4373613"/>
              <a:ext cx="1180055" cy="360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0" kern="1200">
                  <a:solidFill>
                    <a:schemeClr val="accent5">
                      <a:lumMod val="90000"/>
                    </a:schemeClr>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solidFill>
                    <a:srgbClr val="828EA3"/>
                  </a:solidFill>
                  <a:latin typeface="Corbel" panose="020B0503020204020204" pitchFamily="34" charset="0"/>
                  <a:ea typeface="Source Sans Pro" panose="020B0503030403020204" pitchFamily="34" charset="0"/>
                </a:rPr>
                <a:t>September 2017 – February 2019</a:t>
              </a:r>
            </a:p>
          </p:txBody>
        </p:sp>
        <p:grpSp>
          <p:nvGrpSpPr>
            <p:cNvPr id="118" name="Group 117">
              <a:extLst>
                <a:ext uri="{FF2B5EF4-FFF2-40B4-BE49-F238E27FC236}">
                  <a16:creationId xmlns:a16="http://schemas.microsoft.com/office/drawing/2014/main" id="{F18EDF58-A168-8447-B6A3-A738DF9A0ADE}"/>
                </a:ext>
              </a:extLst>
            </p:cNvPr>
            <p:cNvGrpSpPr/>
            <p:nvPr/>
          </p:nvGrpSpPr>
          <p:grpSpPr>
            <a:xfrm>
              <a:off x="4801263" y="2841357"/>
              <a:ext cx="3239255" cy="1592535"/>
              <a:chOff x="519994" y="2807844"/>
              <a:chExt cx="3239255" cy="1592535"/>
            </a:xfrm>
          </p:grpSpPr>
          <p:sp>
            <p:nvSpPr>
              <p:cNvPr id="120" name="Text Placeholder 18">
                <a:extLst>
                  <a:ext uri="{FF2B5EF4-FFF2-40B4-BE49-F238E27FC236}">
                    <a16:creationId xmlns:a16="http://schemas.microsoft.com/office/drawing/2014/main" id="{30933F52-8414-EE4A-B8E7-EB24770FD409}"/>
                  </a:ext>
                </a:extLst>
              </p:cNvPr>
              <p:cNvSpPr txBox="1">
                <a:spLocks/>
              </p:cNvSpPr>
              <p:nvPr/>
            </p:nvSpPr>
            <p:spPr>
              <a:xfrm>
                <a:off x="519994" y="2807844"/>
                <a:ext cx="3239255" cy="17894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latin typeface="Corbel" panose="020B0503020204020204" pitchFamily="34" charset="0"/>
                    <a:ea typeface="Source Sans Pro" panose="020B0503030403020204" pitchFamily="34" charset="0"/>
                  </a:rPr>
                  <a:t>A.S. Watson, Insights Reporting Analyst</a:t>
                </a:r>
              </a:p>
            </p:txBody>
          </p:sp>
          <p:sp>
            <p:nvSpPr>
              <p:cNvPr id="121" name="Text Placeholder 27">
                <a:extLst>
                  <a:ext uri="{FF2B5EF4-FFF2-40B4-BE49-F238E27FC236}">
                    <a16:creationId xmlns:a16="http://schemas.microsoft.com/office/drawing/2014/main" id="{BB5ABD5F-73DA-8B4A-8E85-2FDF009C5767}"/>
                  </a:ext>
                </a:extLst>
              </p:cNvPr>
              <p:cNvSpPr txBox="1">
                <a:spLocks/>
              </p:cNvSpPr>
              <p:nvPr/>
            </p:nvSpPr>
            <p:spPr>
              <a:xfrm>
                <a:off x="520502" y="3012809"/>
                <a:ext cx="2999436" cy="1387570"/>
              </a:xfrm>
              <a:prstGeom prst="rect">
                <a:avLst/>
              </a:prstGeom>
            </p:spPr>
            <p:txBody>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9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sz="1050" dirty="0">
                    <a:solidFill>
                      <a:schemeClr val="accent3"/>
                    </a:solidFill>
                    <a:latin typeface="Corbel" panose="020B0503020204020204" pitchFamily="34" charset="0"/>
                    <a:ea typeface="Source Sans Pro" panose="020B0503030403020204" pitchFamily="34" charset="0"/>
                  </a:rPr>
                  <a:t>Management of Tableau workbook lifespan from design, dataset manipulation (SQL), dashboard build and company roll-out.</a:t>
                </a:r>
              </a:p>
              <a:p>
                <a:pPr>
                  <a:defRPr/>
                </a:pPr>
                <a:r>
                  <a:rPr lang="en-GB" sz="1050" dirty="0">
                    <a:solidFill>
                      <a:schemeClr val="accent3"/>
                    </a:solidFill>
                    <a:latin typeface="Corbel" panose="020B0503020204020204" pitchFamily="34" charset="0"/>
                    <a:ea typeface="Source Sans Pro" panose="020B0503030403020204" pitchFamily="34" charset="0"/>
                  </a:rPr>
                  <a:t>Construction and implementation of Tableau reports across Europe and Asia Business Units.</a:t>
                </a:r>
              </a:p>
              <a:p>
                <a:pPr>
                  <a:defRPr/>
                </a:pPr>
                <a:r>
                  <a:rPr lang="en-GB" sz="1050" dirty="0">
                    <a:solidFill>
                      <a:schemeClr val="accent3"/>
                    </a:solidFill>
                    <a:latin typeface="Corbel" panose="020B0503020204020204" pitchFamily="34" charset="0"/>
                    <a:ea typeface="Source Sans Pro" panose="020B0503030403020204" pitchFamily="34" charset="0"/>
                  </a:rPr>
                  <a:t>Administering Tableau Server.</a:t>
                </a:r>
              </a:p>
            </p:txBody>
          </p:sp>
        </p:grpSp>
      </p:grpSp>
      <p:grpSp>
        <p:nvGrpSpPr>
          <p:cNvPr id="137" name="Group 136">
            <a:extLst>
              <a:ext uri="{FF2B5EF4-FFF2-40B4-BE49-F238E27FC236}">
                <a16:creationId xmlns:a16="http://schemas.microsoft.com/office/drawing/2014/main" id="{02C821B9-353D-0D43-BB5F-814781E433AF}"/>
              </a:ext>
            </a:extLst>
          </p:cNvPr>
          <p:cNvGrpSpPr/>
          <p:nvPr/>
        </p:nvGrpSpPr>
        <p:grpSpPr>
          <a:xfrm>
            <a:off x="6917834" y="4389753"/>
            <a:ext cx="3244995" cy="2280003"/>
            <a:chOff x="6917834" y="4389753"/>
            <a:chExt cx="3244995" cy="2280003"/>
          </a:xfrm>
        </p:grpSpPr>
        <p:sp>
          <p:nvSpPr>
            <p:cNvPr id="108" name="Text Placeholder 18">
              <a:extLst>
                <a:ext uri="{FF2B5EF4-FFF2-40B4-BE49-F238E27FC236}">
                  <a16:creationId xmlns:a16="http://schemas.microsoft.com/office/drawing/2014/main" id="{75579307-BC23-3048-9D6A-FE44B3F66FD4}"/>
                </a:ext>
              </a:extLst>
            </p:cNvPr>
            <p:cNvSpPr txBox="1">
              <a:spLocks/>
            </p:cNvSpPr>
            <p:nvPr/>
          </p:nvSpPr>
          <p:spPr>
            <a:xfrm>
              <a:off x="6917834" y="4389753"/>
              <a:ext cx="1180055" cy="360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0" kern="1200">
                  <a:solidFill>
                    <a:schemeClr val="accent5">
                      <a:lumMod val="90000"/>
                    </a:schemeClr>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solidFill>
                    <a:srgbClr val="828EA3"/>
                  </a:solidFill>
                  <a:latin typeface="Corbel" panose="020B0503020204020204" pitchFamily="34" charset="0"/>
                  <a:ea typeface="Source Sans Pro" panose="020B0503030403020204" pitchFamily="34" charset="0"/>
                </a:rPr>
                <a:t>September 2015 – September 2017</a:t>
              </a:r>
            </a:p>
          </p:txBody>
        </p:sp>
        <p:grpSp>
          <p:nvGrpSpPr>
            <p:cNvPr id="122" name="Group 121">
              <a:extLst>
                <a:ext uri="{FF2B5EF4-FFF2-40B4-BE49-F238E27FC236}">
                  <a16:creationId xmlns:a16="http://schemas.microsoft.com/office/drawing/2014/main" id="{DA2C0E3E-0F61-3245-A981-039779A4D2D1}"/>
                </a:ext>
              </a:extLst>
            </p:cNvPr>
            <p:cNvGrpSpPr/>
            <p:nvPr/>
          </p:nvGrpSpPr>
          <p:grpSpPr>
            <a:xfrm>
              <a:off x="6923574" y="5077221"/>
              <a:ext cx="3239255" cy="1592535"/>
              <a:chOff x="519994" y="2841712"/>
              <a:chExt cx="3239255" cy="1592535"/>
            </a:xfrm>
          </p:grpSpPr>
          <p:sp>
            <p:nvSpPr>
              <p:cNvPr id="124" name="Text Placeholder 18">
                <a:extLst>
                  <a:ext uri="{FF2B5EF4-FFF2-40B4-BE49-F238E27FC236}">
                    <a16:creationId xmlns:a16="http://schemas.microsoft.com/office/drawing/2014/main" id="{DBE82733-289A-AB4A-BE46-A4F82536C978}"/>
                  </a:ext>
                </a:extLst>
              </p:cNvPr>
              <p:cNvSpPr txBox="1">
                <a:spLocks/>
              </p:cNvSpPr>
              <p:nvPr/>
            </p:nvSpPr>
            <p:spPr>
              <a:xfrm>
                <a:off x="519994" y="2841712"/>
                <a:ext cx="3239255" cy="17894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latin typeface="Corbel" panose="020B0503020204020204" pitchFamily="34" charset="0"/>
                    <a:ea typeface="Source Sans Pro" panose="020B0503030403020204" pitchFamily="34" charset="0"/>
                  </a:rPr>
                  <a:t>New Look, Group Analyst</a:t>
                </a:r>
              </a:p>
            </p:txBody>
          </p:sp>
          <p:sp>
            <p:nvSpPr>
              <p:cNvPr id="125" name="Text Placeholder 27">
                <a:extLst>
                  <a:ext uri="{FF2B5EF4-FFF2-40B4-BE49-F238E27FC236}">
                    <a16:creationId xmlns:a16="http://schemas.microsoft.com/office/drawing/2014/main" id="{F9AC7073-4A7A-1448-8976-0163AFD9C751}"/>
                  </a:ext>
                </a:extLst>
              </p:cNvPr>
              <p:cNvSpPr txBox="1">
                <a:spLocks/>
              </p:cNvSpPr>
              <p:nvPr/>
            </p:nvSpPr>
            <p:spPr>
              <a:xfrm>
                <a:off x="520502" y="3046677"/>
                <a:ext cx="2999436" cy="1387570"/>
              </a:xfrm>
              <a:prstGeom prst="rect">
                <a:avLst/>
              </a:prstGeom>
            </p:spPr>
            <p:txBody>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9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sz="1050" dirty="0">
                    <a:solidFill>
                      <a:schemeClr val="accent3"/>
                    </a:solidFill>
                    <a:latin typeface="Corbel" panose="020B0503020204020204" pitchFamily="34" charset="0"/>
                    <a:ea typeface="Source Sans Pro" panose="020B0503030403020204" pitchFamily="34" charset="0"/>
                  </a:rPr>
                  <a:t>Writing SQL scripts to build large datasets to provide insight and analysis at request of directors and heads of department. Building and maintaining Tableau dashboards for business-wide use. Development of new processes critical to business-wide systems upgrade.</a:t>
                </a:r>
              </a:p>
            </p:txBody>
          </p:sp>
        </p:grpSp>
      </p:grpSp>
      <p:grpSp>
        <p:nvGrpSpPr>
          <p:cNvPr id="131" name="Group 130">
            <a:extLst>
              <a:ext uri="{FF2B5EF4-FFF2-40B4-BE49-F238E27FC236}">
                <a16:creationId xmlns:a16="http://schemas.microsoft.com/office/drawing/2014/main" id="{71431891-EEEC-1341-BE53-506DE9B31143}"/>
              </a:ext>
            </a:extLst>
          </p:cNvPr>
          <p:cNvGrpSpPr/>
          <p:nvPr/>
        </p:nvGrpSpPr>
        <p:grpSpPr>
          <a:xfrm>
            <a:off x="9073105" y="2838889"/>
            <a:ext cx="3239255" cy="1599586"/>
            <a:chOff x="9082532" y="2838889"/>
            <a:chExt cx="3239255" cy="1599586"/>
          </a:xfrm>
        </p:grpSpPr>
        <p:sp>
          <p:nvSpPr>
            <p:cNvPr id="133" name="Text Placeholder 18">
              <a:extLst>
                <a:ext uri="{FF2B5EF4-FFF2-40B4-BE49-F238E27FC236}">
                  <a16:creationId xmlns:a16="http://schemas.microsoft.com/office/drawing/2014/main" id="{F9A0A83D-8262-B941-9D61-9EFA674B1A2B}"/>
                </a:ext>
              </a:extLst>
            </p:cNvPr>
            <p:cNvSpPr txBox="1">
              <a:spLocks/>
            </p:cNvSpPr>
            <p:nvPr/>
          </p:nvSpPr>
          <p:spPr>
            <a:xfrm>
              <a:off x="9082532" y="2838889"/>
              <a:ext cx="3239255" cy="17894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latin typeface="Corbel" panose="020B0503020204020204" pitchFamily="34" charset="0"/>
                  <a:ea typeface="Source Sans Pro" panose="020B0503030403020204" pitchFamily="34" charset="0"/>
                </a:rPr>
                <a:t>ASDA George, Assistant Merchandiser</a:t>
              </a:r>
            </a:p>
            <a:p>
              <a:pPr>
                <a:lnSpc>
                  <a:spcPct val="100000"/>
                </a:lnSpc>
              </a:pPr>
              <a:endParaRPr lang="en-US" sz="1050" dirty="0">
                <a:latin typeface="Corbel" panose="020B0503020204020204" pitchFamily="34" charset="0"/>
                <a:ea typeface="Source Sans Pro" panose="020B0503030403020204" pitchFamily="34" charset="0"/>
              </a:endParaRPr>
            </a:p>
          </p:txBody>
        </p:sp>
        <p:sp>
          <p:nvSpPr>
            <p:cNvPr id="134" name="Text Placeholder 27">
              <a:extLst>
                <a:ext uri="{FF2B5EF4-FFF2-40B4-BE49-F238E27FC236}">
                  <a16:creationId xmlns:a16="http://schemas.microsoft.com/office/drawing/2014/main" id="{19EF0A08-CD65-554A-865F-82FA858765A7}"/>
                </a:ext>
              </a:extLst>
            </p:cNvPr>
            <p:cNvSpPr txBox="1">
              <a:spLocks/>
            </p:cNvSpPr>
            <p:nvPr/>
          </p:nvSpPr>
          <p:spPr>
            <a:xfrm>
              <a:off x="9086740" y="3050905"/>
              <a:ext cx="2999436" cy="1387570"/>
            </a:xfrm>
            <a:prstGeom prst="rect">
              <a:avLst/>
            </a:prstGeom>
          </p:spPr>
          <p:txBody>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9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sz="1050" dirty="0">
                  <a:solidFill>
                    <a:schemeClr val="accent3"/>
                  </a:solidFill>
                  <a:latin typeface="Corbel" panose="020B0503020204020204" pitchFamily="34" charset="0"/>
                  <a:ea typeface="Source Sans Pro" panose="020B0503030403020204" pitchFamily="34" charset="0"/>
                </a:rPr>
                <a:t>Sales analysis to highlight key performing styles. Building and maintaining launch availability reports to ensure stock will arrive on time, and to highlight any issues. Leading meetings with suppliers.</a:t>
              </a:r>
            </a:p>
          </p:txBody>
        </p:sp>
      </p:grpSp>
      <p:sp>
        <p:nvSpPr>
          <p:cNvPr id="138" name="Text Placeholder 18">
            <a:extLst>
              <a:ext uri="{FF2B5EF4-FFF2-40B4-BE49-F238E27FC236}">
                <a16:creationId xmlns:a16="http://schemas.microsoft.com/office/drawing/2014/main" id="{2AD07E84-34FD-324D-AD93-19CA14BD233B}"/>
              </a:ext>
            </a:extLst>
          </p:cNvPr>
          <p:cNvSpPr txBox="1">
            <a:spLocks/>
          </p:cNvSpPr>
          <p:nvPr/>
        </p:nvSpPr>
        <p:spPr>
          <a:xfrm>
            <a:off x="9060859" y="4371857"/>
            <a:ext cx="1300678" cy="38943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900" b="0" kern="1200">
                <a:solidFill>
                  <a:schemeClr val="accent5">
                    <a:lumMod val="90000"/>
                  </a:schemeClr>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050" dirty="0">
                <a:solidFill>
                  <a:srgbClr val="828EA3"/>
                </a:solidFill>
                <a:latin typeface="Corbel" panose="020B0503020204020204" pitchFamily="34" charset="0"/>
                <a:ea typeface="Source Sans Pro" panose="020B0503030403020204" pitchFamily="34" charset="0"/>
              </a:rPr>
              <a:t>July 2014 – September 2015</a:t>
            </a:r>
          </a:p>
        </p:txBody>
      </p:sp>
      <p:pic>
        <p:nvPicPr>
          <p:cNvPr id="43" name="Picture Placeholder 15" descr="A person wearing a suit and tie smiling at the camera&#10;&#10;Description automatically generated">
            <a:extLst>
              <a:ext uri="{FF2B5EF4-FFF2-40B4-BE49-F238E27FC236}">
                <a16:creationId xmlns:a16="http://schemas.microsoft.com/office/drawing/2014/main" id="{C3D769B5-D9CD-40A2-9E3A-D38C6D3246EE}"/>
              </a:ext>
            </a:extLst>
          </p:cNvPr>
          <p:cNvPicPr>
            <a:picLocks noGrp="1" noChangeAspect="1"/>
          </p:cNvPicPr>
          <p:nvPr>
            <p:ph type="pic" sz="quarter" idx="41"/>
          </p:nvPr>
        </p:nvPicPr>
        <p:blipFill>
          <a:blip r:embed="rId2">
            <a:extLst>
              <a:ext uri="{BEBA8EAE-BF5A-486C-A8C5-ECC9F3942E4B}">
                <a14:imgProps xmlns:a14="http://schemas.microsoft.com/office/drawing/2010/main">
                  <a14:imgLayer r:embed="rId3">
                    <a14:imgEffect>
                      <a14:backgroundRemoval t="14865" b="90090" l="2618" r="98953">
                        <a14:foregroundMark x1="34555" y1="75225" x2="2618" y2="84685"/>
                        <a14:foregroundMark x1="69110" y1="73874" x2="99476" y2="83333"/>
                        <a14:foregroundMark x1="0" y1="88739" x2="41885" y2="89189"/>
                        <a14:foregroundMark x1="41885" y1="89189" x2="90052" y2="88288"/>
                        <a14:foregroundMark x1="90052" y1="88288" x2="48168" y2="81982"/>
                        <a14:foregroundMark x1="48168" y1="81982" x2="17277" y2="90090"/>
                        <a14:foregroundMark x1="23560" y1="47748" x2="24084" y2="50450"/>
                        <a14:foregroundMark x1="24084" y1="50000" x2="27749" y2="57207"/>
                      </a14:backgroundRemoval>
                    </a14:imgEffect>
                  </a14:imgLayer>
                </a14:imgProps>
              </a:ext>
            </a:extLst>
          </a:blip>
          <a:srcRect t="6982" b="6982"/>
          <a:stretch>
            <a:fillRect/>
          </a:stretch>
        </p:blipFill>
        <p:spPr>
          <a:solidFill>
            <a:schemeClr val="bg2"/>
          </a:solidFill>
        </p:spPr>
      </p:pic>
      <p:sp>
        <p:nvSpPr>
          <p:cNvPr id="44" name="Title 2">
            <a:extLst>
              <a:ext uri="{FF2B5EF4-FFF2-40B4-BE49-F238E27FC236}">
                <a16:creationId xmlns:a16="http://schemas.microsoft.com/office/drawing/2014/main" id="{88A5B888-364D-43B2-8AE7-D3B7F501762D}"/>
              </a:ext>
            </a:extLst>
          </p:cNvPr>
          <p:cNvSpPr>
            <a:spLocks noGrp="1"/>
          </p:cNvSpPr>
          <p:nvPr>
            <p:ph type="title"/>
          </p:nvPr>
        </p:nvSpPr>
        <p:spPr/>
        <p:txBody>
          <a:bodyPr/>
          <a:lstStyle/>
          <a:p>
            <a:r>
              <a:rPr lang="en-US" dirty="0">
                <a:latin typeface="Corbel" panose="020B0503020204020204" pitchFamily="34" charset="0"/>
              </a:rPr>
              <a:t>Tom Morgan</a:t>
            </a:r>
          </a:p>
        </p:txBody>
      </p:sp>
      <p:sp>
        <p:nvSpPr>
          <p:cNvPr id="45" name="Text Placeholder 3">
            <a:extLst>
              <a:ext uri="{FF2B5EF4-FFF2-40B4-BE49-F238E27FC236}">
                <a16:creationId xmlns:a16="http://schemas.microsoft.com/office/drawing/2014/main" id="{6393C665-787E-40D5-910B-3EB3BF026103}"/>
              </a:ext>
            </a:extLst>
          </p:cNvPr>
          <p:cNvSpPr>
            <a:spLocks noGrp="1"/>
          </p:cNvSpPr>
          <p:nvPr>
            <p:ph type="body" sz="quarter" idx="10"/>
          </p:nvPr>
        </p:nvSpPr>
        <p:spPr/>
        <p:txBody>
          <a:bodyPr>
            <a:normAutofit fontScale="92500" lnSpcReduction="10000"/>
          </a:bodyPr>
          <a:lstStyle/>
          <a:p>
            <a:r>
              <a:rPr lang="en-US" dirty="0">
                <a:latin typeface="Corbel" panose="020B0503020204020204" pitchFamily="34" charset="0"/>
              </a:rPr>
              <a:t>Tableau Consultant</a:t>
            </a:r>
          </a:p>
        </p:txBody>
      </p:sp>
      <p:sp>
        <p:nvSpPr>
          <p:cNvPr id="46" name="Text Placeholder 4">
            <a:extLst>
              <a:ext uri="{FF2B5EF4-FFF2-40B4-BE49-F238E27FC236}">
                <a16:creationId xmlns:a16="http://schemas.microsoft.com/office/drawing/2014/main" id="{8D023E4C-E1F9-4BFF-A60F-DF16A240DEBA}"/>
              </a:ext>
            </a:extLst>
          </p:cNvPr>
          <p:cNvSpPr>
            <a:spLocks noGrp="1"/>
          </p:cNvSpPr>
          <p:nvPr>
            <p:ph type="body" sz="quarter" idx="11"/>
          </p:nvPr>
        </p:nvSpPr>
        <p:spPr/>
        <p:txBody>
          <a:bodyPr/>
          <a:lstStyle/>
          <a:p>
            <a:r>
              <a:rPr lang="en-US" dirty="0" err="1">
                <a:latin typeface="Corbel" panose="020B0503020204020204" pitchFamily="34" charset="0"/>
              </a:rPr>
              <a:t>tom.morgan@mudano.com</a:t>
            </a:r>
            <a:endParaRPr lang="en-US" dirty="0">
              <a:latin typeface="Corbel" panose="020B0503020204020204" pitchFamily="34" charset="0"/>
            </a:endParaRPr>
          </a:p>
        </p:txBody>
      </p:sp>
      <p:sp>
        <p:nvSpPr>
          <p:cNvPr id="47" name="Text Placeholder 5">
            <a:extLst>
              <a:ext uri="{FF2B5EF4-FFF2-40B4-BE49-F238E27FC236}">
                <a16:creationId xmlns:a16="http://schemas.microsoft.com/office/drawing/2014/main" id="{A9A939E4-5CC7-427A-8FB9-E4214A250BFC}"/>
              </a:ext>
            </a:extLst>
          </p:cNvPr>
          <p:cNvSpPr>
            <a:spLocks noGrp="1"/>
          </p:cNvSpPr>
          <p:nvPr>
            <p:ph type="body" sz="quarter" idx="42"/>
          </p:nvPr>
        </p:nvSpPr>
        <p:spPr>
          <a:xfrm>
            <a:off x="4438418" y="681253"/>
            <a:ext cx="2361910" cy="1728403"/>
          </a:xfrm>
        </p:spPr>
        <p:txBody>
          <a:bodyPr/>
          <a:lstStyle/>
          <a:p>
            <a:r>
              <a:rPr lang="en-US" dirty="0">
                <a:latin typeface="Corbel" panose="020B0503020204020204" pitchFamily="34" charset="0"/>
              </a:rPr>
              <a:t>Implementing essential data quality solutions for major retail bank.</a:t>
            </a:r>
          </a:p>
          <a:p>
            <a:r>
              <a:rPr lang="en-US" dirty="0">
                <a:latin typeface="Corbel" panose="020B0503020204020204" pitchFamily="34" charset="0"/>
              </a:rPr>
              <a:t>Directing </a:t>
            </a:r>
            <a:r>
              <a:rPr lang="en-US" dirty="0" err="1">
                <a:latin typeface="Corbel" panose="020B0503020204020204" pitchFamily="34" charset="0"/>
              </a:rPr>
              <a:t>demoable</a:t>
            </a:r>
            <a:r>
              <a:rPr lang="en-US" dirty="0">
                <a:latin typeface="Corbel" panose="020B0503020204020204" pitchFamily="34" charset="0"/>
              </a:rPr>
              <a:t> dashboard deign and build for data solutions POC.</a:t>
            </a:r>
          </a:p>
          <a:p>
            <a:r>
              <a:rPr lang="en-US" dirty="0">
                <a:latin typeface="Corbel" panose="020B0503020204020204" pitchFamily="34" charset="0"/>
              </a:rPr>
              <a:t>In previous role, Tableau development leader for Europe.</a:t>
            </a:r>
          </a:p>
          <a:p>
            <a:r>
              <a:rPr lang="en-US" dirty="0">
                <a:latin typeface="Corbel" panose="020B0503020204020204" pitchFamily="34" charset="0"/>
              </a:rPr>
              <a:t>Tableau Certified Associate</a:t>
            </a:r>
          </a:p>
        </p:txBody>
      </p:sp>
      <p:sp>
        <p:nvSpPr>
          <p:cNvPr id="48" name="Text Placeholder 6">
            <a:extLst>
              <a:ext uri="{FF2B5EF4-FFF2-40B4-BE49-F238E27FC236}">
                <a16:creationId xmlns:a16="http://schemas.microsoft.com/office/drawing/2014/main" id="{E83B6ED0-F771-4E85-9711-AAEE0880D4B9}"/>
              </a:ext>
            </a:extLst>
          </p:cNvPr>
          <p:cNvSpPr>
            <a:spLocks noGrp="1"/>
          </p:cNvSpPr>
          <p:nvPr>
            <p:ph type="body" sz="quarter" idx="43"/>
          </p:nvPr>
        </p:nvSpPr>
        <p:spPr/>
        <p:txBody>
          <a:bodyPr>
            <a:normAutofit fontScale="92500" lnSpcReduction="10000"/>
          </a:bodyPr>
          <a:lstStyle/>
          <a:p>
            <a:r>
              <a:rPr lang="en-US" dirty="0">
                <a:latin typeface="Corbel" panose="020B0503020204020204" pitchFamily="34" charset="0"/>
              </a:rPr>
              <a:t>Mudano, Tableau Consultant</a:t>
            </a:r>
          </a:p>
          <a:p>
            <a:r>
              <a:rPr lang="en-US" dirty="0">
                <a:latin typeface="Corbel" panose="020B0503020204020204" pitchFamily="34" charset="0"/>
              </a:rPr>
              <a:t>A.S. Watson, Insights Reporting Analyst</a:t>
            </a:r>
          </a:p>
          <a:p>
            <a:r>
              <a:rPr lang="en-US" dirty="0">
                <a:latin typeface="Corbel" panose="020B0503020204020204" pitchFamily="34" charset="0"/>
              </a:rPr>
              <a:t>New Look, Group Analyst</a:t>
            </a:r>
          </a:p>
          <a:p>
            <a:r>
              <a:rPr lang="en-US" dirty="0">
                <a:latin typeface="Corbel" panose="020B0503020204020204" pitchFamily="34" charset="0"/>
              </a:rPr>
              <a:t>ASDA George, Assistant Merchandiser</a:t>
            </a:r>
          </a:p>
          <a:p>
            <a:r>
              <a:rPr lang="en-US" dirty="0">
                <a:latin typeface="Corbel" panose="020B0503020204020204" pitchFamily="34" charset="0"/>
              </a:rPr>
              <a:t>MSc Financial Economics, University of Leicester</a:t>
            </a:r>
          </a:p>
          <a:p>
            <a:r>
              <a:rPr lang="en-US" dirty="0">
                <a:latin typeface="Corbel" panose="020B0503020204020204" pitchFamily="34" charset="0"/>
              </a:rPr>
              <a:t>BSc (</a:t>
            </a:r>
            <a:r>
              <a:rPr lang="en-US" dirty="0" err="1">
                <a:latin typeface="Corbel" panose="020B0503020204020204" pitchFamily="34" charset="0"/>
              </a:rPr>
              <a:t>Honours</a:t>
            </a:r>
            <a:r>
              <a:rPr lang="en-US" dirty="0">
                <a:latin typeface="Corbel" panose="020B0503020204020204" pitchFamily="34" charset="0"/>
              </a:rPr>
              <a:t>) Mathematics, Loughborough University</a:t>
            </a:r>
          </a:p>
          <a:p>
            <a:endParaRPr lang="en-US" dirty="0">
              <a:latin typeface="Corbel" panose="020B0503020204020204" pitchFamily="34" charset="0"/>
            </a:endParaRPr>
          </a:p>
          <a:p>
            <a:endParaRPr lang="en-US" dirty="0">
              <a:latin typeface="Corbel" panose="020B0503020204020204" pitchFamily="34" charset="0"/>
            </a:endParaRPr>
          </a:p>
        </p:txBody>
      </p:sp>
      <p:sp>
        <p:nvSpPr>
          <p:cNvPr id="49" name="Text Placeholder 7">
            <a:extLst>
              <a:ext uri="{FF2B5EF4-FFF2-40B4-BE49-F238E27FC236}">
                <a16:creationId xmlns:a16="http://schemas.microsoft.com/office/drawing/2014/main" id="{98766D72-03E2-417F-B48C-99B3AFA4C754}"/>
              </a:ext>
            </a:extLst>
          </p:cNvPr>
          <p:cNvSpPr>
            <a:spLocks noGrp="1"/>
          </p:cNvSpPr>
          <p:nvPr>
            <p:ph type="body" sz="quarter" idx="44"/>
          </p:nvPr>
        </p:nvSpPr>
        <p:spPr/>
        <p:txBody>
          <a:bodyPr>
            <a:normAutofit lnSpcReduction="10000"/>
          </a:bodyPr>
          <a:lstStyle/>
          <a:p>
            <a:r>
              <a:rPr lang="en-US" dirty="0">
                <a:latin typeface="Corbel" panose="020B0503020204020204" pitchFamily="34" charset="0"/>
              </a:rPr>
              <a:t>Tableau </a:t>
            </a:r>
          </a:p>
          <a:p>
            <a:r>
              <a:rPr lang="en-US" dirty="0">
                <a:latin typeface="Corbel" panose="020B0503020204020204" pitchFamily="34" charset="0"/>
              </a:rPr>
              <a:t>SQL</a:t>
            </a:r>
          </a:p>
          <a:p>
            <a:r>
              <a:rPr lang="en-US" dirty="0">
                <a:latin typeface="Corbel" panose="020B0503020204020204" pitchFamily="34" charset="0"/>
              </a:rPr>
              <a:t>Development leadership</a:t>
            </a:r>
          </a:p>
          <a:p>
            <a:r>
              <a:rPr lang="en-US" dirty="0">
                <a:latin typeface="Corbel" panose="020B0503020204020204" pitchFamily="34" charset="0"/>
              </a:rPr>
              <a:t>Data manipulation and analysis</a:t>
            </a:r>
          </a:p>
          <a:p>
            <a:r>
              <a:rPr lang="en-US" dirty="0">
                <a:latin typeface="Corbel" panose="020B0503020204020204" pitchFamily="34" charset="0"/>
              </a:rPr>
              <a:t>Visualization design and report development</a:t>
            </a:r>
          </a:p>
          <a:p>
            <a:r>
              <a:rPr lang="en-US" dirty="0">
                <a:latin typeface="Corbel" panose="020B0503020204020204" pitchFamily="34" charset="0"/>
              </a:rPr>
              <a:t>Stakeholder management</a:t>
            </a:r>
          </a:p>
          <a:p>
            <a:endParaRPr lang="en-US" dirty="0">
              <a:latin typeface="Corbel" panose="020B0503020204020204" pitchFamily="34" charset="0"/>
            </a:endParaRPr>
          </a:p>
          <a:p>
            <a:endParaRPr lang="en-US" dirty="0">
              <a:latin typeface="Corbel" panose="020B0503020204020204" pitchFamily="34" charset="0"/>
            </a:endParaRPr>
          </a:p>
          <a:p>
            <a:endParaRPr lang="en-US" dirty="0">
              <a:latin typeface="Corbel" panose="020B0503020204020204" pitchFamily="34" charset="0"/>
            </a:endParaRPr>
          </a:p>
          <a:p>
            <a:endParaRPr lang="en-US" dirty="0">
              <a:latin typeface="Corbel" panose="020B0503020204020204" pitchFamily="34" charset="0"/>
            </a:endParaRPr>
          </a:p>
          <a:p>
            <a:endParaRPr lang="en-US" dirty="0">
              <a:latin typeface="Corbel" panose="020B0503020204020204" pitchFamily="34" charset="0"/>
            </a:endParaRPr>
          </a:p>
        </p:txBody>
      </p:sp>
    </p:spTree>
    <p:extLst>
      <p:ext uri="{BB962C8B-B14F-4D97-AF65-F5344CB8AC3E}">
        <p14:creationId xmlns:p14="http://schemas.microsoft.com/office/powerpoint/2010/main" val="3548180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enture 2020">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2">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Starter_Pack_Graphik_210303_Fixed_Accessibility.potx" id="{5533E145-E600-4444-BC3D-5102D2EEDB31}" vid="{383380C5-E3D1-4977-8974-3F092EA624F2}"/>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2_FranStrata">
  <a:themeElements>
    <a:clrScheme name="Custom 3">
      <a:dk1>
        <a:srgbClr val="000000"/>
      </a:dk1>
      <a:lt1>
        <a:srgbClr val="FFFFFF"/>
      </a:lt1>
      <a:dk2>
        <a:srgbClr val="000000"/>
      </a:dk2>
      <a:lt2>
        <a:srgbClr val="FFFFFF"/>
      </a:lt2>
      <a:accent1>
        <a:srgbClr val="AC007A"/>
      </a:accent1>
      <a:accent2>
        <a:srgbClr val="3D1C28"/>
      </a:accent2>
      <a:accent3>
        <a:srgbClr val="7F7F7F"/>
      </a:accent3>
      <a:accent4>
        <a:srgbClr val="005CAB"/>
      </a:accent4>
      <a:accent5>
        <a:srgbClr val="C30A24"/>
      </a:accent5>
      <a:accent6>
        <a:srgbClr val="FBB621"/>
      </a:accent6>
      <a:hlink>
        <a:srgbClr val="FFFFFF"/>
      </a:hlink>
      <a:folHlink>
        <a:srgbClr val="FFFFFF"/>
      </a:folHlink>
    </a:clrScheme>
    <a:fontScheme name="Office 2">
      <a:majorFont>
        <a:latin typeface="Gotham"/>
        <a:ea typeface=""/>
        <a:cs typeface=""/>
        <a:font script="Jpan" typeface="ＭＳ 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otham"/>
        <a:ea typeface=""/>
        <a:cs typeface=""/>
        <a:font script="Jpan" typeface="ＭＳ Ｐ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lumMod val="75000"/>
              </a:schemeClr>
            </a:gs>
          </a:gsLst>
          <a:lin ang="5400000" scaled="1"/>
          <a:tileRect/>
        </a:gradFill>
        <a:ln>
          <a:noFill/>
        </a:ln>
        <a:effectLst/>
      </a:spPr>
      <a:bodyPr lIns="72000" tIns="36000" rIns="72000" bIns="36000" rtlCol="0" anchor="ctr"/>
      <a:lstStyle>
        <a:defPPr algn="ctr">
          <a:defRPr sz="1100" b="1" dirty="0" smtClean="0">
            <a:solidFill>
              <a:schemeClr val="bg1"/>
            </a:solidFill>
            <a:cs typeface="Georgia"/>
          </a:defRPr>
        </a:defPPr>
      </a:lstStyle>
      <a:style>
        <a:lnRef idx="1">
          <a:schemeClr val="accent5"/>
        </a:lnRef>
        <a:fillRef idx="3">
          <a:schemeClr val="accent5"/>
        </a:fillRef>
        <a:effectRef idx="2">
          <a:schemeClr val="accent5"/>
        </a:effectRef>
        <a:fontRef idx="minor">
          <a:schemeClr val="lt1"/>
        </a:fontRef>
      </a:style>
    </a:spDef>
    <a:lnDef>
      <a:spPr>
        <a:ln>
          <a:solidFill>
            <a:schemeClr val="bg2">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600" dirty="0" err="1" smtClean="0">
            <a:latin typeface="Georgia"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3F7EACC9DB3145926699AE81529616" ma:contentTypeVersion="18" ma:contentTypeDescription="Create a new document." ma:contentTypeScope="" ma:versionID="b836ab5469c5c756c1f889b279c39d24">
  <xsd:schema xmlns:xsd="http://www.w3.org/2001/XMLSchema" xmlns:xs="http://www.w3.org/2001/XMLSchema" xmlns:p="http://schemas.microsoft.com/office/2006/metadata/properties" xmlns:ns2="45c6bc65-27be-404a-9aea-6edd7693d7e0" xmlns:ns3="c3fadb91-d7f9-446a-8c0c-42e3f1176db4" targetNamespace="http://schemas.microsoft.com/office/2006/metadata/properties" ma:root="true" ma:fieldsID="69b56dd86da52b104af9f27d1b9eb2ef" ns2:_="" ns3:_="">
    <xsd:import namespace="45c6bc65-27be-404a-9aea-6edd7693d7e0"/>
    <xsd:import namespace="c3fadb91-d7f9-446a-8c0c-42e3f1176db4"/>
    <xsd:element name="properties">
      <xsd:complexType>
        <xsd:sequence>
          <xsd:element name="documentManagement">
            <xsd:complexType>
              <xsd:all>
                <xsd:element ref="ns2:MediaServiceMetadata" minOccurs="0"/>
                <xsd:element ref="ns2:MediaServiceFastMetadata" minOccurs="0"/>
                <xsd:element ref="ns2:Tag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c6bc65-27be-404a-9aea-6edd7693d7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Tags" ma:index="10" nillable="true" ma:displayName="Tags" ma:default="#DBGAsset" ma:description="Associated tags with the document" ma:format="Dropdown" ma:internalName="Tags">
      <xsd:simpleType>
        <xsd:restriction base="dms:Text">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LengthInSeconds" ma:index="24" nillable="true" ma:displayName="MediaLengthInSeconds" ma:hidden="true" ma:internalName="MediaLengthInSeconds" ma:readOnly="true">
      <xsd:simpleType>
        <xsd:restriction base="dms:Unknow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3fadb91-d7f9-446a-8c0c-42e3f1176db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7bf4840-ad95-4601-8a8e-d1625b280144}" ma:internalName="TaxCatchAll" ma:showField="CatchAllData" ma:web="c3fadb91-d7f9-446a-8c0c-42e3f1176d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gs xmlns="45c6bc65-27be-404a-9aea-6edd7693d7e0">#DBGAsset</Tags>
    <lcf76f155ced4ddcb4097134ff3c332f xmlns="45c6bc65-27be-404a-9aea-6edd7693d7e0">
      <Terms xmlns="http://schemas.microsoft.com/office/infopath/2007/PartnerControls"/>
    </lcf76f155ced4ddcb4097134ff3c332f>
    <TaxCatchAll xmlns="c3fadb91-d7f9-446a-8c0c-42e3f1176db4" xsi:nil="true"/>
  </documentManagement>
</p:properties>
</file>

<file path=customXml/itemProps1.xml><?xml version="1.0" encoding="utf-8"?>
<ds:datastoreItem xmlns:ds="http://schemas.openxmlformats.org/officeDocument/2006/customXml" ds:itemID="{2A497D3E-838C-4145-96BA-DC1FEBCB1CA0}">
  <ds:schemaRefs>
    <ds:schemaRef ds:uri="45c6bc65-27be-404a-9aea-6edd7693d7e0"/>
    <ds:schemaRef ds:uri="c3fadb91-d7f9-446a-8c0c-42e3f1176db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9BC6EDE-9F03-4975-BE07-448BBC457338}">
  <ds:schemaRefs>
    <ds:schemaRef ds:uri="http://schemas.microsoft.com/sharepoint/v3/contenttype/forms"/>
  </ds:schemaRefs>
</ds:datastoreItem>
</file>

<file path=customXml/itemProps3.xml><?xml version="1.0" encoding="utf-8"?>
<ds:datastoreItem xmlns:ds="http://schemas.openxmlformats.org/officeDocument/2006/customXml" ds:itemID="{A2EE6F0D-D169-4D16-81CD-F382DA6DCA5E}">
  <ds:schemaRefs>
    <ds:schemaRef ds:uri="45c6bc65-27be-404a-9aea-6edd7693d7e0"/>
    <ds:schemaRef ds:uri="c3fadb91-d7f9-446a-8c0c-42e3f1176d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office theme</Template>
  <TotalTime>11052</TotalTime>
  <Words>8309</Words>
  <Application>Microsoft Office PowerPoint</Application>
  <PresentationFormat>Widescreen</PresentationFormat>
  <Paragraphs>1136</Paragraphs>
  <Slides>19</Slides>
  <Notes>15</Notes>
  <HiddenSlides>0</HiddenSlides>
  <MMClips>0</MMClips>
  <ScaleCrop>false</ScaleCrop>
  <HeadingPairs>
    <vt:vector size="8" baseType="variant">
      <vt:variant>
        <vt:lpstr>Fonts Used</vt:lpstr>
      </vt:variant>
      <vt:variant>
        <vt:i4>23</vt:i4>
      </vt:variant>
      <vt:variant>
        <vt:lpstr>Theme</vt:lpstr>
      </vt:variant>
      <vt:variant>
        <vt:i4>4</vt:i4>
      </vt:variant>
      <vt:variant>
        <vt:lpstr>Embedded OLE Servers</vt:lpstr>
      </vt:variant>
      <vt:variant>
        <vt:i4>1</vt:i4>
      </vt:variant>
      <vt:variant>
        <vt:lpstr>Slide Titles</vt:lpstr>
      </vt:variant>
      <vt:variant>
        <vt:i4>19</vt:i4>
      </vt:variant>
    </vt:vector>
  </HeadingPairs>
  <TitlesOfParts>
    <vt:vector size="47" baseType="lpstr">
      <vt:lpstr>Aptos</vt:lpstr>
      <vt:lpstr>Aptos Display</vt:lpstr>
      <vt:lpstr>Arial</vt:lpstr>
      <vt:lpstr>Arial Black</vt:lpstr>
      <vt:lpstr>Calibri</vt:lpstr>
      <vt:lpstr>Corbel</vt:lpstr>
      <vt:lpstr>Gotham</vt:lpstr>
      <vt:lpstr>Gotham Light</vt:lpstr>
      <vt:lpstr>Graphik</vt:lpstr>
      <vt:lpstr>Graphik Black</vt:lpstr>
      <vt:lpstr>Graphik Light</vt:lpstr>
      <vt:lpstr>GT Sectra Fine Rg</vt:lpstr>
      <vt:lpstr>NTR</vt:lpstr>
      <vt:lpstr>Open Sans</vt:lpstr>
      <vt:lpstr>Palatino Linotype</vt:lpstr>
      <vt:lpstr>Play</vt:lpstr>
      <vt:lpstr>Source Sans Pro</vt:lpstr>
      <vt:lpstr>System Font</vt:lpstr>
      <vt:lpstr>System Font Regular</vt:lpstr>
      <vt:lpstr>Times New Roman</vt:lpstr>
      <vt:lpstr>Univers</vt:lpstr>
      <vt:lpstr>Verdana</vt:lpstr>
      <vt:lpstr>Verdana Pro</vt:lpstr>
      <vt:lpstr>Accenture 2020</vt:lpstr>
      <vt:lpstr>1_Titles</vt:lpstr>
      <vt:lpstr>2_FranStrata</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Tom Morgan</vt:lpstr>
      <vt:lpstr>PowerPoint Presentation</vt:lpstr>
      <vt:lpstr>Tom Morgan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Morgan, T. D.</dc:creator>
  <cp:lastModifiedBy>Thomas Morgan</cp:lastModifiedBy>
  <cp:revision>10</cp:revision>
  <dcterms:created xsi:type="dcterms:W3CDTF">2023-11-06T09:44:21Z</dcterms:created>
  <dcterms:modified xsi:type="dcterms:W3CDTF">2026-06-03T15:25:08Z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0x010100143F7EACC9DB3145926699AE81529616</vt:lpwstr>
  </property>
  <property fmtid="{D5CDD505-2E9C-101B-9397-08002B2CF9AE}" pid="3" name="MediaServiceImageTags">
    <vt:lpwstr/>
  </property>
</Properties>
</file>